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heme/themeOverride1.xml" ContentType="application/vnd.openxmlformats-officedocument.themeOverr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handoutMasterIdLst>
    <p:handoutMasterId r:id="rId86"/>
  </p:handoutMasterIdLst>
  <p:sldIdLst>
    <p:sldId id="259" r:id="rId2"/>
    <p:sldId id="307" r:id="rId3"/>
    <p:sldId id="306" r:id="rId4"/>
    <p:sldId id="267" r:id="rId5"/>
    <p:sldId id="347" r:id="rId6"/>
    <p:sldId id="354" r:id="rId7"/>
    <p:sldId id="349" r:id="rId8"/>
    <p:sldId id="263" r:id="rId9"/>
    <p:sldId id="266" r:id="rId10"/>
    <p:sldId id="346" r:id="rId11"/>
    <p:sldId id="308" r:id="rId12"/>
    <p:sldId id="353" r:id="rId13"/>
    <p:sldId id="309" r:id="rId14"/>
    <p:sldId id="262"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352" r:id="rId29"/>
    <p:sldId id="281" r:id="rId30"/>
    <p:sldId id="310" r:id="rId31"/>
    <p:sldId id="298" r:id="rId32"/>
    <p:sldId id="314" r:id="rId33"/>
    <p:sldId id="315" r:id="rId34"/>
    <p:sldId id="311" r:id="rId35"/>
    <p:sldId id="316" r:id="rId36"/>
    <p:sldId id="312" r:id="rId37"/>
    <p:sldId id="317" r:id="rId38"/>
    <p:sldId id="318" r:id="rId39"/>
    <p:sldId id="319" r:id="rId40"/>
    <p:sldId id="313" r:id="rId41"/>
    <p:sldId id="321" r:id="rId42"/>
    <p:sldId id="322" r:id="rId43"/>
    <p:sldId id="323" r:id="rId44"/>
    <p:sldId id="324" r:id="rId45"/>
    <p:sldId id="351" r:id="rId46"/>
    <p:sldId id="279" r:id="rId47"/>
    <p:sldId id="269" r:id="rId48"/>
    <p:sldId id="271" r:id="rId49"/>
    <p:sldId id="272" r:id="rId50"/>
    <p:sldId id="273" r:id="rId51"/>
    <p:sldId id="277" r:id="rId52"/>
    <p:sldId id="274" r:id="rId53"/>
    <p:sldId id="275" r:id="rId54"/>
    <p:sldId id="276" r:id="rId55"/>
    <p:sldId id="278" r:id="rId56"/>
    <p:sldId id="350" r:id="rId57"/>
    <p:sldId id="283" r:id="rId58"/>
    <p:sldId id="325" r:id="rId59"/>
    <p:sldId id="327" r:id="rId60"/>
    <p:sldId id="300" r:id="rId61"/>
    <p:sldId id="328" r:id="rId62"/>
    <p:sldId id="299" r:id="rId63"/>
    <p:sldId id="329" r:id="rId64"/>
    <p:sldId id="330" r:id="rId65"/>
    <p:sldId id="331" r:id="rId66"/>
    <p:sldId id="332" r:id="rId67"/>
    <p:sldId id="305" r:id="rId68"/>
    <p:sldId id="343" r:id="rId69"/>
    <p:sldId id="344" r:id="rId70"/>
    <p:sldId id="341" r:id="rId71"/>
    <p:sldId id="342" r:id="rId72"/>
    <p:sldId id="345" r:id="rId73"/>
    <p:sldId id="334" r:id="rId74"/>
    <p:sldId id="333" r:id="rId75"/>
    <p:sldId id="304" r:id="rId76"/>
    <p:sldId id="335" r:id="rId77"/>
    <p:sldId id="337" r:id="rId78"/>
    <p:sldId id="338" r:id="rId79"/>
    <p:sldId id="336" r:id="rId80"/>
    <p:sldId id="339" r:id="rId81"/>
    <p:sldId id="340" r:id="rId82"/>
    <p:sldId id="265" r:id="rId83"/>
    <p:sldId id="264" r:id="rId8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2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2BC99B-B110-916F-9523-3B4B59D8F4D4}" v="149" dt="2026-08-17T04:39:26.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44"/>
    <p:restoredTop sz="68229"/>
  </p:normalViewPr>
  <p:slideViewPr>
    <p:cSldViewPr snapToGrid="0" snapToObjects="1">
      <p:cViewPr varScale="1">
        <p:scale>
          <a:sx n="113" d="100"/>
          <a:sy n="113" d="100"/>
        </p:scale>
        <p:origin x="2144"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28" d="100"/>
          <a:sy n="128" d="100"/>
        </p:scale>
        <p:origin x="3232"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z Pay" userId="S::amoz1.pay@supinfo.com::4d2f8cb2-b070-4ae8-bcd7-1f67ea500ae8" providerId="AD" clId="Web-{5A9B1DD4-5E1D-5947-69DF-F61493AE5425}"/>
    <pc:docChg chg="addSld modSld sldOrd">
      <pc:chgData name="Amoz Pay" userId="S::amoz1.pay@supinfo.com::4d2f8cb2-b070-4ae8-bcd7-1f67ea500ae8" providerId="AD" clId="Web-{5A9B1DD4-5E1D-5947-69DF-F61493AE5425}" dt="2026-08-02T15:39:29.691" v="348" actId="20577"/>
      <pc:docMkLst>
        <pc:docMk/>
      </pc:docMkLst>
      <pc:sldChg chg="modSp">
        <pc:chgData name="Amoz Pay" userId="S::amoz1.pay@supinfo.com::4d2f8cb2-b070-4ae8-bcd7-1f67ea500ae8" providerId="AD" clId="Web-{5A9B1DD4-5E1D-5947-69DF-F61493AE5425}" dt="2026-08-02T14:32:51.670" v="6" actId="20577"/>
        <pc:sldMkLst>
          <pc:docMk/>
          <pc:sldMk cId="3619379987" sldId="259"/>
        </pc:sldMkLst>
        <pc:spChg chg="mod">
          <ac:chgData name="Amoz Pay" userId="S::amoz1.pay@supinfo.com::4d2f8cb2-b070-4ae8-bcd7-1f67ea500ae8" providerId="AD" clId="Web-{5A9B1DD4-5E1D-5947-69DF-F61493AE5425}" dt="2026-08-02T14:32:51.670" v="6" actId="20577"/>
          <ac:spMkLst>
            <pc:docMk/>
            <pc:sldMk cId="3619379987" sldId="259"/>
            <ac:spMk id="2" creationId="{43BC06DC-4D1A-B2CB-5A63-A1C912BA9509}"/>
          </ac:spMkLst>
        </pc:spChg>
      </pc:sldChg>
      <pc:sldChg chg="modSp">
        <pc:chgData name="Amoz Pay" userId="S::amoz1.pay@supinfo.com::4d2f8cb2-b070-4ae8-bcd7-1f67ea500ae8" providerId="AD" clId="Web-{5A9B1DD4-5E1D-5947-69DF-F61493AE5425}" dt="2026-08-02T15:26:14.426" v="214" actId="20577"/>
        <pc:sldMkLst>
          <pc:docMk/>
          <pc:sldMk cId="3690929397" sldId="267"/>
        </pc:sldMkLst>
        <pc:spChg chg="mod">
          <ac:chgData name="Amoz Pay" userId="S::amoz1.pay@supinfo.com::4d2f8cb2-b070-4ae8-bcd7-1f67ea500ae8" providerId="AD" clId="Web-{5A9B1DD4-5E1D-5947-69DF-F61493AE5425}" dt="2026-08-02T15:26:14.426" v="214" actId="20577"/>
          <ac:spMkLst>
            <pc:docMk/>
            <pc:sldMk cId="3690929397" sldId="267"/>
            <ac:spMk id="2" creationId="{A0E6A220-3127-F3F8-91EF-7CA8BE5035C0}"/>
          </ac:spMkLst>
        </pc:spChg>
      </pc:sldChg>
      <pc:sldChg chg="modSp">
        <pc:chgData name="Amoz Pay" userId="S::amoz1.pay@supinfo.com::4d2f8cb2-b070-4ae8-bcd7-1f67ea500ae8" providerId="AD" clId="Web-{5A9B1DD4-5E1D-5947-69DF-F61493AE5425}" dt="2026-08-02T15:39:29.691" v="348" actId="20577"/>
        <pc:sldMkLst>
          <pc:docMk/>
          <pc:sldMk cId="1178207490" sldId="306"/>
        </pc:sldMkLst>
        <pc:spChg chg="mod">
          <ac:chgData name="Amoz Pay" userId="S::amoz1.pay@supinfo.com::4d2f8cb2-b070-4ae8-bcd7-1f67ea500ae8" providerId="AD" clId="Web-{5A9B1DD4-5E1D-5947-69DF-F61493AE5425}" dt="2026-08-02T15:39:29.691" v="348" actId="20577"/>
          <ac:spMkLst>
            <pc:docMk/>
            <pc:sldMk cId="1178207490" sldId="306"/>
            <ac:spMk id="6" creationId="{8B185AF1-46ED-347C-AE49-12A5050FA7C9}"/>
          </ac:spMkLst>
        </pc:spChg>
      </pc:sldChg>
      <pc:sldChg chg="modSp">
        <pc:chgData name="Amoz Pay" userId="S::amoz1.pay@supinfo.com::4d2f8cb2-b070-4ae8-bcd7-1f67ea500ae8" providerId="AD" clId="Web-{5A9B1DD4-5E1D-5947-69DF-F61493AE5425}" dt="2026-08-02T14:41:57.083" v="74" actId="20577"/>
        <pc:sldMkLst>
          <pc:docMk/>
          <pc:sldMk cId="941021280" sldId="307"/>
        </pc:sldMkLst>
        <pc:spChg chg="mod">
          <ac:chgData name="Amoz Pay" userId="S::amoz1.pay@supinfo.com::4d2f8cb2-b070-4ae8-bcd7-1f67ea500ae8" providerId="AD" clId="Web-{5A9B1DD4-5E1D-5947-69DF-F61493AE5425}" dt="2026-08-02T14:41:57.083" v="74" actId="20577"/>
          <ac:spMkLst>
            <pc:docMk/>
            <pc:sldMk cId="941021280" sldId="307"/>
            <ac:spMk id="6" creationId="{8B185AF1-46ED-347C-AE49-12A5050FA7C9}"/>
          </ac:spMkLst>
        </pc:spChg>
      </pc:sldChg>
      <pc:sldChg chg="modSp">
        <pc:chgData name="Amoz Pay" userId="S::amoz1.pay@supinfo.com::4d2f8cb2-b070-4ae8-bcd7-1f67ea500ae8" providerId="AD" clId="Web-{5A9B1DD4-5E1D-5947-69DF-F61493AE5425}" dt="2026-08-02T15:24:20.813" v="187" actId="20577"/>
        <pc:sldMkLst>
          <pc:docMk/>
          <pc:sldMk cId="3906265139" sldId="347"/>
        </pc:sldMkLst>
        <pc:spChg chg="mod">
          <ac:chgData name="Amoz Pay" userId="S::amoz1.pay@supinfo.com::4d2f8cb2-b070-4ae8-bcd7-1f67ea500ae8" providerId="AD" clId="Web-{5A9B1DD4-5E1D-5947-69DF-F61493AE5425}" dt="2026-08-02T15:24:20.813" v="187" actId="20577"/>
          <ac:spMkLst>
            <pc:docMk/>
            <pc:sldMk cId="3906265139" sldId="347"/>
            <ac:spMk id="2" creationId="{A0E6A220-3127-F3F8-91EF-7CA8BE5035C0}"/>
          </ac:spMkLst>
        </pc:spChg>
      </pc:sldChg>
      <pc:sldChg chg="modSp">
        <pc:chgData name="Amoz Pay" userId="S::amoz1.pay@supinfo.com::4d2f8cb2-b070-4ae8-bcd7-1f67ea500ae8" providerId="AD" clId="Web-{5A9B1DD4-5E1D-5947-69DF-F61493AE5425}" dt="2026-08-02T15:36:23.199" v="327" actId="20577"/>
        <pc:sldMkLst>
          <pc:docMk/>
          <pc:sldMk cId="15472448" sldId="349"/>
        </pc:sldMkLst>
        <pc:spChg chg="mod">
          <ac:chgData name="Amoz Pay" userId="S::amoz1.pay@supinfo.com::4d2f8cb2-b070-4ae8-bcd7-1f67ea500ae8" providerId="AD" clId="Web-{5A9B1DD4-5E1D-5947-69DF-F61493AE5425}" dt="2026-08-02T15:36:23.199" v="327" actId="20577"/>
          <ac:spMkLst>
            <pc:docMk/>
            <pc:sldMk cId="15472448" sldId="349"/>
            <ac:spMk id="2" creationId="{A0E6A220-3127-F3F8-91EF-7CA8BE5035C0}"/>
          </ac:spMkLst>
        </pc:spChg>
        <pc:spChg chg="mod">
          <ac:chgData name="Amoz Pay" userId="S::amoz1.pay@supinfo.com::4d2f8cb2-b070-4ae8-bcd7-1f67ea500ae8" providerId="AD" clId="Web-{5A9B1DD4-5E1D-5947-69DF-F61493AE5425}" dt="2026-08-02T15:34:48.977" v="268" actId="20577"/>
          <ac:spMkLst>
            <pc:docMk/>
            <pc:sldMk cId="15472448" sldId="349"/>
            <ac:spMk id="4" creationId="{4275B9D1-B699-3CBD-D338-53DA21740AE3}"/>
          </ac:spMkLst>
        </pc:spChg>
      </pc:sldChg>
      <pc:sldChg chg="modSp add ord replId">
        <pc:chgData name="Amoz Pay" userId="S::amoz1.pay@supinfo.com::4d2f8cb2-b070-4ae8-bcd7-1f67ea500ae8" providerId="AD" clId="Web-{5A9B1DD4-5E1D-5947-69DF-F61493AE5425}" dt="2026-08-02T15:39:06.658" v="339" actId="20577"/>
        <pc:sldMkLst>
          <pc:docMk/>
          <pc:sldMk cId="1945996160" sldId="354"/>
        </pc:sldMkLst>
        <pc:spChg chg="mod">
          <ac:chgData name="Amoz Pay" userId="S::amoz1.pay@supinfo.com::4d2f8cb2-b070-4ae8-bcd7-1f67ea500ae8" providerId="AD" clId="Web-{5A9B1DD4-5E1D-5947-69DF-F61493AE5425}" dt="2026-08-02T15:39:06.658" v="339" actId="20577"/>
          <ac:spMkLst>
            <pc:docMk/>
            <pc:sldMk cId="1945996160" sldId="354"/>
            <ac:spMk id="2" creationId="{15A7BC53-CEE6-B61E-DF91-ADBF8FC26E5A}"/>
          </ac:spMkLst>
        </pc:spChg>
      </pc:sldChg>
    </pc:docChg>
  </pc:docChgLst>
  <pc:docChgLst>
    <pc:chgData name="Amoz Pay" userId="S::amoz1.pay@supinfo.com::4d2f8cb2-b070-4ae8-bcd7-1f67ea500ae8" providerId="AD" clId="Web-{B52BC99B-B110-916F-9523-3B4B59D8F4D4}"/>
    <pc:docChg chg="modSld">
      <pc:chgData name="Amoz Pay" userId="S::amoz1.pay@supinfo.com::4d2f8cb2-b070-4ae8-bcd7-1f67ea500ae8" providerId="AD" clId="Web-{B52BC99B-B110-916F-9523-3B4B59D8F4D4}" dt="2026-08-17T04:39:26.346" v="148" actId="20577"/>
      <pc:docMkLst>
        <pc:docMk/>
      </pc:docMkLst>
      <pc:sldChg chg="modSp">
        <pc:chgData name="Amoz Pay" userId="S::amoz1.pay@supinfo.com::4d2f8cb2-b070-4ae8-bcd7-1f67ea500ae8" providerId="AD" clId="Web-{B52BC99B-B110-916F-9523-3B4B59D8F4D4}" dt="2026-08-17T04:39:26.346" v="148" actId="20577"/>
        <pc:sldMkLst>
          <pc:docMk/>
          <pc:sldMk cId="15472448" sldId="349"/>
        </pc:sldMkLst>
        <pc:spChg chg="mod">
          <ac:chgData name="Amoz Pay" userId="S::amoz1.pay@supinfo.com::4d2f8cb2-b070-4ae8-bcd7-1f67ea500ae8" providerId="AD" clId="Web-{B52BC99B-B110-916F-9523-3B4B59D8F4D4}" dt="2026-08-17T04:39:26.346" v="148" actId="20577"/>
          <ac:spMkLst>
            <pc:docMk/>
            <pc:sldMk cId="15472448" sldId="349"/>
            <ac:spMk id="2" creationId="{A0E6A220-3127-F3F8-91EF-7CA8BE5035C0}"/>
          </ac:spMkLst>
        </pc:spChg>
      </pc:sldChg>
      <pc:sldChg chg="modSp">
        <pc:chgData name="Amoz Pay" userId="S::amoz1.pay@supinfo.com::4d2f8cb2-b070-4ae8-bcd7-1f67ea500ae8" providerId="AD" clId="Web-{B52BC99B-B110-916F-9523-3B4B59D8F4D4}" dt="2026-08-16T14:12:13.694" v="10" actId="20577"/>
        <pc:sldMkLst>
          <pc:docMk/>
          <pc:sldMk cId="1945996160" sldId="354"/>
        </pc:sldMkLst>
        <pc:spChg chg="mod">
          <ac:chgData name="Amoz Pay" userId="S::amoz1.pay@supinfo.com::4d2f8cb2-b070-4ae8-bcd7-1f67ea500ae8" providerId="AD" clId="Web-{B52BC99B-B110-916F-9523-3B4B59D8F4D4}" dt="2026-08-16T14:12:13.694" v="10" actId="20577"/>
          <ac:spMkLst>
            <pc:docMk/>
            <pc:sldMk cId="1945996160" sldId="354"/>
            <ac:spMk id="2" creationId="{15A7BC53-CEE6-B61E-DF91-ADBF8FC26E5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C46319-86F7-1643-BC07-8F5BFECA8DEA}" type="doc">
      <dgm:prSet loTypeId="urn:microsoft.com/office/officeart/2005/8/layout/hProcess11" loCatId="" qsTypeId="urn:microsoft.com/office/officeart/2005/8/quickstyle/simple1#1" qsCatId="simple" csTypeId="urn:microsoft.com/office/officeart/2005/8/colors/accent1_2#1" csCatId="accent1" phldr="1"/>
      <dgm:spPr/>
    </dgm:pt>
    <dgm:pt modelId="{4358875C-AE44-D444-A0F6-0DA119F0B464}">
      <dgm:prSet phldrT="[Texte]"/>
      <dgm:spPr/>
      <dgm:t>
        <a:bodyPr/>
        <a:lstStyle/>
        <a:p>
          <a:r>
            <a:rPr lang="en-US" b="1" noProof="0"/>
            <a:t>2012</a:t>
          </a:r>
        </a:p>
        <a:p>
          <a:r>
            <a:rPr lang="en-US" noProof="0"/>
            <a:t>Ansible</a:t>
          </a:r>
        </a:p>
      </dgm:t>
    </dgm:pt>
    <dgm:pt modelId="{4DDB7DA2-E2D7-044C-9383-A045BD136904}" type="parTrans" cxnId="{9BFC3E72-F7AA-A64D-B401-FEC0AE4BE8A9}">
      <dgm:prSet/>
      <dgm:spPr/>
      <dgm:t>
        <a:bodyPr/>
        <a:lstStyle/>
        <a:p>
          <a:endParaRPr lang="fr-FR"/>
        </a:p>
      </dgm:t>
    </dgm:pt>
    <dgm:pt modelId="{A3A13AFA-55F2-F343-A7D0-F0E02FA9A340}" type="sibTrans" cxnId="{9BFC3E72-F7AA-A64D-B401-FEC0AE4BE8A9}">
      <dgm:prSet/>
      <dgm:spPr/>
      <dgm:t>
        <a:bodyPr/>
        <a:lstStyle/>
        <a:p>
          <a:endParaRPr lang="fr-FR"/>
        </a:p>
      </dgm:t>
    </dgm:pt>
    <dgm:pt modelId="{A24EB2E8-DC95-6D43-8E70-E4539568C4AB}">
      <dgm:prSet phldrT="[Texte]"/>
      <dgm:spPr/>
      <dgm:t>
        <a:bodyPr/>
        <a:lstStyle/>
        <a:p>
          <a:r>
            <a:rPr lang="en-US" b="1" noProof="0"/>
            <a:t>2005</a:t>
          </a:r>
        </a:p>
        <a:p>
          <a:r>
            <a:rPr lang="en-US" noProof="0"/>
            <a:t>Puppet</a:t>
          </a:r>
        </a:p>
      </dgm:t>
    </dgm:pt>
    <dgm:pt modelId="{23D610C8-E24E-AF48-97C4-90CD516C6B3B}" type="parTrans" cxnId="{49D54AEF-F3D4-C049-841C-B3572FE17C75}">
      <dgm:prSet/>
      <dgm:spPr/>
      <dgm:t>
        <a:bodyPr/>
        <a:lstStyle/>
        <a:p>
          <a:endParaRPr lang="fr-FR"/>
        </a:p>
      </dgm:t>
    </dgm:pt>
    <dgm:pt modelId="{1A6DDB92-14B2-0147-8532-C842B716C5AD}" type="sibTrans" cxnId="{49D54AEF-F3D4-C049-841C-B3572FE17C75}">
      <dgm:prSet/>
      <dgm:spPr/>
      <dgm:t>
        <a:bodyPr/>
        <a:lstStyle/>
        <a:p>
          <a:endParaRPr lang="fr-FR"/>
        </a:p>
      </dgm:t>
    </dgm:pt>
    <dgm:pt modelId="{B7DED1C9-BB75-D841-8641-B48E4F48895D}">
      <dgm:prSet/>
      <dgm:spPr/>
      <dgm:t>
        <a:bodyPr/>
        <a:lstStyle/>
        <a:p>
          <a:r>
            <a:rPr lang="en-US" b="1" noProof="0"/>
            <a:t>2014</a:t>
          </a:r>
        </a:p>
        <a:p>
          <a:r>
            <a:rPr lang="en-US" noProof="0"/>
            <a:t>Terraform</a:t>
          </a:r>
        </a:p>
        <a:p>
          <a:r>
            <a:rPr lang="en-US" noProof="0"/>
            <a:t>Kubernetes</a:t>
          </a:r>
        </a:p>
        <a:p>
          <a:r>
            <a:rPr lang="en-US" noProof="0"/>
            <a:t>Google Deploy Manager</a:t>
          </a:r>
        </a:p>
        <a:p>
          <a:r>
            <a:rPr lang="en-US" noProof="0"/>
            <a:t>Azure Resource Manager</a:t>
          </a:r>
        </a:p>
      </dgm:t>
    </dgm:pt>
    <dgm:pt modelId="{99B78045-3D54-3146-A9AA-D0E6692F0FA1}" type="parTrans" cxnId="{5EAB1BC5-56B1-5343-A185-DD04DF0CF82D}">
      <dgm:prSet/>
      <dgm:spPr/>
      <dgm:t>
        <a:bodyPr/>
        <a:lstStyle/>
        <a:p>
          <a:endParaRPr lang="fr-FR"/>
        </a:p>
      </dgm:t>
    </dgm:pt>
    <dgm:pt modelId="{7D9BEC75-B9C7-4446-84DC-7EF1A30AB055}" type="sibTrans" cxnId="{5EAB1BC5-56B1-5343-A185-DD04DF0CF82D}">
      <dgm:prSet/>
      <dgm:spPr/>
      <dgm:t>
        <a:bodyPr/>
        <a:lstStyle/>
        <a:p>
          <a:endParaRPr lang="fr-FR"/>
        </a:p>
      </dgm:t>
    </dgm:pt>
    <dgm:pt modelId="{A7AE4AE5-D315-8E4B-AF11-6379EC4AE9B7}">
      <dgm:prSet/>
      <dgm:spPr/>
      <dgm:t>
        <a:bodyPr/>
        <a:lstStyle/>
        <a:p>
          <a:r>
            <a:rPr lang="en-US" b="1" noProof="0"/>
            <a:t>2011</a:t>
          </a:r>
        </a:p>
        <a:p>
          <a:r>
            <a:rPr lang="en-US" noProof="0"/>
            <a:t>AWS CloudFormation</a:t>
          </a:r>
        </a:p>
      </dgm:t>
    </dgm:pt>
    <dgm:pt modelId="{03337854-B46F-2A4C-A172-886CE8BBB192}" type="parTrans" cxnId="{698EDF42-DC31-154A-AC47-6ADBBC413518}">
      <dgm:prSet/>
      <dgm:spPr/>
      <dgm:t>
        <a:bodyPr/>
        <a:lstStyle/>
        <a:p>
          <a:endParaRPr lang="fr-FR"/>
        </a:p>
      </dgm:t>
    </dgm:pt>
    <dgm:pt modelId="{2F8C0A93-E80E-C24F-AF5C-9C90489A8BD1}" type="sibTrans" cxnId="{698EDF42-DC31-154A-AC47-6ADBBC413518}">
      <dgm:prSet/>
      <dgm:spPr/>
      <dgm:t>
        <a:bodyPr/>
        <a:lstStyle/>
        <a:p>
          <a:endParaRPr lang="fr-FR"/>
        </a:p>
      </dgm:t>
    </dgm:pt>
    <dgm:pt modelId="{C66FD06B-C348-184D-968F-F38D9BC63E24}">
      <dgm:prSet/>
      <dgm:spPr/>
      <dgm:t>
        <a:bodyPr/>
        <a:lstStyle/>
        <a:p>
          <a:r>
            <a:rPr lang="en-US" b="1" noProof="0"/>
            <a:t>2017</a:t>
          </a:r>
        </a:p>
        <a:p>
          <a:r>
            <a:rPr lang="en-US" noProof="0" err="1"/>
            <a:t>Pulumi</a:t>
          </a:r>
          <a:endParaRPr lang="en-US" noProof="0"/>
        </a:p>
      </dgm:t>
    </dgm:pt>
    <dgm:pt modelId="{A52B112B-0755-5A44-8EA5-59FD4D8F2250}" type="parTrans" cxnId="{FB710D79-5F16-3E48-B585-6F6BCDD2DEC8}">
      <dgm:prSet/>
      <dgm:spPr/>
      <dgm:t>
        <a:bodyPr/>
        <a:lstStyle/>
        <a:p>
          <a:endParaRPr lang="fr-FR"/>
        </a:p>
      </dgm:t>
    </dgm:pt>
    <dgm:pt modelId="{B7390793-8B4E-5F4F-BBAE-B0ADCA207385}" type="sibTrans" cxnId="{FB710D79-5F16-3E48-B585-6F6BCDD2DEC8}">
      <dgm:prSet/>
      <dgm:spPr/>
      <dgm:t>
        <a:bodyPr/>
        <a:lstStyle/>
        <a:p>
          <a:endParaRPr lang="fr-FR"/>
        </a:p>
      </dgm:t>
    </dgm:pt>
    <dgm:pt modelId="{E3EEEFBC-34F8-4D45-BD31-8A4262C253A9}">
      <dgm:prSet/>
      <dgm:spPr/>
      <dgm:t>
        <a:bodyPr/>
        <a:lstStyle/>
        <a:p>
          <a:r>
            <a:rPr lang="en-US" b="1" noProof="0"/>
            <a:t>2009</a:t>
          </a:r>
        </a:p>
        <a:p>
          <a:r>
            <a:rPr lang="en-US" noProof="0"/>
            <a:t>Chef</a:t>
          </a:r>
        </a:p>
      </dgm:t>
    </dgm:pt>
    <dgm:pt modelId="{C2E06B21-2635-8E4C-8F35-7D8296DDFAC8}" type="parTrans" cxnId="{B963BE52-153B-734A-8521-75C0518D198F}">
      <dgm:prSet/>
      <dgm:spPr/>
      <dgm:t>
        <a:bodyPr/>
        <a:lstStyle/>
        <a:p>
          <a:endParaRPr lang="fr-FR"/>
        </a:p>
      </dgm:t>
    </dgm:pt>
    <dgm:pt modelId="{C770879A-F5E6-4745-812E-72F4FEB5DBC6}" type="sibTrans" cxnId="{B963BE52-153B-734A-8521-75C0518D198F}">
      <dgm:prSet/>
      <dgm:spPr/>
      <dgm:t>
        <a:bodyPr/>
        <a:lstStyle/>
        <a:p>
          <a:endParaRPr lang="fr-FR"/>
        </a:p>
      </dgm:t>
    </dgm:pt>
    <dgm:pt modelId="{4435AC3B-CBA6-B440-9306-F680CAD34A1F}">
      <dgm:prSet/>
      <dgm:spPr/>
      <dgm:t>
        <a:bodyPr/>
        <a:lstStyle/>
        <a:p>
          <a:r>
            <a:rPr lang="en-US" b="1" noProof="0"/>
            <a:t>2013</a:t>
          </a:r>
        </a:p>
        <a:p>
          <a:r>
            <a:rPr lang="en-US" noProof="0"/>
            <a:t>Docker compose</a:t>
          </a:r>
        </a:p>
      </dgm:t>
    </dgm:pt>
    <dgm:pt modelId="{F9C3812A-F0A9-8046-9E31-D062BBA31D21}" type="parTrans" cxnId="{B2E4B398-BC91-8C42-86CD-155EF5B7D053}">
      <dgm:prSet/>
      <dgm:spPr/>
      <dgm:t>
        <a:bodyPr/>
        <a:lstStyle/>
        <a:p>
          <a:endParaRPr lang="fr-FR"/>
        </a:p>
      </dgm:t>
    </dgm:pt>
    <dgm:pt modelId="{5798C6D1-950F-CF4F-9875-C8E0B2DA0836}" type="sibTrans" cxnId="{B2E4B398-BC91-8C42-86CD-155EF5B7D053}">
      <dgm:prSet/>
      <dgm:spPr/>
      <dgm:t>
        <a:bodyPr/>
        <a:lstStyle/>
        <a:p>
          <a:endParaRPr lang="fr-FR"/>
        </a:p>
      </dgm:t>
    </dgm:pt>
    <dgm:pt modelId="{F7D32A8F-E23F-1C46-935B-DB63B6A275DF}">
      <dgm:prSet/>
      <dgm:spPr/>
      <dgm:t>
        <a:bodyPr/>
        <a:lstStyle/>
        <a:p>
          <a:r>
            <a:rPr lang="en-US" b="1" noProof="0"/>
            <a:t>2015</a:t>
          </a:r>
        </a:p>
        <a:p>
          <a:r>
            <a:rPr lang="en-US" noProof="0"/>
            <a:t>Serverless Framework</a:t>
          </a:r>
        </a:p>
      </dgm:t>
    </dgm:pt>
    <dgm:pt modelId="{C6DB4431-E591-BD4F-BC44-E1787E838722}" type="parTrans" cxnId="{2891A00B-3F3B-EC4E-B85C-5553C529639E}">
      <dgm:prSet/>
      <dgm:spPr/>
      <dgm:t>
        <a:bodyPr/>
        <a:lstStyle/>
        <a:p>
          <a:endParaRPr lang="fr-FR"/>
        </a:p>
      </dgm:t>
    </dgm:pt>
    <dgm:pt modelId="{0318DB0A-B87A-1846-B2F5-709D5BCEB949}" type="sibTrans" cxnId="{2891A00B-3F3B-EC4E-B85C-5553C529639E}">
      <dgm:prSet/>
      <dgm:spPr/>
      <dgm:t>
        <a:bodyPr/>
        <a:lstStyle/>
        <a:p>
          <a:endParaRPr lang="fr-FR"/>
        </a:p>
      </dgm:t>
    </dgm:pt>
    <dgm:pt modelId="{D4355F5C-4329-0C46-8862-8D92C13F53C8}">
      <dgm:prSet/>
      <dgm:spPr/>
      <dgm:t>
        <a:bodyPr/>
        <a:lstStyle/>
        <a:p>
          <a:r>
            <a:rPr lang="en-US" b="1" noProof="0"/>
            <a:t>2018</a:t>
          </a:r>
        </a:p>
        <a:p>
          <a:r>
            <a:rPr lang="en-US" noProof="0"/>
            <a:t>AWS CDK</a:t>
          </a:r>
          <a:br>
            <a:rPr lang="en-US" noProof="0"/>
          </a:br>
          <a:r>
            <a:rPr lang="en-US" noProof="0"/>
            <a:t>Cloud Development Kit</a:t>
          </a:r>
        </a:p>
      </dgm:t>
    </dgm:pt>
    <dgm:pt modelId="{207D99ED-200D-1545-8431-FF217DBE3123}" type="parTrans" cxnId="{D380D80B-E657-074B-A4B1-5876EC86A0C0}">
      <dgm:prSet/>
      <dgm:spPr/>
      <dgm:t>
        <a:bodyPr/>
        <a:lstStyle/>
        <a:p>
          <a:endParaRPr lang="fr-FR"/>
        </a:p>
      </dgm:t>
    </dgm:pt>
    <dgm:pt modelId="{D7DAF0FE-5CDA-274D-8395-63B3B3374DAE}" type="sibTrans" cxnId="{D380D80B-E657-074B-A4B1-5876EC86A0C0}">
      <dgm:prSet/>
      <dgm:spPr/>
      <dgm:t>
        <a:bodyPr/>
        <a:lstStyle/>
        <a:p>
          <a:endParaRPr lang="fr-FR"/>
        </a:p>
      </dgm:t>
    </dgm:pt>
    <dgm:pt modelId="{DABA1B50-67BE-564A-A939-6E211F6C07D0}" type="pres">
      <dgm:prSet presAssocID="{A8C46319-86F7-1643-BC07-8F5BFECA8DEA}" presName="Name0" presStyleCnt="0">
        <dgm:presLayoutVars>
          <dgm:dir/>
          <dgm:resizeHandles val="exact"/>
        </dgm:presLayoutVars>
      </dgm:prSet>
      <dgm:spPr/>
    </dgm:pt>
    <dgm:pt modelId="{24056C0F-9AA6-7340-AC1C-0C6B18C9C0BD}" type="pres">
      <dgm:prSet presAssocID="{A8C46319-86F7-1643-BC07-8F5BFECA8DEA}" presName="arrow" presStyleLbl="bgShp" presStyleIdx="0" presStyleCnt="1"/>
      <dgm:spPr/>
    </dgm:pt>
    <dgm:pt modelId="{955186E2-9D83-B140-8CDD-621A02E69F80}" type="pres">
      <dgm:prSet presAssocID="{A8C46319-86F7-1643-BC07-8F5BFECA8DEA}" presName="points" presStyleCnt="0"/>
      <dgm:spPr/>
    </dgm:pt>
    <dgm:pt modelId="{611EC8F1-078F-C141-BCED-FD6F6DB5DB16}" type="pres">
      <dgm:prSet presAssocID="{A24EB2E8-DC95-6D43-8E70-E4539568C4AB}" presName="compositeA" presStyleCnt="0"/>
      <dgm:spPr/>
    </dgm:pt>
    <dgm:pt modelId="{1B35833C-0737-3741-971E-283E2422A97F}" type="pres">
      <dgm:prSet presAssocID="{A24EB2E8-DC95-6D43-8E70-E4539568C4AB}" presName="textA" presStyleLbl="revTx" presStyleIdx="0" presStyleCnt="9">
        <dgm:presLayoutVars>
          <dgm:bulletEnabled val="1"/>
        </dgm:presLayoutVars>
      </dgm:prSet>
      <dgm:spPr/>
    </dgm:pt>
    <dgm:pt modelId="{9A51F1C1-97EC-2942-96FB-6FB0D56EEEA7}" type="pres">
      <dgm:prSet presAssocID="{A24EB2E8-DC95-6D43-8E70-E4539568C4AB}" presName="circleA" presStyleLbl="node1" presStyleIdx="0" presStyleCnt="9"/>
      <dgm:spPr/>
    </dgm:pt>
    <dgm:pt modelId="{DADF090F-3046-C247-98E5-E827F85CD2F2}" type="pres">
      <dgm:prSet presAssocID="{A24EB2E8-DC95-6D43-8E70-E4539568C4AB}" presName="spaceA" presStyleCnt="0"/>
      <dgm:spPr/>
    </dgm:pt>
    <dgm:pt modelId="{E39BAE23-1506-E043-99CA-F398129D843D}" type="pres">
      <dgm:prSet presAssocID="{1A6DDB92-14B2-0147-8532-C842B716C5AD}" presName="space" presStyleCnt="0"/>
      <dgm:spPr/>
    </dgm:pt>
    <dgm:pt modelId="{D49CFE33-8196-9C43-B3D0-949FE4D1BCCF}" type="pres">
      <dgm:prSet presAssocID="{E3EEEFBC-34F8-4D45-BD31-8A4262C253A9}" presName="compositeB" presStyleCnt="0"/>
      <dgm:spPr/>
    </dgm:pt>
    <dgm:pt modelId="{A6731686-DDCC-5648-A27B-48E3E5F07F90}" type="pres">
      <dgm:prSet presAssocID="{E3EEEFBC-34F8-4D45-BD31-8A4262C253A9}" presName="textB" presStyleLbl="revTx" presStyleIdx="1" presStyleCnt="9">
        <dgm:presLayoutVars>
          <dgm:bulletEnabled val="1"/>
        </dgm:presLayoutVars>
      </dgm:prSet>
      <dgm:spPr/>
    </dgm:pt>
    <dgm:pt modelId="{5F86FDD6-7B19-9D4F-819E-1EB1ECC0EBF9}" type="pres">
      <dgm:prSet presAssocID="{E3EEEFBC-34F8-4D45-BD31-8A4262C253A9}" presName="circleB" presStyleLbl="node1" presStyleIdx="1" presStyleCnt="9"/>
      <dgm:spPr/>
    </dgm:pt>
    <dgm:pt modelId="{AEEF7A3F-4FD4-7541-8073-CD80AFE3A6E7}" type="pres">
      <dgm:prSet presAssocID="{E3EEEFBC-34F8-4D45-BD31-8A4262C253A9}" presName="spaceB" presStyleCnt="0"/>
      <dgm:spPr/>
    </dgm:pt>
    <dgm:pt modelId="{DBA5C2DA-6AF9-6B42-8C50-E21CEF88E754}" type="pres">
      <dgm:prSet presAssocID="{C770879A-F5E6-4745-812E-72F4FEB5DBC6}" presName="space" presStyleCnt="0"/>
      <dgm:spPr/>
    </dgm:pt>
    <dgm:pt modelId="{2CB2A81B-3A75-FC4D-BFB5-DFE8FC9622A3}" type="pres">
      <dgm:prSet presAssocID="{A7AE4AE5-D315-8E4B-AF11-6379EC4AE9B7}" presName="compositeA" presStyleCnt="0"/>
      <dgm:spPr/>
    </dgm:pt>
    <dgm:pt modelId="{6F591695-B66B-7E4F-962D-A4A36A22A6D4}" type="pres">
      <dgm:prSet presAssocID="{A7AE4AE5-D315-8E4B-AF11-6379EC4AE9B7}" presName="textA" presStyleLbl="revTx" presStyleIdx="2" presStyleCnt="9">
        <dgm:presLayoutVars>
          <dgm:bulletEnabled val="1"/>
        </dgm:presLayoutVars>
      </dgm:prSet>
      <dgm:spPr/>
    </dgm:pt>
    <dgm:pt modelId="{969C9E44-453D-D044-BE47-71DC412F20CB}" type="pres">
      <dgm:prSet presAssocID="{A7AE4AE5-D315-8E4B-AF11-6379EC4AE9B7}" presName="circleA" presStyleLbl="node1" presStyleIdx="2" presStyleCnt="9"/>
      <dgm:spPr/>
    </dgm:pt>
    <dgm:pt modelId="{CAD0D5FD-E738-D84B-8196-F9343EABA68D}" type="pres">
      <dgm:prSet presAssocID="{A7AE4AE5-D315-8E4B-AF11-6379EC4AE9B7}" presName="spaceA" presStyleCnt="0"/>
      <dgm:spPr/>
    </dgm:pt>
    <dgm:pt modelId="{6D0DF62B-279C-6242-83A0-B2160777A66E}" type="pres">
      <dgm:prSet presAssocID="{2F8C0A93-E80E-C24F-AF5C-9C90489A8BD1}" presName="space" presStyleCnt="0"/>
      <dgm:spPr/>
    </dgm:pt>
    <dgm:pt modelId="{0A6BFE1D-2BBA-5541-9A30-8DC9CC900B0F}" type="pres">
      <dgm:prSet presAssocID="{4358875C-AE44-D444-A0F6-0DA119F0B464}" presName="compositeB" presStyleCnt="0"/>
      <dgm:spPr/>
    </dgm:pt>
    <dgm:pt modelId="{4A90D13C-5D73-1E4C-8DFA-9856A319B294}" type="pres">
      <dgm:prSet presAssocID="{4358875C-AE44-D444-A0F6-0DA119F0B464}" presName="textB" presStyleLbl="revTx" presStyleIdx="3" presStyleCnt="9">
        <dgm:presLayoutVars>
          <dgm:bulletEnabled val="1"/>
        </dgm:presLayoutVars>
      </dgm:prSet>
      <dgm:spPr/>
    </dgm:pt>
    <dgm:pt modelId="{6C9CBE4E-3956-6F49-8F89-E1E93D2C0581}" type="pres">
      <dgm:prSet presAssocID="{4358875C-AE44-D444-A0F6-0DA119F0B464}" presName="circleB" presStyleLbl="node1" presStyleIdx="3" presStyleCnt="9"/>
      <dgm:spPr/>
    </dgm:pt>
    <dgm:pt modelId="{FA86BB9B-8983-7B4E-990A-BD0F0F1D9918}" type="pres">
      <dgm:prSet presAssocID="{4358875C-AE44-D444-A0F6-0DA119F0B464}" presName="spaceB" presStyleCnt="0"/>
      <dgm:spPr/>
    </dgm:pt>
    <dgm:pt modelId="{AA4FA33A-690A-9746-8DE3-CDA566AD4A47}" type="pres">
      <dgm:prSet presAssocID="{A3A13AFA-55F2-F343-A7D0-F0E02FA9A340}" presName="space" presStyleCnt="0"/>
      <dgm:spPr/>
    </dgm:pt>
    <dgm:pt modelId="{82CF00FB-765C-7F46-BD4F-80CFFC0544BF}" type="pres">
      <dgm:prSet presAssocID="{4435AC3B-CBA6-B440-9306-F680CAD34A1F}" presName="compositeA" presStyleCnt="0"/>
      <dgm:spPr/>
    </dgm:pt>
    <dgm:pt modelId="{4EF845F6-6E98-F149-8781-8D5A8238CAC1}" type="pres">
      <dgm:prSet presAssocID="{4435AC3B-CBA6-B440-9306-F680CAD34A1F}" presName="textA" presStyleLbl="revTx" presStyleIdx="4" presStyleCnt="9">
        <dgm:presLayoutVars>
          <dgm:bulletEnabled val="1"/>
        </dgm:presLayoutVars>
      </dgm:prSet>
      <dgm:spPr/>
    </dgm:pt>
    <dgm:pt modelId="{EE65EC71-1E44-FE4E-80B3-B4C30B2129A1}" type="pres">
      <dgm:prSet presAssocID="{4435AC3B-CBA6-B440-9306-F680CAD34A1F}" presName="circleA" presStyleLbl="node1" presStyleIdx="4" presStyleCnt="9"/>
      <dgm:spPr/>
    </dgm:pt>
    <dgm:pt modelId="{9EE5733D-132B-9847-8D11-8D43F867DB1E}" type="pres">
      <dgm:prSet presAssocID="{4435AC3B-CBA6-B440-9306-F680CAD34A1F}" presName="spaceA" presStyleCnt="0"/>
      <dgm:spPr/>
    </dgm:pt>
    <dgm:pt modelId="{61378CC7-44C5-7140-B324-08245E824BF9}" type="pres">
      <dgm:prSet presAssocID="{5798C6D1-950F-CF4F-9875-C8E0B2DA0836}" presName="space" presStyleCnt="0"/>
      <dgm:spPr/>
    </dgm:pt>
    <dgm:pt modelId="{19D101D8-C7B2-0C4E-BB19-C07883037C78}" type="pres">
      <dgm:prSet presAssocID="{B7DED1C9-BB75-D841-8641-B48E4F48895D}" presName="compositeB" presStyleCnt="0"/>
      <dgm:spPr/>
    </dgm:pt>
    <dgm:pt modelId="{E7111321-894D-0044-8740-E0F143F83901}" type="pres">
      <dgm:prSet presAssocID="{B7DED1C9-BB75-D841-8641-B48E4F48895D}" presName="textB" presStyleLbl="revTx" presStyleIdx="5" presStyleCnt="9">
        <dgm:presLayoutVars>
          <dgm:bulletEnabled val="1"/>
        </dgm:presLayoutVars>
      </dgm:prSet>
      <dgm:spPr/>
    </dgm:pt>
    <dgm:pt modelId="{2B8F14C7-46DC-4D42-A393-1A2182EA53A0}" type="pres">
      <dgm:prSet presAssocID="{B7DED1C9-BB75-D841-8641-B48E4F48895D}" presName="circleB" presStyleLbl="node1" presStyleIdx="5" presStyleCnt="9"/>
      <dgm:spPr/>
    </dgm:pt>
    <dgm:pt modelId="{5E9D5F40-4EB2-FD48-A964-C04A20F6147F}" type="pres">
      <dgm:prSet presAssocID="{B7DED1C9-BB75-D841-8641-B48E4F48895D}" presName="spaceB" presStyleCnt="0"/>
      <dgm:spPr/>
    </dgm:pt>
    <dgm:pt modelId="{1D7DE763-3BE0-9841-9BE6-B6954F6B38CF}" type="pres">
      <dgm:prSet presAssocID="{7D9BEC75-B9C7-4446-84DC-7EF1A30AB055}" presName="space" presStyleCnt="0"/>
      <dgm:spPr/>
    </dgm:pt>
    <dgm:pt modelId="{D026E069-530B-AD44-91A7-1B97D42C665B}" type="pres">
      <dgm:prSet presAssocID="{F7D32A8F-E23F-1C46-935B-DB63B6A275DF}" presName="compositeA" presStyleCnt="0"/>
      <dgm:spPr/>
    </dgm:pt>
    <dgm:pt modelId="{C207620A-ABAB-734A-AB08-99F8EB69C000}" type="pres">
      <dgm:prSet presAssocID="{F7D32A8F-E23F-1C46-935B-DB63B6A275DF}" presName="textA" presStyleLbl="revTx" presStyleIdx="6" presStyleCnt="9">
        <dgm:presLayoutVars>
          <dgm:bulletEnabled val="1"/>
        </dgm:presLayoutVars>
      </dgm:prSet>
      <dgm:spPr/>
    </dgm:pt>
    <dgm:pt modelId="{E28CC7F4-9BC9-014B-8C9D-F70F728F7BBF}" type="pres">
      <dgm:prSet presAssocID="{F7D32A8F-E23F-1C46-935B-DB63B6A275DF}" presName="circleA" presStyleLbl="node1" presStyleIdx="6" presStyleCnt="9"/>
      <dgm:spPr/>
    </dgm:pt>
    <dgm:pt modelId="{2F7B57D4-E744-8047-A2B6-5236EB93E53E}" type="pres">
      <dgm:prSet presAssocID="{F7D32A8F-E23F-1C46-935B-DB63B6A275DF}" presName="spaceA" presStyleCnt="0"/>
      <dgm:spPr/>
    </dgm:pt>
    <dgm:pt modelId="{983EE12A-592E-C64F-856E-90B54B15C111}" type="pres">
      <dgm:prSet presAssocID="{0318DB0A-B87A-1846-B2F5-709D5BCEB949}" presName="space" presStyleCnt="0"/>
      <dgm:spPr/>
    </dgm:pt>
    <dgm:pt modelId="{B43B0074-693C-FA44-AC50-583213D8DAC8}" type="pres">
      <dgm:prSet presAssocID="{C66FD06B-C348-184D-968F-F38D9BC63E24}" presName="compositeB" presStyleCnt="0"/>
      <dgm:spPr/>
    </dgm:pt>
    <dgm:pt modelId="{109B7653-F8B7-8345-9F7D-B163D7AA3D5C}" type="pres">
      <dgm:prSet presAssocID="{C66FD06B-C348-184D-968F-F38D9BC63E24}" presName="textB" presStyleLbl="revTx" presStyleIdx="7" presStyleCnt="9">
        <dgm:presLayoutVars>
          <dgm:bulletEnabled val="1"/>
        </dgm:presLayoutVars>
      </dgm:prSet>
      <dgm:spPr/>
    </dgm:pt>
    <dgm:pt modelId="{05CEC904-B001-7F4C-9DF8-9E81068767DD}" type="pres">
      <dgm:prSet presAssocID="{C66FD06B-C348-184D-968F-F38D9BC63E24}" presName="circleB" presStyleLbl="node1" presStyleIdx="7" presStyleCnt="9"/>
      <dgm:spPr/>
    </dgm:pt>
    <dgm:pt modelId="{5E2EA3AB-7EFD-F449-B9E7-A9A15E166139}" type="pres">
      <dgm:prSet presAssocID="{C66FD06B-C348-184D-968F-F38D9BC63E24}" presName="spaceB" presStyleCnt="0"/>
      <dgm:spPr/>
    </dgm:pt>
    <dgm:pt modelId="{D6EBF7E1-2420-4145-BFCD-E7F3D1C41FE4}" type="pres">
      <dgm:prSet presAssocID="{B7390793-8B4E-5F4F-BBAE-B0ADCA207385}" presName="space" presStyleCnt="0"/>
      <dgm:spPr/>
    </dgm:pt>
    <dgm:pt modelId="{494BF7C1-0F9E-8140-9FA8-10DAA7A56694}" type="pres">
      <dgm:prSet presAssocID="{D4355F5C-4329-0C46-8862-8D92C13F53C8}" presName="compositeA" presStyleCnt="0"/>
      <dgm:spPr/>
    </dgm:pt>
    <dgm:pt modelId="{83175686-7314-A24C-A6E0-6072AE60763F}" type="pres">
      <dgm:prSet presAssocID="{D4355F5C-4329-0C46-8862-8D92C13F53C8}" presName="textA" presStyleLbl="revTx" presStyleIdx="8" presStyleCnt="9">
        <dgm:presLayoutVars>
          <dgm:bulletEnabled val="1"/>
        </dgm:presLayoutVars>
      </dgm:prSet>
      <dgm:spPr/>
    </dgm:pt>
    <dgm:pt modelId="{55421A8C-FDF2-FF48-B265-A88DA5EA5F5B}" type="pres">
      <dgm:prSet presAssocID="{D4355F5C-4329-0C46-8862-8D92C13F53C8}" presName="circleA" presStyleLbl="node1" presStyleIdx="8" presStyleCnt="9"/>
      <dgm:spPr/>
    </dgm:pt>
    <dgm:pt modelId="{0692D1A4-74D2-F949-8DD8-EE9B533EE7C7}" type="pres">
      <dgm:prSet presAssocID="{D4355F5C-4329-0C46-8862-8D92C13F53C8}" presName="spaceA" presStyleCnt="0"/>
      <dgm:spPr/>
    </dgm:pt>
  </dgm:ptLst>
  <dgm:cxnLst>
    <dgm:cxn modelId="{2891A00B-3F3B-EC4E-B85C-5553C529639E}" srcId="{A8C46319-86F7-1643-BC07-8F5BFECA8DEA}" destId="{F7D32A8F-E23F-1C46-935B-DB63B6A275DF}" srcOrd="6" destOrd="0" parTransId="{C6DB4431-E591-BD4F-BC44-E1787E838722}" sibTransId="{0318DB0A-B87A-1846-B2F5-709D5BCEB949}"/>
    <dgm:cxn modelId="{D380D80B-E657-074B-A4B1-5876EC86A0C0}" srcId="{A8C46319-86F7-1643-BC07-8F5BFECA8DEA}" destId="{D4355F5C-4329-0C46-8862-8D92C13F53C8}" srcOrd="8" destOrd="0" parTransId="{207D99ED-200D-1545-8431-FF217DBE3123}" sibTransId="{D7DAF0FE-5CDA-274D-8395-63B3B3374DAE}"/>
    <dgm:cxn modelId="{0916A329-E9B9-AF44-B7D3-F0D413279D5D}" type="presOf" srcId="{4435AC3B-CBA6-B440-9306-F680CAD34A1F}" destId="{4EF845F6-6E98-F149-8781-8D5A8238CAC1}" srcOrd="0" destOrd="0" presId="urn:microsoft.com/office/officeart/2005/8/layout/hProcess11"/>
    <dgm:cxn modelId="{52012237-9C99-D144-821A-40D9F8E4EF08}" type="presOf" srcId="{B7DED1C9-BB75-D841-8641-B48E4F48895D}" destId="{E7111321-894D-0044-8740-E0F143F83901}" srcOrd="0" destOrd="0" presId="urn:microsoft.com/office/officeart/2005/8/layout/hProcess11"/>
    <dgm:cxn modelId="{1E64E839-E0BB-4547-A7FC-1D69AEB51190}" type="presOf" srcId="{E3EEEFBC-34F8-4D45-BD31-8A4262C253A9}" destId="{A6731686-DDCC-5648-A27B-48E3E5F07F90}" srcOrd="0" destOrd="0" presId="urn:microsoft.com/office/officeart/2005/8/layout/hProcess11"/>
    <dgm:cxn modelId="{698EDF42-DC31-154A-AC47-6ADBBC413518}" srcId="{A8C46319-86F7-1643-BC07-8F5BFECA8DEA}" destId="{A7AE4AE5-D315-8E4B-AF11-6379EC4AE9B7}" srcOrd="2" destOrd="0" parTransId="{03337854-B46F-2A4C-A172-886CE8BBB192}" sibTransId="{2F8C0A93-E80E-C24F-AF5C-9C90489A8BD1}"/>
    <dgm:cxn modelId="{56D21769-3D4F-B940-A793-5CF57329B053}" type="presOf" srcId="{F7D32A8F-E23F-1C46-935B-DB63B6A275DF}" destId="{C207620A-ABAB-734A-AB08-99F8EB69C000}" srcOrd="0" destOrd="0" presId="urn:microsoft.com/office/officeart/2005/8/layout/hProcess11"/>
    <dgm:cxn modelId="{A68AA149-52E1-A843-BAFF-8F35AD6A6357}" type="presOf" srcId="{A7AE4AE5-D315-8E4B-AF11-6379EC4AE9B7}" destId="{6F591695-B66B-7E4F-962D-A4A36A22A6D4}" srcOrd="0" destOrd="0" presId="urn:microsoft.com/office/officeart/2005/8/layout/hProcess11"/>
    <dgm:cxn modelId="{9BFC3E72-F7AA-A64D-B401-FEC0AE4BE8A9}" srcId="{A8C46319-86F7-1643-BC07-8F5BFECA8DEA}" destId="{4358875C-AE44-D444-A0F6-0DA119F0B464}" srcOrd="3" destOrd="0" parTransId="{4DDB7DA2-E2D7-044C-9383-A045BD136904}" sibTransId="{A3A13AFA-55F2-F343-A7D0-F0E02FA9A340}"/>
    <dgm:cxn modelId="{B963BE52-153B-734A-8521-75C0518D198F}" srcId="{A8C46319-86F7-1643-BC07-8F5BFECA8DEA}" destId="{E3EEEFBC-34F8-4D45-BD31-8A4262C253A9}" srcOrd="1" destOrd="0" parTransId="{C2E06B21-2635-8E4C-8F35-7D8296DDFAC8}" sibTransId="{C770879A-F5E6-4745-812E-72F4FEB5DBC6}"/>
    <dgm:cxn modelId="{73AD8E73-A3E1-1648-9A8B-A562E28237CC}" type="presOf" srcId="{C66FD06B-C348-184D-968F-F38D9BC63E24}" destId="{109B7653-F8B7-8345-9F7D-B163D7AA3D5C}" srcOrd="0" destOrd="0" presId="urn:microsoft.com/office/officeart/2005/8/layout/hProcess11"/>
    <dgm:cxn modelId="{FB710D79-5F16-3E48-B585-6F6BCDD2DEC8}" srcId="{A8C46319-86F7-1643-BC07-8F5BFECA8DEA}" destId="{C66FD06B-C348-184D-968F-F38D9BC63E24}" srcOrd="7" destOrd="0" parTransId="{A52B112B-0755-5A44-8EA5-59FD4D8F2250}" sibTransId="{B7390793-8B4E-5F4F-BBAE-B0ADCA207385}"/>
    <dgm:cxn modelId="{BEE17693-37F4-C842-A948-468DB0257043}" type="presOf" srcId="{A8C46319-86F7-1643-BC07-8F5BFECA8DEA}" destId="{DABA1B50-67BE-564A-A939-6E211F6C07D0}" srcOrd="0" destOrd="0" presId="urn:microsoft.com/office/officeart/2005/8/layout/hProcess11"/>
    <dgm:cxn modelId="{EB2D3D96-0E0A-5849-B496-5398DF0E3F60}" type="presOf" srcId="{A24EB2E8-DC95-6D43-8E70-E4539568C4AB}" destId="{1B35833C-0737-3741-971E-283E2422A97F}" srcOrd="0" destOrd="0" presId="urn:microsoft.com/office/officeart/2005/8/layout/hProcess11"/>
    <dgm:cxn modelId="{B2E4B398-BC91-8C42-86CD-155EF5B7D053}" srcId="{A8C46319-86F7-1643-BC07-8F5BFECA8DEA}" destId="{4435AC3B-CBA6-B440-9306-F680CAD34A1F}" srcOrd="4" destOrd="0" parTransId="{F9C3812A-F0A9-8046-9E31-D062BBA31D21}" sibTransId="{5798C6D1-950F-CF4F-9875-C8E0B2DA0836}"/>
    <dgm:cxn modelId="{5EAB1BC5-56B1-5343-A185-DD04DF0CF82D}" srcId="{A8C46319-86F7-1643-BC07-8F5BFECA8DEA}" destId="{B7DED1C9-BB75-D841-8641-B48E4F48895D}" srcOrd="5" destOrd="0" parTransId="{99B78045-3D54-3146-A9AA-D0E6692F0FA1}" sibTransId="{7D9BEC75-B9C7-4446-84DC-7EF1A30AB055}"/>
    <dgm:cxn modelId="{44DAF1D5-D967-F443-AC8E-5F55ECA567E3}" type="presOf" srcId="{D4355F5C-4329-0C46-8862-8D92C13F53C8}" destId="{83175686-7314-A24C-A6E0-6072AE60763F}" srcOrd="0" destOrd="0" presId="urn:microsoft.com/office/officeart/2005/8/layout/hProcess11"/>
    <dgm:cxn modelId="{49D54AEF-F3D4-C049-841C-B3572FE17C75}" srcId="{A8C46319-86F7-1643-BC07-8F5BFECA8DEA}" destId="{A24EB2E8-DC95-6D43-8E70-E4539568C4AB}" srcOrd="0" destOrd="0" parTransId="{23D610C8-E24E-AF48-97C4-90CD516C6B3B}" sibTransId="{1A6DDB92-14B2-0147-8532-C842B716C5AD}"/>
    <dgm:cxn modelId="{B5261FFB-0B9C-2B4E-8297-4948AE9D4E08}" type="presOf" srcId="{4358875C-AE44-D444-A0F6-0DA119F0B464}" destId="{4A90D13C-5D73-1E4C-8DFA-9856A319B294}" srcOrd="0" destOrd="0" presId="urn:microsoft.com/office/officeart/2005/8/layout/hProcess11"/>
    <dgm:cxn modelId="{18993679-A652-4542-A5B4-BD87A49DBCD2}" type="presParOf" srcId="{DABA1B50-67BE-564A-A939-6E211F6C07D0}" destId="{24056C0F-9AA6-7340-AC1C-0C6B18C9C0BD}" srcOrd="0" destOrd="0" presId="urn:microsoft.com/office/officeart/2005/8/layout/hProcess11"/>
    <dgm:cxn modelId="{59F61DE6-D5C7-0346-A639-EE8A061D0CFA}" type="presParOf" srcId="{DABA1B50-67BE-564A-A939-6E211F6C07D0}" destId="{955186E2-9D83-B140-8CDD-621A02E69F80}" srcOrd="1" destOrd="0" presId="urn:microsoft.com/office/officeart/2005/8/layout/hProcess11"/>
    <dgm:cxn modelId="{EB670685-83CE-A247-97B1-AAB192AF8B65}" type="presParOf" srcId="{955186E2-9D83-B140-8CDD-621A02E69F80}" destId="{611EC8F1-078F-C141-BCED-FD6F6DB5DB16}" srcOrd="0" destOrd="0" presId="urn:microsoft.com/office/officeart/2005/8/layout/hProcess11"/>
    <dgm:cxn modelId="{03622223-CDD1-E34E-BC18-E78371D15CF5}" type="presParOf" srcId="{611EC8F1-078F-C141-BCED-FD6F6DB5DB16}" destId="{1B35833C-0737-3741-971E-283E2422A97F}" srcOrd="0" destOrd="0" presId="urn:microsoft.com/office/officeart/2005/8/layout/hProcess11"/>
    <dgm:cxn modelId="{6944E4DE-4170-A442-A1E4-9146E043EE2D}" type="presParOf" srcId="{611EC8F1-078F-C141-BCED-FD6F6DB5DB16}" destId="{9A51F1C1-97EC-2942-96FB-6FB0D56EEEA7}" srcOrd="1" destOrd="0" presId="urn:microsoft.com/office/officeart/2005/8/layout/hProcess11"/>
    <dgm:cxn modelId="{1F97134B-E58B-DA4D-8681-A29E36476B3B}" type="presParOf" srcId="{611EC8F1-078F-C141-BCED-FD6F6DB5DB16}" destId="{DADF090F-3046-C247-98E5-E827F85CD2F2}" srcOrd="2" destOrd="0" presId="urn:microsoft.com/office/officeart/2005/8/layout/hProcess11"/>
    <dgm:cxn modelId="{799FE311-411F-954F-9EB0-7916CEE847FA}" type="presParOf" srcId="{955186E2-9D83-B140-8CDD-621A02E69F80}" destId="{E39BAE23-1506-E043-99CA-F398129D843D}" srcOrd="1" destOrd="0" presId="urn:microsoft.com/office/officeart/2005/8/layout/hProcess11"/>
    <dgm:cxn modelId="{1BF5B9F8-A271-AE4D-ACD7-76A28C52A798}" type="presParOf" srcId="{955186E2-9D83-B140-8CDD-621A02E69F80}" destId="{D49CFE33-8196-9C43-B3D0-949FE4D1BCCF}" srcOrd="2" destOrd="0" presId="urn:microsoft.com/office/officeart/2005/8/layout/hProcess11"/>
    <dgm:cxn modelId="{26D2A385-3A9A-3E42-8E7B-9CD4996106B2}" type="presParOf" srcId="{D49CFE33-8196-9C43-B3D0-949FE4D1BCCF}" destId="{A6731686-DDCC-5648-A27B-48E3E5F07F90}" srcOrd="0" destOrd="0" presId="urn:microsoft.com/office/officeart/2005/8/layout/hProcess11"/>
    <dgm:cxn modelId="{5178A40A-2196-D840-BEB8-C7D492CBC491}" type="presParOf" srcId="{D49CFE33-8196-9C43-B3D0-949FE4D1BCCF}" destId="{5F86FDD6-7B19-9D4F-819E-1EB1ECC0EBF9}" srcOrd="1" destOrd="0" presId="urn:microsoft.com/office/officeart/2005/8/layout/hProcess11"/>
    <dgm:cxn modelId="{B9AA4AB1-7E6E-0642-8A13-B2FBA914474E}" type="presParOf" srcId="{D49CFE33-8196-9C43-B3D0-949FE4D1BCCF}" destId="{AEEF7A3F-4FD4-7541-8073-CD80AFE3A6E7}" srcOrd="2" destOrd="0" presId="urn:microsoft.com/office/officeart/2005/8/layout/hProcess11"/>
    <dgm:cxn modelId="{F291FB22-1CEE-CD46-9B83-830E49121167}" type="presParOf" srcId="{955186E2-9D83-B140-8CDD-621A02E69F80}" destId="{DBA5C2DA-6AF9-6B42-8C50-E21CEF88E754}" srcOrd="3" destOrd="0" presId="urn:microsoft.com/office/officeart/2005/8/layout/hProcess11"/>
    <dgm:cxn modelId="{5B8608C7-CD1C-554F-BBAA-78A02DED0A96}" type="presParOf" srcId="{955186E2-9D83-B140-8CDD-621A02E69F80}" destId="{2CB2A81B-3A75-FC4D-BFB5-DFE8FC9622A3}" srcOrd="4" destOrd="0" presId="urn:microsoft.com/office/officeart/2005/8/layout/hProcess11"/>
    <dgm:cxn modelId="{907D0C88-FEF7-0742-827F-59F472B4AF5E}" type="presParOf" srcId="{2CB2A81B-3A75-FC4D-BFB5-DFE8FC9622A3}" destId="{6F591695-B66B-7E4F-962D-A4A36A22A6D4}" srcOrd="0" destOrd="0" presId="urn:microsoft.com/office/officeart/2005/8/layout/hProcess11"/>
    <dgm:cxn modelId="{4B69BDD2-15D5-4743-A9B9-A3A3EF911CE5}" type="presParOf" srcId="{2CB2A81B-3A75-FC4D-BFB5-DFE8FC9622A3}" destId="{969C9E44-453D-D044-BE47-71DC412F20CB}" srcOrd="1" destOrd="0" presId="urn:microsoft.com/office/officeart/2005/8/layout/hProcess11"/>
    <dgm:cxn modelId="{4F6202F9-0E0E-054B-A11B-410A6454FCFC}" type="presParOf" srcId="{2CB2A81B-3A75-FC4D-BFB5-DFE8FC9622A3}" destId="{CAD0D5FD-E738-D84B-8196-F9343EABA68D}" srcOrd="2" destOrd="0" presId="urn:microsoft.com/office/officeart/2005/8/layout/hProcess11"/>
    <dgm:cxn modelId="{48FDA7EC-B275-674D-810D-F187AD192FCD}" type="presParOf" srcId="{955186E2-9D83-B140-8CDD-621A02E69F80}" destId="{6D0DF62B-279C-6242-83A0-B2160777A66E}" srcOrd="5" destOrd="0" presId="urn:microsoft.com/office/officeart/2005/8/layout/hProcess11"/>
    <dgm:cxn modelId="{EB5EE4EC-1B87-3A48-8B6D-84931904EF3C}" type="presParOf" srcId="{955186E2-9D83-B140-8CDD-621A02E69F80}" destId="{0A6BFE1D-2BBA-5541-9A30-8DC9CC900B0F}" srcOrd="6" destOrd="0" presId="urn:microsoft.com/office/officeart/2005/8/layout/hProcess11"/>
    <dgm:cxn modelId="{5B884D8C-48AD-AB49-AEC3-042213EB849F}" type="presParOf" srcId="{0A6BFE1D-2BBA-5541-9A30-8DC9CC900B0F}" destId="{4A90D13C-5D73-1E4C-8DFA-9856A319B294}" srcOrd="0" destOrd="0" presId="urn:microsoft.com/office/officeart/2005/8/layout/hProcess11"/>
    <dgm:cxn modelId="{E05DDAE9-EDAB-0D4F-A2A6-9E4CC8724737}" type="presParOf" srcId="{0A6BFE1D-2BBA-5541-9A30-8DC9CC900B0F}" destId="{6C9CBE4E-3956-6F49-8F89-E1E93D2C0581}" srcOrd="1" destOrd="0" presId="urn:microsoft.com/office/officeart/2005/8/layout/hProcess11"/>
    <dgm:cxn modelId="{B5C1865A-7ADF-2A46-9938-AE7528F68EAA}" type="presParOf" srcId="{0A6BFE1D-2BBA-5541-9A30-8DC9CC900B0F}" destId="{FA86BB9B-8983-7B4E-990A-BD0F0F1D9918}" srcOrd="2" destOrd="0" presId="urn:microsoft.com/office/officeart/2005/8/layout/hProcess11"/>
    <dgm:cxn modelId="{260949CD-B11A-9D40-A1A4-E285357C65F1}" type="presParOf" srcId="{955186E2-9D83-B140-8CDD-621A02E69F80}" destId="{AA4FA33A-690A-9746-8DE3-CDA566AD4A47}" srcOrd="7" destOrd="0" presId="urn:microsoft.com/office/officeart/2005/8/layout/hProcess11"/>
    <dgm:cxn modelId="{1AE28247-5153-4343-839E-7B8955AC377B}" type="presParOf" srcId="{955186E2-9D83-B140-8CDD-621A02E69F80}" destId="{82CF00FB-765C-7F46-BD4F-80CFFC0544BF}" srcOrd="8" destOrd="0" presId="urn:microsoft.com/office/officeart/2005/8/layout/hProcess11"/>
    <dgm:cxn modelId="{B7203C40-ABDE-0D4C-96E0-CE28B9A5F3D7}" type="presParOf" srcId="{82CF00FB-765C-7F46-BD4F-80CFFC0544BF}" destId="{4EF845F6-6E98-F149-8781-8D5A8238CAC1}" srcOrd="0" destOrd="0" presId="urn:microsoft.com/office/officeart/2005/8/layout/hProcess11"/>
    <dgm:cxn modelId="{938AA591-E2AC-8A47-B687-8EC506999AB1}" type="presParOf" srcId="{82CF00FB-765C-7F46-BD4F-80CFFC0544BF}" destId="{EE65EC71-1E44-FE4E-80B3-B4C30B2129A1}" srcOrd="1" destOrd="0" presId="urn:microsoft.com/office/officeart/2005/8/layout/hProcess11"/>
    <dgm:cxn modelId="{4A7DCEB0-D838-C946-B582-FA1A1121E205}" type="presParOf" srcId="{82CF00FB-765C-7F46-BD4F-80CFFC0544BF}" destId="{9EE5733D-132B-9847-8D11-8D43F867DB1E}" srcOrd="2" destOrd="0" presId="urn:microsoft.com/office/officeart/2005/8/layout/hProcess11"/>
    <dgm:cxn modelId="{2F607CD2-7A9A-6041-86C6-4BF0F708030B}" type="presParOf" srcId="{955186E2-9D83-B140-8CDD-621A02E69F80}" destId="{61378CC7-44C5-7140-B324-08245E824BF9}" srcOrd="9" destOrd="0" presId="urn:microsoft.com/office/officeart/2005/8/layout/hProcess11"/>
    <dgm:cxn modelId="{69F80D51-A0E7-EB4A-B750-085D0892DC4D}" type="presParOf" srcId="{955186E2-9D83-B140-8CDD-621A02E69F80}" destId="{19D101D8-C7B2-0C4E-BB19-C07883037C78}" srcOrd="10" destOrd="0" presId="urn:microsoft.com/office/officeart/2005/8/layout/hProcess11"/>
    <dgm:cxn modelId="{38E1537C-9ABF-D540-9B87-AAF05E0F97A2}" type="presParOf" srcId="{19D101D8-C7B2-0C4E-BB19-C07883037C78}" destId="{E7111321-894D-0044-8740-E0F143F83901}" srcOrd="0" destOrd="0" presId="urn:microsoft.com/office/officeart/2005/8/layout/hProcess11"/>
    <dgm:cxn modelId="{E41622A0-386B-8449-ABCF-874EC807D011}" type="presParOf" srcId="{19D101D8-C7B2-0C4E-BB19-C07883037C78}" destId="{2B8F14C7-46DC-4D42-A393-1A2182EA53A0}" srcOrd="1" destOrd="0" presId="urn:microsoft.com/office/officeart/2005/8/layout/hProcess11"/>
    <dgm:cxn modelId="{DCC407D7-AF8B-E849-AB8E-16F263A2B3B8}" type="presParOf" srcId="{19D101D8-C7B2-0C4E-BB19-C07883037C78}" destId="{5E9D5F40-4EB2-FD48-A964-C04A20F6147F}" srcOrd="2" destOrd="0" presId="urn:microsoft.com/office/officeart/2005/8/layout/hProcess11"/>
    <dgm:cxn modelId="{349D7317-02FC-8245-A633-035B7AC66B62}" type="presParOf" srcId="{955186E2-9D83-B140-8CDD-621A02E69F80}" destId="{1D7DE763-3BE0-9841-9BE6-B6954F6B38CF}" srcOrd="11" destOrd="0" presId="urn:microsoft.com/office/officeart/2005/8/layout/hProcess11"/>
    <dgm:cxn modelId="{56D86124-FA6A-B84A-A580-AFD1E516B45D}" type="presParOf" srcId="{955186E2-9D83-B140-8CDD-621A02E69F80}" destId="{D026E069-530B-AD44-91A7-1B97D42C665B}" srcOrd="12" destOrd="0" presId="urn:microsoft.com/office/officeart/2005/8/layout/hProcess11"/>
    <dgm:cxn modelId="{CA62936E-49C7-9146-BD81-7608E81D7DCE}" type="presParOf" srcId="{D026E069-530B-AD44-91A7-1B97D42C665B}" destId="{C207620A-ABAB-734A-AB08-99F8EB69C000}" srcOrd="0" destOrd="0" presId="urn:microsoft.com/office/officeart/2005/8/layout/hProcess11"/>
    <dgm:cxn modelId="{88205711-F6B2-8E49-9F18-E7CB86E4147D}" type="presParOf" srcId="{D026E069-530B-AD44-91A7-1B97D42C665B}" destId="{E28CC7F4-9BC9-014B-8C9D-F70F728F7BBF}" srcOrd="1" destOrd="0" presId="urn:microsoft.com/office/officeart/2005/8/layout/hProcess11"/>
    <dgm:cxn modelId="{51FA6A69-C398-2641-A0CF-73F60C230CFE}" type="presParOf" srcId="{D026E069-530B-AD44-91A7-1B97D42C665B}" destId="{2F7B57D4-E744-8047-A2B6-5236EB93E53E}" srcOrd="2" destOrd="0" presId="urn:microsoft.com/office/officeart/2005/8/layout/hProcess11"/>
    <dgm:cxn modelId="{B1AE8F5E-6096-7243-8EEB-69C5B70826F6}" type="presParOf" srcId="{955186E2-9D83-B140-8CDD-621A02E69F80}" destId="{983EE12A-592E-C64F-856E-90B54B15C111}" srcOrd="13" destOrd="0" presId="urn:microsoft.com/office/officeart/2005/8/layout/hProcess11"/>
    <dgm:cxn modelId="{4A577871-0E9D-974F-AD96-717D66020EEA}" type="presParOf" srcId="{955186E2-9D83-B140-8CDD-621A02E69F80}" destId="{B43B0074-693C-FA44-AC50-583213D8DAC8}" srcOrd="14" destOrd="0" presId="urn:microsoft.com/office/officeart/2005/8/layout/hProcess11"/>
    <dgm:cxn modelId="{11ACF405-0AC7-1B47-B81F-DE5C6504D572}" type="presParOf" srcId="{B43B0074-693C-FA44-AC50-583213D8DAC8}" destId="{109B7653-F8B7-8345-9F7D-B163D7AA3D5C}" srcOrd="0" destOrd="0" presId="urn:microsoft.com/office/officeart/2005/8/layout/hProcess11"/>
    <dgm:cxn modelId="{263EA594-1E88-EC4F-A58C-28CB2F5C5302}" type="presParOf" srcId="{B43B0074-693C-FA44-AC50-583213D8DAC8}" destId="{05CEC904-B001-7F4C-9DF8-9E81068767DD}" srcOrd="1" destOrd="0" presId="urn:microsoft.com/office/officeart/2005/8/layout/hProcess11"/>
    <dgm:cxn modelId="{103C8010-D856-DE4C-94A4-2FE9862850A2}" type="presParOf" srcId="{B43B0074-693C-FA44-AC50-583213D8DAC8}" destId="{5E2EA3AB-7EFD-F449-B9E7-A9A15E166139}" srcOrd="2" destOrd="0" presId="urn:microsoft.com/office/officeart/2005/8/layout/hProcess11"/>
    <dgm:cxn modelId="{FD074795-BD56-1841-BF21-D5FB442B07F4}" type="presParOf" srcId="{955186E2-9D83-B140-8CDD-621A02E69F80}" destId="{D6EBF7E1-2420-4145-BFCD-E7F3D1C41FE4}" srcOrd="15" destOrd="0" presId="urn:microsoft.com/office/officeart/2005/8/layout/hProcess11"/>
    <dgm:cxn modelId="{C5B03924-76C8-944D-82D6-2668F8497853}" type="presParOf" srcId="{955186E2-9D83-B140-8CDD-621A02E69F80}" destId="{494BF7C1-0F9E-8140-9FA8-10DAA7A56694}" srcOrd="16" destOrd="0" presId="urn:microsoft.com/office/officeart/2005/8/layout/hProcess11"/>
    <dgm:cxn modelId="{CD004649-AD84-394D-80FC-D4550DDDDA74}" type="presParOf" srcId="{494BF7C1-0F9E-8140-9FA8-10DAA7A56694}" destId="{83175686-7314-A24C-A6E0-6072AE60763F}" srcOrd="0" destOrd="0" presId="urn:microsoft.com/office/officeart/2005/8/layout/hProcess11"/>
    <dgm:cxn modelId="{F349761E-A1D7-5943-9CD5-9A8F77A31F3C}" type="presParOf" srcId="{494BF7C1-0F9E-8140-9FA8-10DAA7A56694}" destId="{55421A8C-FDF2-FF48-B265-A88DA5EA5F5B}" srcOrd="1" destOrd="0" presId="urn:microsoft.com/office/officeart/2005/8/layout/hProcess11"/>
    <dgm:cxn modelId="{9E7C6099-7E38-EB44-8A51-454DAAF833AD}" type="presParOf" srcId="{494BF7C1-0F9E-8140-9FA8-10DAA7A56694}" destId="{0692D1A4-74D2-F949-8DD8-EE9B533EE7C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056C0F-9AA6-7340-AC1C-0C6B18C9C0BD}">
      <dsp:nvSpPr>
        <dsp:cNvPr id="0" name=""/>
        <dsp:cNvSpPr/>
      </dsp:nvSpPr>
      <dsp:spPr>
        <a:xfrm>
          <a:off x="0" y="1200150"/>
          <a:ext cx="10515600" cy="160020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35833C-0737-3741-971E-283E2422A97F}">
      <dsp:nvSpPr>
        <dsp:cNvPr id="0" name=""/>
        <dsp:cNvSpPr/>
      </dsp:nvSpPr>
      <dsp:spPr>
        <a:xfrm>
          <a:off x="2657" y="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noProof="0"/>
            <a:t>2005</a:t>
          </a:r>
        </a:p>
        <a:p>
          <a:pPr marL="0" lvl="0" indent="0" algn="ctr" defTabSz="444500">
            <a:lnSpc>
              <a:spcPct val="90000"/>
            </a:lnSpc>
            <a:spcBef>
              <a:spcPct val="0"/>
            </a:spcBef>
            <a:spcAft>
              <a:spcPct val="35000"/>
            </a:spcAft>
            <a:buNone/>
          </a:pPr>
          <a:r>
            <a:rPr lang="en-US" sz="1000" kern="1200" noProof="0"/>
            <a:t>Puppet</a:t>
          </a:r>
        </a:p>
      </dsp:txBody>
      <dsp:txXfrm>
        <a:off x="2657" y="0"/>
        <a:ext cx="1006247" cy="1600200"/>
      </dsp:txXfrm>
    </dsp:sp>
    <dsp:sp modelId="{9A51F1C1-97EC-2942-96FB-6FB0D56EEEA7}">
      <dsp:nvSpPr>
        <dsp:cNvPr id="0" name=""/>
        <dsp:cNvSpPr/>
      </dsp:nvSpPr>
      <dsp:spPr>
        <a:xfrm>
          <a:off x="305755"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731686-DDCC-5648-A27B-48E3E5F07F90}">
      <dsp:nvSpPr>
        <dsp:cNvPr id="0" name=""/>
        <dsp:cNvSpPr/>
      </dsp:nvSpPr>
      <dsp:spPr>
        <a:xfrm>
          <a:off x="1059216" y="240030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noProof="0"/>
            <a:t>2009</a:t>
          </a:r>
        </a:p>
        <a:p>
          <a:pPr marL="0" lvl="0" indent="0" algn="ctr" defTabSz="444500">
            <a:lnSpc>
              <a:spcPct val="90000"/>
            </a:lnSpc>
            <a:spcBef>
              <a:spcPct val="0"/>
            </a:spcBef>
            <a:spcAft>
              <a:spcPct val="35000"/>
            </a:spcAft>
            <a:buNone/>
          </a:pPr>
          <a:r>
            <a:rPr lang="en-US" sz="1000" kern="1200" noProof="0"/>
            <a:t>Chef</a:t>
          </a:r>
        </a:p>
      </dsp:txBody>
      <dsp:txXfrm>
        <a:off x="1059216" y="2400300"/>
        <a:ext cx="1006247" cy="1600200"/>
      </dsp:txXfrm>
    </dsp:sp>
    <dsp:sp modelId="{5F86FDD6-7B19-9D4F-819E-1EB1ECC0EBF9}">
      <dsp:nvSpPr>
        <dsp:cNvPr id="0" name=""/>
        <dsp:cNvSpPr/>
      </dsp:nvSpPr>
      <dsp:spPr>
        <a:xfrm>
          <a:off x="1362315"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591695-B66B-7E4F-962D-A4A36A22A6D4}">
      <dsp:nvSpPr>
        <dsp:cNvPr id="0" name=""/>
        <dsp:cNvSpPr/>
      </dsp:nvSpPr>
      <dsp:spPr>
        <a:xfrm>
          <a:off x="2115776" y="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noProof="0"/>
            <a:t>2011</a:t>
          </a:r>
        </a:p>
        <a:p>
          <a:pPr marL="0" lvl="0" indent="0" algn="ctr" defTabSz="444500">
            <a:lnSpc>
              <a:spcPct val="90000"/>
            </a:lnSpc>
            <a:spcBef>
              <a:spcPct val="0"/>
            </a:spcBef>
            <a:spcAft>
              <a:spcPct val="35000"/>
            </a:spcAft>
            <a:buNone/>
          </a:pPr>
          <a:r>
            <a:rPr lang="en-US" sz="1000" kern="1200" noProof="0"/>
            <a:t>AWS CloudFormation</a:t>
          </a:r>
        </a:p>
      </dsp:txBody>
      <dsp:txXfrm>
        <a:off x="2115776" y="0"/>
        <a:ext cx="1006247" cy="1600200"/>
      </dsp:txXfrm>
    </dsp:sp>
    <dsp:sp modelId="{969C9E44-453D-D044-BE47-71DC412F20CB}">
      <dsp:nvSpPr>
        <dsp:cNvPr id="0" name=""/>
        <dsp:cNvSpPr/>
      </dsp:nvSpPr>
      <dsp:spPr>
        <a:xfrm>
          <a:off x="2418875"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90D13C-5D73-1E4C-8DFA-9856A319B294}">
      <dsp:nvSpPr>
        <dsp:cNvPr id="0" name=""/>
        <dsp:cNvSpPr/>
      </dsp:nvSpPr>
      <dsp:spPr>
        <a:xfrm>
          <a:off x="3172336" y="240030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noProof="0"/>
            <a:t>2012</a:t>
          </a:r>
        </a:p>
        <a:p>
          <a:pPr marL="0" lvl="0" indent="0" algn="ctr" defTabSz="444500">
            <a:lnSpc>
              <a:spcPct val="90000"/>
            </a:lnSpc>
            <a:spcBef>
              <a:spcPct val="0"/>
            </a:spcBef>
            <a:spcAft>
              <a:spcPct val="35000"/>
            </a:spcAft>
            <a:buNone/>
          </a:pPr>
          <a:r>
            <a:rPr lang="en-US" sz="1000" kern="1200" noProof="0"/>
            <a:t>Ansible</a:t>
          </a:r>
        </a:p>
      </dsp:txBody>
      <dsp:txXfrm>
        <a:off x="3172336" y="2400300"/>
        <a:ext cx="1006247" cy="1600200"/>
      </dsp:txXfrm>
    </dsp:sp>
    <dsp:sp modelId="{6C9CBE4E-3956-6F49-8F89-E1E93D2C0581}">
      <dsp:nvSpPr>
        <dsp:cNvPr id="0" name=""/>
        <dsp:cNvSpPr/>
      </dsp:nvSpPr>
      <dsp:spPr>
        <a:xfrm>
          <a:off x="3475435"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F845F6-6E98-F149-8781-8D5A8238CAC1}">
      <dsp:nvSpPr>
        <dsp:cNvPr id="0" name=""/>
        <dsp:cNvSpPr/>
      </dsp:nvSpPr>
      <dsp:spPr>
        <a:xfrm>
          <a:off x="4228896" y="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noProof="0"/>
            <a:t>2013</a:t>
          </a:r>
        </a:p>
        <a:p>
          <a:pPr marL="0" lvl="0" indent="0" algn="ctr" defTabSz="444500">
            <a:lnSpc>
              <a:spcPct val="90000"/>
            </a:lnSpc>
            <a:spcBef>
              <a:spcPct val="0"/>
            </a:spcBef>
            <a:spcAft>
              <a:spcPct val="35000"/>
            </a:spcAft>
            <a:buNone/>
          </a:pPr>
          <a:r>
            <a:rPr lang="en-US" sz="1000" kern="1200" noProof="0"/>
            <a:t>Docker compose</a:t>
          </a:r>
        </a:p>
      </dsp:txBody>
      <dsp:txXfrm>
        <a:off x="4228896" y="0"/>
        <a:ext cx="1006247" cy="1600200"/>
      </dsp:txXfrm>
    </dsp:sp>
    <dsp:sp modelId="{EE65EC71-1E44-FE4E-80B3-B4C30B2129A1}">
      <dsp:nvSpPr>
        <dsp:cNvPr id="0" name=""/>
        <dsp:cNvSpPr/>
      </dsp:nvSpPr>
      <dsp:spPr>
        <a:xfrm>
          <a:off x="4531995"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111321-894D-0044-8740-E0F143F83901}">
      <dsp:nvSpPr>
        <dsp:cNvPr id="0" name=""/>
        <dsp:cNvSpPr/>
      </dsp:nvSpPr>
      <dsp:spPr>
        <a:xfrm>
          <a:off x="5285456" y="240030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noProof="0"/>
            <a:t>2014</a:t>
          </a:r>
        </a:p>
        <a:p>
          <a:pPr marL="0" lvl="0" indent="0" algn="ctr" defTabSz="444500">
            <a:lnSpc>
              <a:spcPct val="90000"/>
            </a:lnSpc>
            <a:spcBef>
              <a:spcPct val="0"/>
            </a:spcBef>
            <a:spcAft>
              <a:spcPct val="35000"/>
            </a:spcAft>
            <a:buNone/>
          </a:pPr>
          <a:r>
            <a:rPr lang="en-US" sz="1000" kern="1200" noProof="0"/>
            <a:t>Terraform</a:t>
          </a:r>
        </a:p>
        <a:p>
          <a:pPr marL="0" lvl="0" indent="0" algn="ctr" defTabSz="444500">
            <a:lnSpc>
              <a:spcPct val="90000"/>
            </a:lnSpc>
            <a:spcBef>
              <a:spcPct val="0"/>
            </a:spcBef>
            <a:spcAft>
              <a:spcPct val="35000"/>
            </a:spcAft>
            <a:buNone/>
          </a:pPr>
          <a:r>
            <a:rPr lang="en-US" sz="1000" kern="1200" noProof="0"/>
            <a:t>Kubernetes</a:t>
          </a:r>
        </a:p>
        <a:p>
          <a:pPr marL="0" lvl="0" indent="0" algn="ctr" defTabSz="444500">
            <a:lnSpc>
              <a:spcPct val="90000"/>
            </a:lnSpc>
            <a:spcBef>
              <a:spcPct val="0"/>
            </a:spcBef>
            <a:spcAft>
              <a:spcPct val="35000"/>
            </a:spcAft>
            <a:buNone/>
          </a:pPr>
          <a:r>
            <a:rPr lang="en-US" sz="1000" kern="1200" noProof="0"/>
            <a:t>Google Deploy Manager</a:t>
          </a:r>
        </a:p>
        <a:p>
          <a:pPr marL="0" lvl="0" indent="0" algn="ctr" defTabSz="444500">
            <a:lnSpc>
              <a:spcPct val="90000"/>
            </a:lnSpc>
            <a:spcBef>
              <a:spcPct val="0"/>
            </a:spcBef>
            <a:spcAft>
              <a:spcPct val="35000"/>
            </a:spcAft>
            <a:buNone/>
          </a:pPr>
          <a:r>
            <a:rPr lang="en-US" sz="1000" kern="1200" noProof="0"/>
            <a:t>Azure Resource Manager</a:t>
          </a:r>
        </a:p>
      </dsp:txBody>
      <dsp:txXfrm>
        <a:off x="5285456" y="2400300"/>
        <a:ext cx="1006247" cy="1600200"/>
      </dsp:txXfrm>
    </dsp:sp>
    <dsp:sp modelId="{2B8F14C7-46DC-4D42-A393-1A2182EA53A0}">
      <dsp:nvSpPr>
        <dsp:cNvPr id="0" name=""/>
        <dsp:cNvSpPr/>
      </dsp:nvSpPr>
      <dsp:spPr>
        <a:xfrm>
          <a:off x="5588554"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07620A-ABAB-734A-AB08-99F8EB69C000}">
      <dsp:nvSpPr>
        <dsp:cNvPr id="0" name=""/>
        <dsp:cNvSpPr/>
      </dsp:nvSpPr>
      <dsp:spPr>
        <a:xfrm>
          <a:off x="6342015" y="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noProof="0"/>
            <a:t>2015</a:t>
          </a:r>
        </a:p>
        <a:p>
          <a:pPr marL="0" lvl="0" indent="0" algn="ctr" defTabSz="444500">
            <a:lnSpc>
              <a:spcPct val="90000"/>
            </a:lnSpc>
            <a:spcBef>
              <a:spcPct val="0"/>
            </a:spcBef>
            <a:spcAft>
              <a:spcPct val="35000"/>
            </a:spcAft>
            <a:buNone/>
          </a:pPr>
          <a:r>
            <a:rPr lang="en-US" sz="1000" kern="1200" noProof="0"/>
            <a:t>Serverless Framework</a:t>
          </a:r>
        </a:p>
      </dsp:txBody>
      <dsp:txXfrm>
        <a:off x="6342015" y="0"/>
        <a:ext cx="1006247" cy="1600200"/>
      </dsp:txXfrm>
    </dsp:sp>
    <dsp:sp modelId="{E28CC7F4-9BC9-014B-8C9D-F70F728F7BBF}">
      <dsp:nvSpPr>
        <dsp:cNvPr id="0" name=""/>
        <dsp:cNvSpPr/>
      </dsp:nvSpPr>
      <dsp:spPr>
        <a:xfrm>
          <a:off x="6645114"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9B7653-F8B7-8345-9F7D-B163D7AA3D5C}">
      <dsp:nvSpPr>
        <dsp:cNvPr id="0" name=""/>
        <dsp:cNvSpPr/>
      </dsp:nvSpPr>
      <dsp:spPr>
        <a:xfrm>
          <a:off x="7398575" y="240030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en-US" sz="1000" b="1" kern="1200" noProof="0"/>
            <a:t>2017</a:t>
          </a:r>
        </a:p>
        <a:p>
          <a:pPr marL="0" lvl="0" indent="0" algn="ctr" defTabSz="444500">
            <a:lnSpc>
              <a:spcPct val="90000"/>
            </a:lnSpc>
            <a:spcBef>
              <a:spcPct val="0"/>
            </a:spcBef>
            <a:spcAft>
              <a:spcPct val="35000"/>
            </a:spcAft>
            <a:buNone/>
          </a:pPr>
          <a:r>
            <a:rPr lang="en-US" sz="1000" kern="1200" noProof="0" err="1"/>
            <a:t>Pulumi</a:t>
          </a:r>
          <a:endParaRPr lang="en-US" sz="1000" kern="1200" noProof="0"/>
        </a:p>
      </dsp:txBody>
      <dsp:txXfrm>
        <a:off x="7398575" y="2400300"/>
        <a:ext cx="1006247" cy="1600200"/>
      </dsp:txXfrm>
    </dsp:sp>
    <dsp:sp modelId="{05CEC904-B001-7F4C-9DF8-9E81068767DD}">
      <dsp:nvSpPr>
        <dsp:cNvPr id="0" name=""/>
        <dsp:cNvSpPr/>
      </dsp:nvSpPr>
      <dsp:spPr>
        <a:xfrm>
          <a:off x="7701674"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175686-7314-A24C-A6E0-6072AE60763F}">
      <dsp:nvSpPr>
        <dsp:cNvPr id="0" name=""/>
        <dsp:cNvSpPr/>
      </dsp:nvSpPr>
      <dsp:spPr>
        <a:xfrm>
          <a:off x="8455135" y="0"/>
          <a:ext cx="1006247" cy="160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b="1" kern="1200" noProof="0"/>
            <a:t>2018</a:t>
          </a:r>
        </a:p>
        <a:p>
          <a:pPr marL="0" lvl="0" indent="0" algn="ctr" defTabSz="444500">
            <a:lnSpc>
              <a:spcPct val="90000"/>
            </a:lnSpc>
            <a:spcBef>
              <a:spcPct val="0"/>
            </a:spcBef>
            <a:spcAft>
              <a:spcPct val="35000"/>
            </a:spcAft>
            <a:buNone/>
          </a:pPr>
          <a:r>
            <a:rPr lang="en-US" sz="1000" kern="1200" noProof="0"/>
            <a:t>AWS CDK</a:t>
          </a:r>
          <a:br>
            <a:rPr lang="en-US" sz="1000" kern="1200" noProof="0"/>
          </a:br>
          <a:r>
            <a:rPr lang="en-US" sz="1000" kern="1200" noProof="0"/>
            <a:t>Cloud Development Kit</a:t>
          </a:r>
        </a:p>
      </dsp:txBody>
      <dsp:txXfrm>
        <a:off x="8455135" y="0"/>
        <a:ext cx="1006247" cy="1600200"/>
      </dsp:txXfrm>
    </dsp:sp>
    <dsp:sp modelId="{55421A8C-FDF2-FF48-B265-A88DA5EA5F5B}">
      <dsp:nvSpPr>
        <dsp:cNvPr id="0" name=""/>
        <dsp:cNvSpPr/>
      </dsp:nvSpPr>
      <dsp:spPr>
        <a:xfrm>
          <a:off x="8758234" y="1800225"/>
          <a:ext cx="400050" cy="4000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38D5400-E1CE-1C83-BF7C-7B55DB4325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a:extLst>
              <a:ext uri="{FF2B5EF4-FFF2-40B4-BE49-F238E27FC236}">
                <a16:creationId xmlns:a16="http://schemas.microsoft.com/office/drawing/2014/main" id="{12B31B40-1CC3-46EB-1885-A70E659573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4D76D2-3D5A-B545-876F-500F08D76667}" type="datetimeFigureOut">
              <a:rPr lang="en-US" smtClean="0"/>
              <a:t>8/16/2026</a:t>
            </a:fld>
            <a:endParaRPr lang="en-US"/>
          </a:p>
        </p:txBody>
      </p:sp>
      <p:sp>
        <p:nvSpPr>
          <p:cNvPr id="4" name="Espace réservé du pied de page 3">
            <a:extLst>
              <a:ext uri="{FF2B5EF4-FFF2-40B4-BE49-F238E27FC236}">
                <a16:creationId xmlns:a16="http://schemas.microsoft.com/office/drawing/2014/main" id="{8B033435-32A5-F286-76A9-03BFC5E319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a:extLst>
              <a:ext uri="{FF2B5EF4-FFF2-40B4-BE49-F238E27FC236}">
                <a16:creationId xmlns:a16="http://schemas.microsoft.com/office/drawing/2014/main" id="{3E339D69-8652-4F8C-5737-99E871900D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EBDE7C-7A4B-4E45-AE6B-C8AD20886FA1}" type="slidenum">
              <a:rPr lang="en-US" smtClean="0"/>
              <a:t>‹#›</a:t>
            </a:fld>
            <a:endParaRPr lang="en-US"/>
          </a:p>
        </p:txBody>
      </p:sp>
    </p:spTree>
    <p:extLst>
      <p:ext uri="{BB962C8B-B14F-4D97-AF65-F5344CB8AC3E}">
        <p14:creationId xmlns:p14="http://schemas.microsoft.com/office/powerpoint/2010/main" val="27759528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44D0C-1CB1-E645-87B8-5887239B9ECD}" type="datetimeFigureOut">
              <a:rPr lang="fr-FR" smtClean="0"/>
              <a:t>16/08/2026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A1237-63C0-2149-90AD-33FFCF7C8578}" type="slidenum">
              <a:rPr lang="fr-FR" smtClean="0"/>
              <a:t>‹#›</a:t>
            </a:fld>
            <a:endParaRPr lang="fr-FR"/>
          </a:p>
        </p:txBody>
      </p:sp>
    </p:spTree>
    <p:extLst>
      <p:ext uri="{BB962C8B-B14F-4D97-AF65-F5344CB8AC3E}">
        <p14:creationId xmlns:p14="http://schemas.microsoft.com/office/powerpoint/2010/main" val="77776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a:t>
            </a:fld>
            <a:endParaRPr lang="fr-FR"/>
          </a:p>
        </p:txBody>
      </p:sp>
    </p:spTree>
    <p:extLst>
      <p:ext uri="{BB962C8B-B14F-4D97-AF65-F5344CB8AC3E}">
        <p14:creationId xmlns:p14="http://schemas.microsoft.com/office/powerpoint/2010/main" val="3377457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a:t>
            </a:fld>
            <a:endParaRPr lang="fr-FR"/>
          </a:p>
        </p:txBody>
      </p:sp>
    </p:spTree>
    <p:extLst>
      <p:ext uri="{BB962C8B-B14F-4D97-AF65-F5344CB8AC3E}">
        <p14:creationId xmlns:p14="http://schemas.microsoft.com/office/powerpoint/2010/main" val="281023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a:t>
            </a:fld>
            <a:endParaRPr lang="fr-FR"/>
          </a:p>
        </p:txBody>
      </p:sp>
    </p:spTree>
    <p:extLst>
      <p:ext uri="{BB962C8B-B14F-4D97-AF65-F5344CB8AC3E}">
        <p14:creationId xmlns:p14="http://schemas.microsoft.com/office/powerpoint/2010/main" val="3493556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a:t>
            </a:fld>
            <a:endParaRPr lang="fr-FR"/>
          </a:p>
        </p:txBody>
      </p:sp>
    </p:spTree>
    <p:extLst>
      <p:ext uri="{BB962C8B-B14F-4D97-AF65-F5344CB8AC3E}">
        <p14:creationId xmlns:p14="http://schemas.microsoft.com/office/powerpoint/2010/main" val="2039234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a:t>
            </a:fld>
            <a:endParaRPr lang="fr-FR"/>
          </a:p>
        </p:txBody>
      </p:sp>
    </p:spTree>
    <p:extLst>
      <p:ext uri="{BB962C8B-B14F-4D97-AF65-F5344CB8AC3E}">
        <p14:creationId xmlns:p14="http://schemas.microsoft.com/office/powerpoint/2010/main" val="4010611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C371-E290-D292-200B-DBFEC876F9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86BC3E-52D4-8325-70FD-983DF0D005D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06F2BEB-9B4C-EA5F-1808-142F0A89AF07}"/>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74A46048-2CA6-E63B-6F5A-D0F06846E5D3}"/>
              </a:ext>
            </a:extLst>
          </p:cNvPr>
          <p:cNvSpPr>
            <a:spLocks noGrp="1"/>
          </p:cNvSpPr>
          <p:nvPr>
            <p:ph type="sldNum" sz="quarter" idx="5"/>
          </p:nvPr>
        </p:nvSpPr>
        <p:spPr/>
        <p:txBody>
          <a:bodyPr/>
          <a:lstStyle/>
          <a:p>
            <a:fld id="{B89A1237-63C0-2149-90AD-33FFCF7C8578}" type="slidenum">
              <a:rPr lang="fr-FR" smtClean="0"/>
              <a:t>6</a:t>
            </a:fld>
            <a:endParaRPr lang="fr-FR"/>
          </a:p>
        </p:txBody>
      </p:sp>
    </p:spTree>
    <p:extLst>
      <p:ext uri="{BB962C8B-B14F-4D97-AF65-F5344CB8AC3E}">
        <p14:creationId xmlns:p14="http://schemas.microsoft.com/office/powerpoint/2010/main" val="2119268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a:t>
            </a:fld>
            <a:endParaRPr lang="fr-FR"/>
          </a:p>
        </p:txBody>
      </p:sp>
    </p:spTree>
    <p:extLst>
      <p:ext uri="{BB962C8B-B14F-4D97-AF65-F5344CB8AC3E}">
        <p14:creationId xmlns:p14="http://schemas.microsoft.com/office/powerpoint/2010/main" val="1511761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a:t>
            </a:fld>
            <a:endParaRPr lang="fr-FR"/>
          </a:p>
        </p:txBody>
      </p:sp>
    </p:spTree>
    <p:extLst>
      <p:ext uri="{BB962C8B-B14F-4D97-AF65-F5344CB8AC3E}">
        <p14:creationId xmlns:p14="http://schemas.microsoft.com/office/powerpoint/2010/main" val="2465776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9</a:t>
            </a:fld>
            <a:endParaRPr lang="fr-FR"/>
          </a:p>
        </p:txBody>
      </p:sp>
    </p:spTree>
    <p:extLst>
      <p:ext uri="{BB962C8B-B14F-4D97-AF65-F5344CB8AC3E}">
        <p14:creationId xmlns:p14="http://schemas.microsoft.com/office/powerpoint/2010/main" val="1051875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10</a:t>
            </a:fld>
            <a:endParaRPr lang="fr-FR"/>
          </a:p>
        </p:txBody>
      </p:sp>
    </p:spTree>
    <p:extLst>
      <p:ext uri="{BB962C8B-B14F-4D97-AF65-F5344CB8AC3E}">
        <p14:creationId xmlns:p14="http://schemas.microsoft.com/office/powerpoint/2010/main" val="2812345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11</a:t>
            </a:fld>
            <a:endParaRPr lang="fr-FR"/>
          </a:p>
        </p:txBody>
      </p:sp>
    </p:spTree>
    <p:extLst>
      <p:ext uri="{BB962C8B-B14F-4D97-AF65-F5344CB8AC3E}">
        <p14:creationId xmlns:p14="http://schemas.microsoft.com/office/powerpoint/2010/main" val="3270262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13</a:t>
            </a:fld>
            <a:endParaRPr lang="fr-FR"/>
          </a:p>
        </p:txBody>
      </p:sp>
    </p:spTree>
    <p:extLst>
      <p:ext uri="{BB962C8B-B14F-4D97-AF65-F5344CB8AC3E}">
        <p14:creationId xmlns:p14="http://schemas.microsoft.com/office/powerpoint/2010/main" val="2061111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14</a:t>
            </a:fld>
            <a:endParaRPr lang="fr-FR"/>
          </a:p>
        </p:txBody>
      </p:sp>
    </p:spTree>
    <p:extLst>
      <p:ext uri="{BB962C8B-B14F-4D97-AF65-F5344CB8AC3E}">
        <p14:creationId xmlns:p14="http://schemas.microsoft.com/office/powerpoint/2010/main" val="1380052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15</a:t>
            </a:fld>
            <a:endParaRPr lang="fr-FR"/>
          </a:p>
        </p:txBody>
      </p:sp>
    </p:spTree>
    <p:extLst>
      <p:ext uri="{BB962C8B-B14F-4D97-AF65-F5344CB8AC3E}">
        <p14:creationId xmlns:p14="http://schemas.microsoft.com/office/powerpoint/2010/main" val="1466260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16</a:t>
            </a:fld>
            <a:endParaRPr lang="fr-FR"/>
          </a:p>
        </p:txBody>
      </p:sp>
    </p:spTree>
    <p:extLst>
      <p:ext uri="{BB962C8B-B14F-4D97-AF65-F5344CB8AC3E}">
        <p14:creationId xmlns:p14="http://schemas.microsoft.com/office/powerpoint/2010/main" val="3091354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17</a:t>
            </a:fld>
            <a:endParaRPr lang="fr-FR"/>
          </a:p>
        </p:txBody>
      </p:sp>
    </p:spTree>
    <p:extLst>
      <p:ext uri="{BB962C8B-B14F-4D97-AF65-F5344CB8AC3E}">
        <p14:creationId xmlns:p14="http://schemas.microsoft.com/office/powerpoint/2010/main" val="2120614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18</a:t>
            </a:fld>
            <a:endParaRPr lang="fr-FR"/>
          </a:p>
        </p:txBody>
      </p:sp>
    </p:spTree>
    <p:extLst>
      <p:ext uri="{BB962C8B-B14F-4D97-AF65-F5344CB8AC3E}">
        <p14:creationId xmlns:p14="http://schemas.microsoft.com/office/powerpoint/2010/main" val="4207388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19</a:t>
            </a:fld>
            <a:endParaRPr lang="fr-FR"/>
          </a:p>
        </p:txBody>
      </p:sp>
    </p:spTree>
    <p:extLst>
      <p:ext uri="{BB962C8B-B14F-4D97-AF65-F5344CB8AC3E}">
        <p14:creationId xmlns:p14="http://schemas.microsoft.com/office/powerpoint/2010/main" val="1360397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20</a:t>
            </a:fld>
            <a:endParaRPr lang="fr-FR"/>
          </a:p>
        </p:txBody>
      </p:sp>
    </p:spTree>
    <p:extLst>
      <p:ext uri="{BB962C8B-B14F-4D97-AF65-F5344CB8AC3E}">
        <p14:creationId xmlns:p14="http://schemas.microsoft.com/office/powerpoint/2010/main" val="22234328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21</a:t>
            </a:fld>
            <a:endParaRPr lang="fr-FR"/>
          </a:p>
        </p:txBody>
      </p:sp>
    </p:spTree>
    <p:extLst>
      <p:ext uri="{BB962C8B-B14F-4D97-AF65-F5344CB8AC3E}">
        <p14:creationId xmlns:p14="http://schemas.microsoft.com/office/powerpoint/2010/main" val="1330866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22</a:t>
            </a:fld>
            <a:endParaRPr lang="fr-FR"/>
          </a:p>
        </p:txBody>
      </p:sp>
    </p:spTree>
    <p:extLst>
      <p:ext uri="{BB962C8B-B14F-4D97-AF65-F5344CB8AC3E}">
        <p14:creationId xmlns:p14="http://schemas.microsoft.com/office/powerpoint/2010/main" val="28500025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23</a:t>
            </a:fld>
            <a:endParaRPr lang="fr-FR"/>
          </a:p>
        </p:txBody>
      </p:sp>
    </p:spTree>
    <p:extLst>
      <p:ext uri="{BB962C8B-B14F-4D97-AF65-F5344CB8AC3E}">
        <p14:creationId xmlns:p14="http://schemas.microsoft.com/office/powerpoint/2010/main" val="31730026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24</a:t>
            </a:fld>
            <a:endParaRPr lang="fr-FR"/>
          </a:p>
        </p:txBody>
      </p:sp>
    </p:spTree>
    <p:extLst>
      <p:ext uri="{BB962C8B-B14F-4D97-AF65-F5344CB8AC3E}">
        <p14:creationId xmlns:p14="http://schemas.microsoft.com/office/powerpoint/2010/main" val="16949754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685800" y="4400550"/>
            <a:ext cx="5486400" cy="3600450"/>
          </a:xfrm>
        </p:spPr>
        <p:txBody>
          <a:bodyPr/>
          <a:lstStyle/>
          <a:p>
            <a:r>
              <a:rPr lang="en-US"/>
              <a:t>1. Manual and Error-Prone Configuration:</a:t>
            </a:r>
          </a:p>
          <a:p>
            <a:r>
              <a:rPr lang="en-US"/>
              <a:t>Traditional manual infrastructure provisioning methods often involve repetitive and error-prone tasks. Human errors can lead to misconfigurations, security vulnerabilities, and downtime.</a:t>
            </a:r>
          </a:p>
          <a:p>
            <a:br>
              <a:rPr lang="en-US"/>
            </a:br>
            <a:r>
              <a:rPr lang="en-US"/>
              <a:t>2. Deployment Speed and Agility:</a:t>
            </a:r>
          </a:p>
          <a:p>
            <a:r>
              <a:rPr lang="en-US"/>
              <a:t>Traditional methods often have slow infrastructure provisioning times. In a fast-paced business environment, delays in infrastructure deployment can hinder agility and competitiveness.</a:t>
            </a:r>
          </a:p>
          <a:p>
            <a:br>
              <a:rPr lang="en-US"/>
            </a:br>
            <a:r>
              <a:rPr lang="en-US"/>
              <a:t>3. Scaling Challenges:</a:t>
            </a:r>
          </a:p>
          <a:p>
            <a:r>
              <a:rPr lang="en-US"/>
              <a:t>Scaling infrastructure manually to handle increased traffic or workloads can be slow and reactive. </a:t>
            </a:r>
            <a:r>
              <a:rPr lang="en-US" err="1"/>
              <a:t>IaC</a:t>
            </a:r>
            <a:r>
              <a:rPr lang="en-US"/>
              <a:t> enables automated scaling based on predefined criteria or thresholds.</a:t>
            </a:r>
          </a:p>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25</a:t>
            </a:fld>
            <a:endParaRPr lang="fr-FR"/>
          </a:p>
        </p:txBody>
      </p:sp>
    </p:spTree>
    <p:extLst>
      <p:ext uri="{BB962C8B-B14F-4D97-AF65-F5344CB8AC3E}">
        <p14:creationId xmlns:p14="http://schemas.microsoft.com/office/powerpoint/2010/main" val="3085891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685800" y="4400550"/>
            <a:ext cx="5486400" cy="3600450"/>
          </a:xfrm>
        </p:spPr>
        <p:txBody>
          <a:bodyPr/>
          <a:lstStyle/>
          <a:p>
            <a:r>
              <a:rPr lang="en-US"/>
              <a:t>1. Inconsistency Across Environments</a:t>
            </a:r>
            <a:br>
              <a:rPr lang="en-US"/>
            </a:br>
            <a:r>
              <a:rPr lang="en-US"/>
              <a:t>Manually configuring servers and infrastructure for different environments (e.g., development, staging, production) can result in configuration inconsistencies. What works in one environment may not work in another, causing deployment issues.</a:t>
            </a:r>
          </a:p>
          <a:p>
            <a:br>
              <a:rPr lang="en-US"/>
            </a:br>
            <a:r>
              <a:rPr lang="en-US"/>
              <a:t>2. Version Control and Change Management</a:t>
            </a:r>
          </a:p>
          <a:p>
            <a:r>
              <a:rPr lang="en-US"/>
              <a:t>Keeping track of infrastructure changes and configurations in a version-controlled manner is difficult with manual processes. </a:t>
            </a:r>
            <a:r>
              <a:rPr lang="en-US" err="1"/>
              <a:t>IaC</a:t>
            </a:r>
            <a:r>
              <a:rPr lang="en-US"/>
              <a:t> provides version control for infrastructure, enabling rollbacks and change tracking.</a:t>
            </a:r>
          </a:p>
          <a:p>
            <a:br>
              <a:rPr lang="en-US"/>
            </a:br>
            <a:r>
              <a:rPr lang="en-US"/>
              <a:t>3. Security and Compliance</a:t>
            </a:r>
          </a:p>
          <a:p>
            <a:r>
              <a:rPr lang="en-US"/>
              <a:t>Ensuring security and compliance across diverse infrastructure configurations can be challenging. </a:t>
            </a:r>
            <a:r>
              <a:rPr lang="en-US" err="1"/>
              <a:t>IaC</a:t>
            </a:r>
            <a:r>
              <a:rPr lang="en-US"/>
              <a:t> allows organizations to codify security policies and automate compliance checks.</a:t>
            </a:r>
          </a:p>
          <a:p>
            <a:br>
              <a:rPr lang="en-US"/>
            </a:br>
            <a:r>
              <a:rPr lang="en-US"/>
              <a:t>4. Disaster Recovery and Redundancy</a:t>
            </a:r>
          </a:p>
          <a:p>
            <a:r>
              <a:rPr lang="en-US"/>
              <a:t>Implementing disaster recovery and redundancy manually can be error-prone and complex. </a:t>
            </a:r>
            <a:r>
              <a:rPr lang="en-US" err="1"/>
              <a:t>IaC</a:t>
            </a:r>
            <a:r>
              <a:rPr lang="en-US"/>
              <a:t> can automate the setup of failover mechanisms and disaster recovery procedures.</a:t>
            </a:r>
          </a:p>
          <a:p>
            <a:endParaRPr lang="en-US"/>
          </a:p>
          <a:p>
            <a:endParaRPr lang="en-US"/>
          </a:p>
          <a:p>
            <a:endParaRPr lang="en-US"/>
          </a:p>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26</a:t>
            </a:fld>
            <a:endParaRPr lang="fr-FR"/>
          </a:p>
        </p:txBody>
      </p:sp>
    </p:spTree>
    <p:extLst>
      <p:ext uri="{BB962C8B-B14F-4D97-AF65-F5344CB8AC3E}">
        <p14:creationId xmlns:p14="http://schemas.microsoft.com/office/powerpoint/2010/main" val="4094968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vert="horz" lIns="91440" tIns="45720" rIns="91440" bIns="45720" rtlCol="0"/>
          <a:lstStyle/>
          <a:p>
            <a:r>
              <a:rPr lang="en-US"/>
              <a:t>1. Resource Underutilization</a:t>
            </a:r>
          </a:p>
          <a:p>
            <a:r>
              <a:rPr lang="en-US"/>
              <a:t>Without automated scaling and resource optimization, organizations may overprovision or underutilize resources, leading to increased costs and inefficiencies.</a:t>
            </a:r>
          </a:p>
          <a:p>
            <a:endParaRPr lang="en-US"/>
          </a:p>
          <a:p>
            <a:r>
              <a:rPr lang="en-US"/>
              <a:t>2. Resource Tagging and Cost Allocation</a:t>
            </a:r>
          </a:p>
          <a:p>
            <a:r>
              <a:rPr lang="en-US"/>
              <a:t>Properly tagging resources and allocating costs to different teams or projects can be cumbersome without automation. IaC tools can enforce tagging and cost allocation policies.</a:t>
            </a:r>
          </a:p>
          <a:p>
            <a:endParaRPr lang="en-US"/>
          </a:p>
          <a:p>
            <a:r>
              <a:rPr lang="en-US"/>
              <a:t>3. Vendor Lock-In</a:t>
            </a:r>
          </a:p>
          <a:p>
            <a:r>
              <a:rPr lang="en-US"/>
              <a:t>Vendor-specific configurations can lead to vendor lock-in, making it difficult to migrate to a different cloud provider or infrastructure platform. IaC promotes portability by abstracting infrastructure configurations.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27</a:t>
            </a:fld>
            <a:endParaRPr lang="fr-FR"/>
          </a:p>
        </p:txBody>
      </p:sp>
    </p:spTree>
    <p:extLst>
      <p:ext uri="{BB962C8B-B14F-4D97-AF65-F5344CB8AC3E}">
        <p14:creationId xmlns:p14="http://schemas.microsoft.com/office/powerpoint/2010/main" val="1760142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29</a:t>
            </a:fld>
            <a:endParaRPr lang="fr-FR"/>
          </a:p>
        </p:txBody>
      </p:sp>
    </p:spTree>
    <p:extLst>
      <p:ext uri="{BB962C8B-B14F-4D97-AF65-F5344CB8AC3E}">
        <p14:creationId xmlns:p14="http://schemas.microsoft.com/office/powerpoint/2010/main" val="16317417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1. Scalability: </a:t>
            </a:r>
            <a:r>
              <a:rPr lang="en-US" err="1"/>
              <a:t>IaC</a:t>
            </a:r>
            <a:r>
              <a:rPr lang="en-US"/>
              <a:t> enables easy scaling of infrastructure resources up or down to meet changing demands. Automated scaling policies can be defined, ensuring resources are added or removed as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2. Automation: </a:t>
            </a:r>
            <a:r>
              <a:rPr lang="en-US" err="1"/>
              <a:t>IaC</a:t>
            </a:r>
            <a:r>
              <a:rPr lang="en-US"/>
              <a:t> allows for the automation of infrastructure provisioning and management tasks, reducing manual intervention and minimizing human errors. This leads to greater efficiency and consistency in operations.</a:t>
            </a:r>
          </a:p>
          <a:p>
            <a:endParaRPr lang="en-US"/>
          </a:p>
          <a:p>
            <a:r>
              <a:rPr lang="en-US"/>
              <a:t>3. Version Control: Infrastructure configurations are treated as code and can be stored in version control systems (e.g., Git). This provides a history of changes, facilitates collaboration, and allows for rollback to previous configurations when issues arise.</a:t>
            </a:r>
          </a:p>
          <a:p>
            <a:endParaRPr lang="en-US"/>
          </a:p>
          <a:p>
            <a:r>
              <a:rPr lang="en-US"/>
              <a:t>4. Reusability: Infrastructure configurations can be modularized and reused across different projects or environments, saving time and effort in defining similar resources repeatedly.</a:t>
            </a:r>
          </a:p>
          <a:p>
            <a:endParaRPr lang="en-US"/>
          </a:p>
          <a:p>
            <a:r>
              <a:rPr lang="en-US"/>
              <a:t>5. Consistency: </a:t>
            </a:r>
            <a:r>
              <a:rPr lang="en-US" err="1"/>
              <a:t>IaC</a:t>
            </a:r>
            <a:r>
              <a:rPr lang="en-US"/>
              <a:t> ensures that infrastructure configurations are consistent across different environments (e.g., development, staging, production), reducing configuration drift and minimizing deployment-related issues.</a:t>
            </a:r>
          </a:p>
          <a:p>
            <a:endParaRPr lang="en-US"/>
          </a:p>
          <a:p>
            <a:r>
              <a:rPr lang="en-US"/>
              <a:t>6. Predictability: The "plan and apply" workflow in </a:t>
            </a:r>
            <a:r>
              <a:rPr lang="en-US" err="1"/>
              <a:t>IaC</a:t>
            </a:r>
            <a:r>
              <a:rPr lang="en-US"/>
              <a:t> provides a clear view of changes to be made before they are applied. This helps predict the impact of changes on infrastructure.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30</a:t>
            </a:fld>
            <a:endParaRPr lang="fr-FR"/>
          </a:p>
        </p:txBody>
      </p:sp>
    </p:spTree>
    <p:extLst>
      <p:ext uri="{BB962C8B-B14F-4D97-AF65-F5344CB8AC3E}">
        <p14:creationId xmlns:p14="http://schemas.microsoft.com/office/powerpoint/2010/main" val="24197375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vert="horz" lIns="91440" tIns="45720" rIns="91440" bIns="45720" rtlCol="0"/>
          <a:lstStyle/>
          <a:p>
            <a:r>
              <a:rPr lang="en-US"/>
              <a:t>1. Learning Curve:</a:t>
            </a:r>
          </a:p>
          <a:p>
            <a:r>
              <a:rPr lang="en-US"/>
              <a:t>- Barrier Description: The learning curve refers to the challenge of team members adapting to new IaC tools and practices.</a:t>
            </a:r>
          </a:p>
          <a:p>
            <a:r>
              <a:rPr lang="en-US"/>
              <a:t>- Example: Imagine a development team that has been using manual server provisioning for years. Transitioning to IaC requires team members to learn new languages and tools like Terraform. Learning the syntax, concepts, and best practices can take time.</a:t>
            </a:r>
          </a:p>
          <a:p>
            <a:br>
              <a:rPr lang="en-US"/>
            </a:br>
            <a:r>
              <a:rPr lang="en-US"/>
              <a:t>2. Tooling Selection:</a:t>
            </a:r>
          </a:p>
          <a:p>
            <a:r>
              <a:rPr lang="en-US"/>
              <a:t>- Barrier Description: Selecting the right IaC tools and plugins/modules for a specific project or organization can be challenging.</a:t>
            </a:r>
          </a:p>
          <a:p>
            <a:r>
              <a:rPr lang="en-US"/>
              <a:t>- Example: An organization needs to choose between Terraform and AWS CloudFormation for managing its infrastructure. The decision depends on factors like team familiarity, project requirements, and future scalability. The wrong choice can lead to inefficiencies and additional learning curves.</a:t>
            </a:r>
          </a:p>
          <a:p>
            <a:br>
              <a:rPr lang="en-US"/>
            </a:br>
            <a:r>
              <a:rPr lang="en-US"/>
              <a:t>3. Team Organization:</a:t>
            </a:r>
          </a:p>
          <a:p>
            <a:r>
              <a:rPr lang="en-US"/>
              <a:t>- Barrier Description: Organizing the development team to effectively use IaC tools and practices may require restructuring.</a:t>
            </a:r>
          </a:p>
          <a:p>
            <a:r>
              <a:rPr lang="en-US"/>
              <a:t>- Example: In a traditional organization, development and operations teams work in silos. Transitioning to DevOps and IaC involves breaking down these silos and fostering collaboration. Team roles and responsibilities may need to be redefined to align with DevOps principles.</a:t>
            </a:r>
          </a:p>
          <a:p>
            <a:br>
              <a:rPr lang="en-US"/>
            </a:br>
            <a:r>
              <a:rPr lang="en-US"/>
              <a:t>4. Cultural Shift:</a:t>
            </a:r>
          </a:p>
          <a:p>
            <a:r>
              <a:rPr lang="en-US"/>
              <a:t>- Barrier Description: Implementing IaC often requires a cultural shift within the organization, impacting mindset and practices.</a:t>
            </a:r>
          </a:p>
          <a:p>
            <a:r>
              <a:rPr lang="en-US"/>
              <a:t>- Example: In a company with a long history of manual deployments, convincing teams to embrace automation and IaC can be met with resistance. Employees may need to adapt to new ways of working, focusing on automation, collaboration, and continuous integration.</a:t>
            </a:r>
          </a:p>
          <a:p>
            <a:br>
              <a:rPr lang="en-US"/>
            </a:br>
            <a:r>
              <a:rPr lang="en-US"/>
              <a:t>5. Complexity of Setup:</a:t>
            </a:r>
          </a:p>
          <a:p>
            <a:r>
              <a:rPr lang="en-US"/>
              <a:t>- Barrier Description: Setting up the initial IaC infrastructure and configurations can be complex and time-consuming.</a:t>
            </a:r>
          </a:p>
          <a:p>
            <a:r>
              <a:rPr lang="en-US"/>
              <a:t>- Example: When transitioning to container orchestration with Kubernetes, configuring the cluster, networking, and security policies can be intricate. The complexity of initial setup can be daunting for teams new to Kubernetes.</a:t>
            </a:r>
          </a:p>
          <a:p>
            <a:br>
              <a:rPr lang="en-US"/>
            </a:br>
            <a:r>
              <a:rPr lang="en-US"/>
              <a:t>6. Legacy Migration:</a:t>
            </a:r>
          </a:p>
          <a:p>
            <a:r>
              <a:rPr lang="en-US"/>
              <a:t>- Barrier Description: Migrating existing, manually managed infrastructure to IaC can be challenging and require careful planning.</a:t>
            </a:r>
          </a:p>
          <a:p>
            <a:r>
              <a:rPr lang="en-US"/>
              <a:t>- Example: An organization wants to migrate its existing virtual machines running on on-premises servers to AWS using Terraform. Migrating and transforming these legacy systems into IaC can be a significant project with potential risks and disruptions.</a:t>
            </a:r>
          </a:p>
          <a:p>
            <a:br>
              <a:rPr lang="en-US"/>
            </a:br>
            <a:r>
              <a:rPr lang="en-US"/>
              <a:t>7. Resource Abstraction:</a:t>
            </a:r>
          </a:p>
          <a:p>
            <a:r>
              <a:rPr lang="en-US"/>
              <a:t>- Barrier Description: IaC often abstracts infrastructure resources, which can limit granular control for specific use cases.</a:t>
            </a:r>
          </a:p>
          <a:p>
            <a:r>
              <a:rPr lang="en-US"/>
              <a:t>- Example: When defining infrastructure with IaC, certain low-level details of cloud resources may be abstracted. For instance, AWS S3 bucket properties like physical storage locations are abstracted in IaC scripts. This abstraction may limit control over such details.</a:t>
            </a:r>
          </a:p>
          <a:p>
            <a:br>
              <a:rPr lang="en-US"/>
            </a:br>
            <a:r>
              <a:rPr lang="en-US"/>
              <a:t>8. Initial Time Investment:</a:t>
            </a:r>
          </a:p>
          <a:p>
            <a:r>
              <a:rPr lang="en-US"/>
              <a:t>- Barrier Description: Implementing IaC requires an initial investment of time and resources to set up the infrastructure.</a:t>
            </a:r>
          </a:p>
          <a:p>
            <a:r>
              <a:rPr lang="en-US"/>
              <a:t>- Example: A startup decides to adopt IaC from the beginning. However, the team needs to spend several weeks designing and implementing the IaC configurations for its AWS infrastructure before any application development can start.</a:t>
            </a:r>
          </a:p>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31</a:t>
            </a:fld>
            <a:endParaRPr lang="fr-FR"/>
          </a:p>
        </p:txBody>
      </p:sp>
    </p:spTree>
    <p:extLst>
      <p:ext uri="{BB962C8B-B14F-4D97-AF65-F5344CB8AC3E}">
        <p14:creationId xmlns:p14="http://schemas.microsoft.com/office/powerpoint/2010/main" val="923091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1. State Management:</a:t>
            </a:r>
          </a:p>
          <a:p>
            <a:r>
              <a:rPr lang="en-US"/>
              <a:t>   - Challenge Description: Properly managing the state of </a:t>
            </a:r>
            <a:r>
              <a:rPr lang="en-US" err="1"/>
              <a:t>IaC</a:t>
            </a:r>
            <a:r>
              <a:rPr lang="en-US"/>
              <a:t> deployments is essential to ensure consistency and avoid conflicts.</a:t>
            </a:r>
          </a:p>
          <a:p>
            <a:r>
              <a:rPr lang="en-US"/>
              <a:t>   - Example: Imagine an organization using Terraform. State management involves tracking the current state of the infrastructure. If two team members simultaneously apply changes, state conflicts can occur. Maintaining a clear and conflict-free state requires careful coordination and awareness.</a:t>
            </a:r>
          </a:p>
          <a:p>
            <a:endParaRPr lang="en-US"/>
          </a:p>
          <a:p>
            <a:r>
              <a:rPr lang="en-US"/>
              <a:t>2. CI/CD Added Complexity:</a:t>
            </a:r>
          </a:p>
          <a:p>
            <a:r>
              <a:rPr lang="en-US"/>
              <a:t>   - Challenge Description: Incorporating </a:t>
            </a:r>
            <a:r>
              <a:rPr lang="en-US" err="1"/>
              <a:t>IaC</a:t>
            </a:r>
            <a:r>
              <a:rPr lang="en-US"/>
              <a:t> into a Continuous Integration/Continuous Deployment (CI/CD) pipeline can introduce complexity.</a:t>
            </a:r>
          </a:p>
          <a:p>
            <a:r>
              <a:rPr lang="en-US"/>
              <a:t>   - Example: A development team wants to automate infrastructure provisioning using Jenkins and Terraform. Introducing Terraform scripts into the CI/CD pipeline requires scripting and pipeline configuration changes, adding complexity to the existing process.</a:t>
            </a:r>
          </a:p>
          <a:p>
            <a:endParaRPr lang="en-US"/>
          </a:p>
          <a:p>
            <a:r>
              <a:rPr lang="en-US"/>
              <a:t>3. Debugging Challenges:</a:t>
            </a:r>
          </a:p>
          <a:p>
            <a:r>
              <a:rPr lang="en-US"/>
              <a:t>   - Challenge Description: Debugging </a:t>
            </a:r>
            <a:r>
              <a:rPr lang="en-US" err="1"/>
              <a:t>IaC</a:t>
            </a:r>
            <a:r>
              <a:rPr lang="en-US"/>
              <a:t> code can be more challenging than traditional scripts, especially when dealing with complex configurations.</a:t>
            </a:r>
          </a:p>
          <a:p>
            <a:r>
              <a:rPr lang="en-US"/>
              <a:t>   - Example: During a Terraform deployment, an error occurs that prevents the creation of an AWS EC2 instance. Identifying the root cause, such as an incorrect security group rule, requires in-depth knowledge of Terraform and AWS interactions.</a:t>
            </a:r>
          </a:p>
          <a:p>
            <a:endParaRPr lang="en-US"/>
          </a:p>
          <a:p>
            <a:r>
              <a:rPr lang="en-US"/>
              <a:t>4. Lack of Manual Control, Risk of Drift:</a:t>
            </a:r>
          </a:p>
          <a:p>
            <a:r>
              <a:rPr lang="en-US"/>
              <a:t>   - Challenge Description: </a:t>
            </a:r>
            <a:r>
              <a:rPr lang="en-US" err="1"/>
              <a:t>IaC</a:t>
            </a:r>
            <a:r>
              <a:rPr lang="en-US"/>
              <a:t> enforces infrastructure consistency, limiting manual adjustments, but drift can still occur.</a:t>
            </a:r>
          </a:p>
          <a:p>
            <a:r>
              <a:rPr lang="en-US"/>
              <a:t>   - Example: Suppose an operations team is accustomed to manually tweaking server configurations in response to specific issues. Adopting </a:t>
            </a:r>
            <a:r>
              <a:rPr lang="en-US" err="1"/>
              <a:t>IaC</a:t>
            </a:r>
            <a:r>
              <a:rPr lang="en-US"/>
              <a:t> restricts manual changes. However, without proper monitoring, unauthorized manual adjustments can lead to drift from the desired state.</a:t>
            </a:r>
          </a:p>
          <a:p>
            <a:endParaRPr lang="en-US"/>
          </a:p>
          <a:p>
            <a:r>
              <a:rPr lang="en-US"/>
              <a:t>5. Resource Optimization:</a:t>
            </a:r>
          </a:p>
          <a:p>
            <a:r>
              <a:rPr lang="en-US"/>
              <a:t>   - Challenge Description: Ensuring efficient resource usage and cost optimization may require ongoing monitoring and adjustments.</a:t>
            </a:r>
          </a:p>
          <a:p>
            <a:r>
              <a:rPr lang="en-US"/>
              <a:t>   - Example: An organization using AWS </a:t>
            </a:r>
            <a:r>
              <a:rPr lang="en-US" err="1"/>
              <a:t>IaC</a:t>
            </a:r>
            <a:r>
              <a:rPr lang="en-US"/>
              <a:t> aims to optimize costs. To achieve this, it needs to continuously monitor resource utilization, identify underutilized resources, and modify configurations to reduce costs, which can be a regular effort.</a:t>
            </a:r>
          </a:p>
          <a:p>
            <a:endParaRPr lang="en-US"/>
          </a:p>
          <a:p>
            <a:r>
              <a:rPr lang="en-US"/>
              <a:t>6. Added Overhead Limiting Team Velocity:</a:t>
            </a:r>
          </a:p>
          <a:p>
            <a:r>
              <a:rPr lang="en-US"/>
              <a:t>   - Challenge Description: The introduction of </a:t>
            </a:r>
            <a:r>
              <a:rPr lang="en-US" err="1"/>
              <a:t>IaC</a:t>
            </a:r>
            <a:r>
              <a:rPr lang="en-US"/>
              <a:t> processes and practices can add overhead that limits the team's velocity.</a:t>
            </a:r>
          </a:p>
          <a:p>
            <a:r>
              <a:rPr lang="en-US"/>
              <a:t>   - Example: A software development team transitions to </a:t>
            </a:r>
            <a:r>
              <a:rPr lang="en-US" err="1"/>
              <a:t>IaC</a:t>
            </a:r>
            <a:r>
              <a:rPr lang="en-US"/>
              <a:t> for managing cloud infrastructure. This change introduces the need for infrastructure code reviews and testing, slowing down the development cycle initially.</a:t>
            </a:r>
          </a:p>
          <a:p>
            <a:endParaRPr lang="en-US"/>
          </a:p>
          <a:p>
            <a:r>
              <a:rPr lang="en-US"/>
              <a:t>7. New Process to Include in PR Reviews:</a:t>
            </a:r>
          </a:p>
          <a:p>
            <a:r>
              <a:rPr lang="en-US"/>
              <a:t>   - Challenge Description: Including </a:t>
            </a:r>
            <a:r>
              <a:rPr lang="en-US" err="1"/>
              <a:t>IaC</a:t>
            </a:r>
            <a:r>
              <a:rPr lang="en-US"/>
              <a:t> code in Pull Request (PR) reviews requires establishing new processes and criteria.</a:t>
            </a:r>
          </a:p>
          <a:p>
            <a:r>
              <a:rPr lang="en-US"/>
              <a:t>   - Example: In a DevOps-oriented organization, </a:t>
            </a:r>
            <a:r>
              <a:rPr lang="en-US" err="1"/>
              <a:t>IaC</a:t>
            </a:r>
            <a:r>
              <a:rPr lang="en-US"/>
              <a:t> code is subject to peer review. Team members must now review infrastructure code for compliance, security, and efficiency alongside application code during PR reviews.</a:t>
            </a:r>
          </a:p>
          <a:p>
            <a:endParaRPr lang="en-US"/>
          </a:p>
          <a:p>
            <a:r>
              <a:rPr lang="en-US"/>
              <a:t>8. Additional Technology Abstraction for New Recruits:</a:t>
            </a:r>
          </a:p>
          <a:p>
            <a:r>
              <a:rPr lang="en-US"/>
              <a:t>   - Challenge Description: New team members need to understand and adapt to </a:t>
            </a:r>
            <a:r>
              <a:rPr lang="en-US" err="1"/>
              <a:t>IaC</a:t>
            </a:r>
            <a:r>
              <a:rPr lang="en-US"/>
              <a:t> tools and abstractions.</a:t>
            </a:r>
          </a:p>
          <a:p>
            <a:r>
              <a:rPr lang="en-US"/>
              <a:t>   - Example: A company hires junior engineers who are unfamiliar with </a:t>
            </a:r>
            <a:r>
              <a:rPr lang="en-US" err="1"/>
              <a:t>IaC</a:t>
            </a:r>
            <a:r>
              <a:rPr lang="en-US"/>
              <a:t> concepts. These engineers must learn </a:t>
            </a:r>
            <a:r>
              <a:rPr lang="en-US" err="1"/>
              <a:t>IaC</a:t>
            </a:r>
            <a:r>
              <a:rPr lang="en-US"/>
              <a:t> languages like Terraform or Ansible, which represent additional technology layers they need to master as part of their onboarding.</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32</a:t>
            </a:fld>
            <a:endParaRPr lang="fr-FR"/>
          </a:p>
        </p:txBody>
      </p:sp>
    </p:spTree>
    <p:extLst>
      <p:ext uri="{BB962C8B-B14F-4D97-AF65-F5344CB8AC3E}">
        <p14:creationId xmlns:p14="http://schemas.microsoft.com/office/powerpoint/2010/main" val="4699503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1. Security Risks:</a:t>
            </a:r>
          </a:p>
          <a:p>
            <a:r>
              <a:rPr lang="en-US"/>
              <a:t>   - Challenge Description: Misconfigurations in </a:t>
            </a:r>
            <a:r>
              <a:rPr lang="en-US" err="1"/>
              <a:t>IaC</a:t>
            </a:r>
            <a:r>
              <a:rPr lang="en-US"/>
              <a:t> scripts can introduce security vulnerabilities and risks.</a:t>
            </a:r>
          </a:p>
          <a:p>
            <a:r>
              <a:rPr lang="en-US"/>
              <a:t>   - Example: An organization uses Terraform to provision cloud resources. In an </a:t>
            </a:r>
            <a:r>
              <a:rPr lang="en-US" err="1"/>
              <a:t>IaC</a:t>
            </a:r>
            <a:r>
              <a:rPr lang="en-US"/>
              <a:t> script, a developer mistakenly exposes a database server to the public internet due to a misconfigured security group. This misconfiguration exposes sensitive data to potential attackers.</a:t>
            </a:r>
          </a:p>
          <a:p>
            <a:endParaRPr lang="en-US"/>
          </a:p>
          <a:p>
            <a:r>
              <a:rPr lang="en-US"/>
              <a:t>2. Vendor Lock-In:</a:t>
            </a:r>
          </a:p>
          <a:p>
            <a:r>
              <a:rPr lang="en-US"/>
              <a:t>   - Challenge Description: Over-reliance on cloud-specific features or plugins/modules can result in vendor lock-in.</a:t>
            </a:r>
          </a:p>
          <a:p>
            <a:r>
              <a:rPr lang="en-US"/>
              <a:t>   - Example: A company heavily utilizes AWS-specific services and features in its </a:t>
            </a:r>
            <a:r>
              <a:rPr lang="en-US" err="1"/>
              <a:t>IaC</a:t>
            </a:r>
            <a:r>
              <a:rPr lang="en-US"/>
              <a:t> configurations. If it decides to migrate to a different cloud provider like Azure or Google Cloud, the codebase's tight coupling with AWS could make the migration complex and costly.</a:t>
            </a:r>
          </a:p>
          <a:p>
            <a:endParaRPr lang="en-US"/>
          </a:p>
          <a:p>
            <a:r>
              <a:rPr lang="en-US"/>
              <a:t>3. Cost Management:</a:t>
            </a:r>
          </a:p>
          <a:p>
            <a:r>
              <a:rPr lang="en-US"/>
              <a:t>   - Challenge Description: While </a:t>
            </a:r>
            <a:r>
              <a:rPr lang="en-US" err="1"/>
              <a:t>IaC</a:t>
            </a:r>
            <a:r>
              <a:rPr lang="en-US"/>
              <a:t> can optimize costs, misconfigurations or lack of cost-awareness can lead to increased cloud costs.</a:t>
            </a:r>
          </a:p>
          <a:p>
            <a:r>
              <a:rPr lang="en-US"/>
              <a:t>   - Example: An organization adopts </a:t>
            </a:r>
            <a:r>
              <a:rPr lang="en-US" err="1"/>
              <a:t>IaC</a:t>
            </a:r>
            <a:r>
              <a:rPr lang="en-US"/>
              <a:t> for its AWS infrastructure. However, team members provision resources with larger sizes than necessary, leading to over-provisioning and higher monthly bills. Without cost monitoring and optimization practices, the organization incurs unnecessary expenses.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33</a:t>
            </a:fld>
            <a:endParaRPr lang="fr-FR"/>
          </a:p>
        </p:txBody>
      </p:sp>
    </p:spTree>
    <p:extLst>
      <p:ext uri="{BB962C8B-B14F-4D97-AF65-F5344CB8AC3E}">
        <p14:creationId xmlns:p14="http://schemas.microsoft.com/office/powerpoint/2010/main" val="18073837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34</a:t>
            </a:fld>
            <a:endParaRPr lang="fr-FR"/>
          </a:p>
        </p:txBody>
      </p:sp>
    </p:spTree>
    <p:extLst>
      <p:ext uri="{BB962C8B-B14F-4D97-AF65-F5344CB8AC3E}">
        <p14:creationId xmlns:p14="http://schemas.microsoft.com/office/powerpoint/2010/main" val="1035511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1. Risk of Losing Velocity:</a:t>
            </a:r>
          </a:p>
          <a:p>
            <a:r>
              <a:rPr lang="en-US"/>
              <a:t>   - The Velocity Innovations team is small, consisting of just three software engineers who are fully dedicated to product development. They're in a race against time to deliver a Minimum Viable Product (MVP) and gather user feedback as quickly as possible. Adopting </a:t>
            </a:r>
            <a:r>
              <a:rPr lang="en-US" err="1"/>
              <a:t>IaC</a:t>
            </a:r>
            <a:r>
              <a:rPr lang="en-US"/>
              <a:t> tools and practices would require a significant investment in terms of time and effort to set up, learn, and integrate into their workflow. The team worries that this investment could slow down their development velocity and delay the MVP release.</a:t>
            </a:r>
          </a:p>
          <a:p>
            <a:endParaRPr lang="en-US"/>
          </a:p>
          <a:p>
            <a:r>
              <a:rPr lang="en-US"/>
              <a:t>2. Learning Curve:</a:t>
            </a:r>
          </a:p>
          <a:p>
            <a:r>
              <a:rPr lang="en-US"/>
              <a:t>   - None of the developers on the team have prior experience with </a:t>
            </a:r>
            <a:r>
              <a:rPr lang="en-US" err="1"/>
              <a:t>IaC</a:t>
            </a:r>
            <a:r>
              <a:rPr lang="en-US"/>
              <a:t> tools like Terraform or Ansible. They anticipate a steep learning curve associated with understanding the </a:t>
            </a:r>
            <a:r>
              <a:rPr lang="en-US" err="1"/>
              <a:t>IaC</a:t>
            </a:r>
            <a:r>
              <a:rPr lang="en-US"/>
              <a:t> syntax, best practices, and cloud-specific configurations. With limited resources, they are concerned about the time it would take to upskill themselves and become proficient in </a:t>
            </a:r>
            <a:r>
              <a:rPr lang="en-US" err="1"/>
              <a:t>IaC</a:t>
            </a:r>
            <a:r>
              <a:rPr lang="en-US"/>
              <a:t>.</a:t>
            </a:r>
          </a:p>
          <a:p>
            <a:endParaRPr lang="en-US"/>
          </a:p>
          <a:p>
            <a:r>
              <a:rPr lang="en-US"/>
              <a:t>3. Not Enough Developers for a Dedicated DevOps Team:</a:t>
            </a:r>
          </a:p>
          <a:p>
            <a:r>
              <a:rPr lang="en-US"/>
              <a:t>   - Velocity Innovations operates with a lean team, primarily focused on software development. They do not have dedicated DevOps personnel or a separate operations team. Implementing </a:t>
            </a:r>
            <a:r>
              <a:rPr lang="en-US" err="1"/>
              <a:t>IaC</a:t>
            </a:r>
            <a:r>
              <a:rPr lang="en-US"/>
              <a:t> effectively typically involves creating a dedicated DevOps or infrastructure team to manage and maintain the infrastructure code. The startup lacks the resources to hire additional team members for this purpose.</a:t>
            </a:r>
          </a:p>
          <a:p>
            <a:endParaRPr lang="en-US"/>
          </a:p>
          <a:p>
            <a:r>
              <a:rPr lang="en-US"/>
              <a:t>4. Initial Setup Time Impacting New Product Features Delivery:</a:t>
            </a:r>
          </a:p>
          <a:p>
            <a:r>
              <a:rPr lang="en-US"/>
              <a:t>   - The startup is under pressure to deliver new product features rapidly to meet market demands and investor expectations. Implementing </a:t>
            </a:r>
            <a:r>
              <a:rPr lang="en-US" err="1"/>
              <a:t>IaC</a:t>
            </a:r>
            <a:r>
              <a:rPr lang="en-US"/>
              <a:t> would require a considerable initial setup time to design, test, and deploy infrastructure configurations. The team is concerned that this setup time would take away from their ability to deliver critical product features and improvements.</a:t>
            </a:r>
          </a:p>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35</a:t>
            </a:fld>
            <a:endParaRPr lang="fr-FR"/>
          </a:p>
        </p:txBody>
      </p:sp>
    </p:spTree>
    <p:extLst>
      <p:ext uri="{BB962C8B-B14F-4D97-AF65-F5344CB8AC3E}">
        <p14:creationId xmlns:p14="http://schemas.microsoft.com/office/powerpoint/2010/main" val="38256063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36</a:t>
            </a:fld>
            <a:endParaRPr lang="fr-FR"/>
          </a:p>
        </p:txBody>
      </p:sp>
    </p:spTree>
    <p:extLst>
      <p:ext uri="{BB962C8B-B14F-4D97-AF65-F5344CB8AC3E}">
        <p14:creationId xmlns:p14="http://schemas.microsoft.com/office/powerpoint/2010/main" val="42173227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1. Legacy System Compatibility and Complexity:</a:t>
            </a:r>
          </a:p>
          <a:p>
            <a:r>
              <a:rPr lang="en-US"/>
              <a:t>   - </a:t>
            </a:r>
            <a:r>
              <a:rPr lang="en-US" err="1"/>
              <a:t>LegacyTech</a:t>
            </a:r>
            <a:r>
              <a:rPr lang="en-US"/>
              <a:t> relies heavily on their mainframe systems to process financial transactions, which are critical to their business operations. These mainframes have been in use for decades and lack modern automation interfaces or APIs. The company's proprietary software systems are tightly integrated with the mainframes.</a:t>
            </a:r>
          </a:p>
          <a:p>
            <a:r>
              <a:rPr lang="en-US"/>
              <a:t>   - Challenge: Transitioning the core transaction processing systems to an </a:t>
            </a:r>
            <a:r>
              <a:rPr lang="en-US" err="1"/>
              <a:t>IaC</a:t>
            </a:r>
            <a:r>
              <a:rPr lang="en-US"/>
              <a:t>-driven infrastructure poses a significant challenge. The mainframes and proprietary software are not compatible with </a:t>
            </a:r>
            <a:r>
              <a:rPr lang="en-US" err="1"/>
              <a:t>IaC</a:t>
            </a:r>
            <a:r>
              <a:rPr lang="en-US"/>
              <a:t> tools, making it difficult to automate their provisioning and management. Rewriting these systems to be </a:t>
            </a:r>
            <a:r>
              <a:rPr lang="en-US" err="1"/>
              <a:t>IaC</a:t>
            </a:r>
            <a:r>
              <a:rPr lang="en-US"/>
              <a:t>-friendly would be a massive undertaking, disrupting daily operations and requiring extensive resources.</a:t>
            </a:r>
          </a:p>
          <a:p>
            <a:endParaRPr lang="en-US"/>
          </a:p>
          <a:p>
            <a:r>
              <a:rPr lang="en-US"/>
              <a:t>2. Risk Aversion and Compliance Concerns:</a:t>
            </a:r>
          </a:p>
          <a:p>
            <a:r>
              <a:rPr lang="en-US"/>
              <a:t>   - </a:t>
            </a:r>
            <a:r>
              <a:rPr lang="en-US" err="1"/>
              <a:t>LegacyTech</a:t>
            </a:r>
            <a:r>
              <a:rPr lang="en-US"/>
              <a:t> Enterprises operates in a highly regulated financial industry where data security, compliance, and auditability are paramount. The company has strict processes and controls in place to ensure compliance with industry-specific regulations and safeguard sensitive customer data.</a:t>
            </a:r>
          </a:p>
          <a:p>
            <a:r>
              <a:rPr lang="en-US"/>
              <a:t>   - Challenge: The company's risk-averse culture raises concerns about the potential risks associated with adopting </a:t>
            </a:r>
            <a:r>
              <a:rPr lang="en-US" err="1"/>
              <a:t>IaC</a:t>
            </a:r>
            <a:r>
              <a:rPr lang="en-US"/>
              <a:t>. Any changes to the existing infrastructure, including the introduction of </a:t>
            </a:r>
            <a:r>
              <a:rPr lang="en-US" err="1"/>
              <a:t>IaC</a:t>
            </a:r>
            <a:r>
              <a:rPr lang="en-US"/>
              <a:t> practices, require thorough risk assessments and compliance measures to ensure that regulatory requirements are still met. The fear of introducing compliance violations or security vulnerabilities through </a:t>
            </a:r>
            <a:r>
              <a:rPr lang="en-US" err="1"/>
              <a:t>IaC</a:t>
            </a:r>
            <a:r>
              <a:rPr lang="en-US"/>
              <a:t> adoption leads to caution and a preference for maintaining the status quo.</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37</a:t>
            </a:fld>
            <a:endParaRPr lang="fr-FR"/>
          </a:p>
        </p:txBody>
      </p:sp>
    </p:spTree>
    <p:extLst>
      <p:ext uri="{BB962C8B-B14F-4D97-AF65-F5344CB8AC3E}">
        <p14:creationId xmlns:p14="http://schemas.microsoft.com/office/powerpoint/2010/main" val="35387051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To avoid long-term stagnation while navigating the challenges of legacy systems and compliance concerns, LegacyTech Enterprises would likely adopt a phased approach. They might begin by identifying non-critical areas of their IT infrastructure where IaC can be introduced with minimal disruption. Simultaneously, they would invest in modernization efforts for their legacy systems to make them more IaC-compatible over time. The company would establish dedicated teams with expertise in both IaC and compliance to ensure a smooth transition while adhering to regulatory requirements. Additionally, LegacyTech would engage in ongoing risk assessments and audits to maintain data security and compliance, gradually expanding the scope of IaC adoption as they gain confidence in the approach. This gradual and careful transition would allow them to harness the benefits of IaC without compromising the stability and security of their critical financial operations.</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38</a:t>
            </a:fld>
            <a:endParaRPr lang="fr-FR"/>
          </a:p>
        </p:txBody>
      </p:sp>
    </p:spTree>
    <p:extLst>
      <p:ext uri="{BB962C8B-B14F-4D97-AF65-F5344CB8AC3E}">
        <p14:creationId xmlns:p14="http://schemas.microsoft.com/office/powerpoint/2010/main" val="18663632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39</a:t>
            </a:fld>
            <a:endParaRPr lang="fr-FR"/>
          </a:p>
        </p:txBody>
      </p:sp>
    </p:spTree>
    <p:extLst>
      <p:ext uri="{BB962C8B-B14F-4D97-AF65-F5344CB8AC3E}">
        <p14:creationId xmlns:p14="http://schemas.microsoft.com/office/powerpoint/2010/main" val="1523032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40</a:t>
            </a:fld>
            <a:endParaRPr lang="fr-FR"/>
          </a:p>
        </p:txBody>
      </p:sp>
    </p:spTree>
    <p:extLst>
      <p:ext uri="{BB962C8B-B14F-4D97-AF65-F5344CB8AC3E}">
        <p14:creationId xmlns:p14="http://schemas.microsoft.com/office/powerpoint/2010/main" val="34677084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41</a:t>
            </a:fld>
            <a:endParaRPr lang="fr-FR"/>
          </a:p>
        </p:txBody>
      </p:sp>
    </p:spTree>
    <p:extLst>
      <p:ext uri="{BB962C8B-B14F-4D97-AF65-F5344CB8AC3E}">
        <p14:creationId xmlns:p14="http://schemas.microsoft.com/office/powerpoint/2010/main" val="22298115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42</a:t>
            </a:fld>
            <a:endParaRPr lang="fr-FR"/>
          </a:p>
        </p:txBody>
      </p:sp>
    </p:spTree>
    <p:extLst>
      <p:ext uri="{BB962C8B-B14F-4D97-AF65-F5344CB8AC3E}">
        <p14:creationId xmlns:p14="http://schemas.microsoft.com/office/powerpoint/2010/main" val="8509407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43</a:t>
            </a:fld>
            <a:endParaRPr lang="fr-FR"/>
          </a:p>
        </p:txBody>
      </p:sp>
    </p:spTree>
    <p:extLst>
      <p:ext uri="{BB962C8B-B14F-4D97-AF65-F5344CB8AC3E}">
        <p14:creationId xmlns:p14="http://schemas.microsoft.com/office/powerpoint/2010/main" val="38480746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44</a:t>
            </a:fld>
            <a:endParaRPr lang="fr-FR"/>
          </a:p>
        </p:txBody>
      </p:sp>
    </p:spTree>
    <p:extLst>
      <p:ext uri="{BB962C8B-B14F-4D97-AF65-F5344CB8AC3E}">
        <p14:creationId xmlns:p14="http://schemas.microsoft.com/office/powerpoint/2010/main" val="6456331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46</a:t>
            </a:fld>
            <a:endParaRPr lang="fr-FR"/>
          </a:p>
        </p:txBody>
      </p:sp>
    </p:spTree>
    <p:extLst>
      <p:ext uri="{BB962C8B-B14F-4D97-AF65-F5344CB8AC3E}">
        <p14:creationId xmlns:p14="http://schemas.microsoft.com/office/powerpoint/2010/main" val="2323089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47</a:t>
            </a:fld>
            <a:endParaRPr lang="fr-FR"/>
          </a:p>
        </p:txBody>
      </p:sp>
    </p:spTree>
    <p:extLst>
      <p:ext uri="{BB962C8B-B14F-4D97-AF65-F5344CB8AC3E}">
        <p14:creationId xmlns:p14="http://schemas.microsoft.com/office/powerpoint/2010/main" val="11250052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You will find a sample snippet for each tool. It is only presented to give a taste of the tool, not for detailed examination.</a:t>
            </a:r>
          </a:p>
          <a:p>
            <a:endParaRPr lang="en-US"/>
          </a:p>
          <a:p>
            <a:r>
              <a:rPr lang="en-US" b="0" i="0">
                <a:solidFill>
                  <a:srgbClr val="374151"/>
                </a:solidFill>
                <a:effectLst/>
                <a:latin typeface="Söhne"/>
              </a:rPr>
              <a:t>Puppet uses a declarative language and a client-server architecture. Puppet agents on nodes communicate with a Puppet master server to apply configurations. Puppet excels in managing diverse environments and supports a wide range of platforms.</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48</a:t>
            </a:fld>
            <a:endParaRPr lang="fr-FR"/>
          </a:p>
        </p:txBody>
      </p:sp>
    </p:spTree>
    <p:extLst>
      <p:ext uri="{BB962C8B-B14F-4D97-AF65-F5344CB8AC3E}">
        <p14:creationId xmlns:p14="http://schemas.microsoft.com/office/powerpoint/2010/main" val="40288901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Chef follows a declarative approach to configuration management, where desired states are defined, and Chef ensures systems match those states. It has a strong focus on infrastructure as code (IaC) and provides a domain-specific language (DSL) for defining configurations.</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49</a:t>
            </a:fld>
            <a:endParaRPr lang="fr-FR"/>
          </a:p>
        </p:txBody>
      </p:sp>
    </p:spTree>
    <p:extLst>
      <p:ext uri="{BB962C8B-B14F-4D97-AF65-F5344CB8AC3E}">
        <p14:creationId xmlns:p14="http://schemas.microsoft.com/office/powerpoint/2010/main" val="8732832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Ansible is known for its agentless architecture, which allows it to manage remote systems without requiring agent software installation. It relies on SSH for secure communication and is popular for its simplicity and ease of use.</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50</a:t>
            </a:fld>
            <a:endParaRPr lang="fr-FR"/>
          </a:p>
        </p:txBody>
      </p:sp>
    </p:spTree>
    <p:extLst>
      <p:ext uri="{BB962C8B-B14F-4D97-AF65-F5344CB8AC3E}">
        <p14:creationId xmlns:p14="http://schemas.microsoft.com/office/powerpoint/2010/main" val="23679753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Docker Compose is used for defining and running multi-container Docker applications. It simplifies the orchestration of multiple containers that make up an application stack. Docker Compose uses a YAML file to specify the services, networks, and volumes required for the application.</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51</a:t>
            </a:fld>
            <a:endParaRPr lang="fr-FR"/>
          </a:p>
        </p:txBody>
      </p:sp>
    </p:spTree>
    <p:extLst>
      <p:ext uri="{BB962C8B-B14F-4D97-AF65-F5344CB8AC3E}">
        <p14:creationId xmlns:p14="http://schemas.microsoft.com/office/powerpoint/2010/main" val="5878008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Kubernetes is a container orchestration platform that automates the deployment, scaling, and management of containerized applications. It provides features for service discovery, load balancing, rolling updates, and self-healing, making it suitable for complex, stateful applications.</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52</a:t>
            </a:fld>
            <a:endParaRPr lang="fr-FR"/>
          </a:p>
        </p:txBody>
      </p:sp>
    </p:spTree>
    <p:extLst>
      <p:ext uri="{BB962C8B-B14F-4D97-AF65-F5344CB8AC3E}">
        <p14:creationId xmlns:p14="http://schemas.microsoft.com/office/powerpoint/2010/main" val="38895876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Terraform is a versatile IaC tool that focuses on infrastructure provisioning. It uses a declarative configuration language (HCL) to define resources and their relationships. Terraform's state management helps plan and apply changes safely.</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53</a:t>
            </a:fld>
            <a:endParaRPr lang="fr-FR"/>
          </a:p>
        </p:txBody>
      </p:sp>
    </p:spTree>
    <p:extLst>
      <p:ext uri="{BB962C8B-B14F-4D97-AF65-F5344CB8AC3E}">
        <p14:creationId xmlns:p14="http://schemas.microsoft.com/office/powerpoint/2010/main" val="17968124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Pulumi is unique in that it allows users to define infrastructure using familiar programming languages (such as TypeScript, Python, Go). This approach provides a programmatic, multi-cloud IaC solution, enabling infrastructure management through code. Pulumi's goal is to bridge the gap between infrastructure and application code.</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54</a:t>
            </a:fld>
            <a:endParaRPr lang="fr-FR"/>
          </a:p>
        </p:txBody>
      </p:sp>
    </p:spTree>
    <p:extLst>
      <p:ext uri="{BB962C8B-B14F-4D97-AF65-F5344CB8AC3E}">
        <p14:creationId xmlns:p14="http://schemas.microsoft.com/office/powerpoint/2010/main" val="12998514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a:solidFill>
                  <a:srgbClr val="374151"/>
                </a:solidFill>
                <a:effectLst/>
                <a:latin typeface="Söhne"/>
              </a:rPr>
              <a:t>Serverless Framework simplifies the development and deployment of serverless applications. It abstracts cloud provider complexity, provides configuration-as-code through </a:t>
            </a:r>
            <a:r>
              <a:rPr lang="en-US"/>
              <a:t>serverless.yml</a:t>
            </a:r>
            <a:r>
              <a:rPr lang="en-US" b="0" i="0">
                <a:solidFill>
                  <a:srgbClr val="374151"/>
                </a:solidFill>
                <a:effectLst/>
                <a:latin typeface="Söhne"/>
              </a:rPr>
              <a:t>, and automates the packaging and deployment of serverless functions and resources. It supports multiple cloud providers and local development.</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55</a:t>
            </a:fld>
            <a:endParaRPr lang="fr-FR"/>
          </a:p>
        </p:txBody>
      </p:sp>
    </p:spTree>
    <p:extLst>
      <p:ext uri="{BB962C8B-B14F-4D97-AF65-F5344CB8AC3E}">
        <p14:creationId xmlns:p14="http://schemas.microsoft.com/office/powerpoint/2010/main" val="34536284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56</a:t>
            </a:fld>
            <a:endParaRPr lang="fr-FR"/>
          </a:p>
        </p:txBody>
      </p:sp>
    </p:spTree>
    <p:extLst>
      <p:ext uri="{BB962C8B-B14F-4D97-AF65-F5344CB8AC3E}">
        <p14:creationId xmlns:p14="http://schemas.microsoft.com/office/powerpoint/2010/main" val="13898143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57</a:t>
            </a:fld>
            <a:endParaRPr lang="fr-FR"/>
          </a:p>
        </p:txBody>
      </p:sp>
    </p:spTree>
    <p:extLst>
      <p:ext uri="{BB962C8B-B14F-4D97-AF65-F5344CB8AC3E}">
        <p14:creationId xmlns:p14="http://schemas.microsoft.com/office/powerpoint/2010/main" val="821342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58</a:t>
            </a:fld>
            <a:endParaRPr lang="fr-FR"/>
          </a:p>
        </p:txBody>
      </p:sp>
    </p:spTree>
    <p:extLst>
      <p:ext uri="{BB962C8B-B14F-4D97-AF65-F5344CB8AC3E}">
        <p14:creationId xmlns:p14="http://schemas.microsoft.com/office/powerpoint/2010/main" val="36300578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60</a:t>
            </a:fld>
            <a:endParaRPr lang="fr-FR"/>
          </a:p>
        </p:txBody>
      </p:sp>
    </p:spTree>
    <p:extLst>
      <p:ext uri="{BB962C8B-B14F-4D97-AF65-F5344CB8AC3E}">
        <p14:creationId xmlns:p14="http://schemas.microsoft.com/office/powerpoint/2010/main" val="586031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61</a:t>
            </a:fld>
            <a:endParaRPr lang="fr-FR"/>
          </a:p>
        </p:txBody>
      </p:sp>
    </p:spTree>
    <p:extLst>
      <p:ext uri="{BB962C8B-B14F-4D97-AF65-F5344CB8AC3E}">
        <p14:creationId xmlns:p14="http://schemas.microsoft.com/office/powerpoint/2010/main" val="31283720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62</a:t>
            </a:fld>
            <a:endParaRPr lang="fr-FR"/>
          </a:p>
        </p:txBody>
      </p:sp>
    </p:spTree>
    <p:extLst>
      <p:ext uri="{BB962C8B-B14F-4D97-AF65-F5344CB8AC3E}">
        <p14:creationId xmlns:p14="http://schemas.microsoft.com/office/powerpoint/2010/main" val="14579160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1. Initialization (terraform </a:t>
            </a:r>
            <a:r>
              <a:rPr lang="en-US" err="1"/>
              <a:t>init</a:t>
            </a:r>
            <a:r>
              <a:rPr lang="en-US"/>
              <a:t>):</a:t>
            </a:r>
          </a:p>
          <a:p>
            <a:endParaRPr lang="en-US"/>
          </a:p>
          <a:p>
            <a:r>
              <a:rPr lang="en-US"/>
              <a:t>Definition: The initialization phase is the first step when working with Terraform in a new directory or when you've introduced new provider configurations. It prepares the working directory for Terraform operations.</a:t>
            </a:r>
          </a:p>
          <a:p>
            <a:endParaRPr lang="en-US"/>
          </a:p>
          <a:p>
            <a:r>
              <a:rPr lang="en-US"/>
              <a:t>How It Works:</a:t>
            </a:r>
          </a:p>
          <a:p>
            <a:endParaRPr lang="en-US"/>
          </a:p>
          <a:p>
            <a:r>
              <a:rPr lang="en-US"/>
              <a:t>Terraform reads the configuration files (usually in HCL) and identifies the providers used in the configuration.</a:t>
            </a:r>
          </a:p>
          <a:p>
            <a:r>
              <a:rPr lang="en-US"/>
              <a:t>It downloads and installs the necessary provider plugins based on the configuration. These plugins enable Terraform to interact with specific cloud or infrastructure platforms.</a:t>
            </a:r>
          </a:p>
          <a:p>
            <a:r>
              <a:rPr lang="en-US"/>
              <a:t>User Action: Users typically run terraform </a:t>
            </a:r>
            <a:r>
              <a:rPr lang="en-US" err="1"/>
              <a:t>init</a:t>
            </a:r>
            <a:r>
              <a:rPr lang="en-US"/>
              <a:t> to initialize a Terraform project. It needs to be executed once when you start working with a new project or when provider configurations are updated.</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63</a:t>
            </a:fld>
            <a:endParaRPr lang="fr-FR"/>
          </a:p>
        </p:txBody>
      </p:sp>
    </p:spTree>
    <p:extLst>
      <p:ext uri="{BB962C8B-B14F-4D97-AF65-F5344CB8AC3E}">
        <p14:creationId xmlns:p14="http://schemas.microsoft.com/office/powerpoint/2010/main" val="33887895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2. Planning (terraform plan):</a:t>
            </a:r>
          </a:p>
          <a:p>
            <a:endParaRPr lang="en-US"/>
          </a:p>
          <a:p>
            <a:r>
              <a:rPr lang="en-US"/>
              <a:t>Definition: In the planning phase, Terraform examines the current state of the infrastructure and compares it to the desired state defined in your Terraform configuration files (usually written in </a:t>
            </a:r>
            <a:r>
              <a:rPr lang="en-US" err="1"/>
              <a:t>HashiCorp</a:t>
            </a:r>
            <a:r>
              <a:rPr lang="en-US"/>
              <a:t> Configuration Language, or HCL). The goal is to generate an execution plan that outlines the actions required to align the infrastructure with the desired state.</a:t>
            </a:r>
          </a:p>
          <a:p>
            <a:endParaRPr lang="en-US"/>
          </a:p>
          <a:p>
            <a:r>
              <a:rPr lang="en-US"/>
              <a:t>How It Works:</a:t>
            </a:r>
          </a:p>
          <a:p>
            <a:endParaRPr lang="en-US"/>
          </a:p>
          <a:p>
            <a:r>
              <a:rPr lang="en-US"/>
              <a:t>- Terraform reads the configuration files and any existing state information.</a:t>
            </a:r>
          </a:p>
          <a:p>
            <a:r>
              <a:rPr lang="en-US"/>
              <a:t>- It identifies the differences between the current state and the desired state, determining which resources need to be created, updated, or destroyed.</a:t>
            </a:r>
          </a:p>
          <a:p>
            <a:r>
              <a:rPr lang="en-US"/>
              <a:t>- An execution plan is generated, detailing these actions and providing information about resource changes and their impact.</a:t>
            </a:r>
          </a:p>
          <a:p>
            <a:r>
              <a:rPr lang="en-US"/>
              <a:t>- User Review: The execution plan is displayed to the user, allowing them to review the proposed changes before they are applied. This review step is essential for ensuring that the changes align with the intended infrastructure modifications.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64</a:t>
            </a:fld>
            <a:endParaRPr lang="fr-FR"/>
          </a:p>
        </p:txBody>
      </p:sp>
    </p:spTree>
    <p:extLst>
      <p:ext uri="{BB962C8B-B14F-4D97-AF65-F5344CB8AC3E}">
        <p14:creationId xmlns:p14="http://schemas.microsoft.com/office/powerpoint/2010/main" val="2239676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3. Application (terraform apply):</a:t>
            </a:r>
          </a:p>
          <a:p>
            <a:endParaRPr lang="en-US"/>
          </a:p>
          <a:p>
            <a:r>
              <a:rPr lang="en-US"/>
              <a:t>Definition: Once the execution plan has been reviewed and approved, users can proceed to the application phase. In this phase, Terraform executes the planned actions to modify the infrastructure according to the desired state.</a:t>
            </a:r>
          </a:p>
          <a:p>
            <a:endParaRPr lang="en-US"/>
          </a:p>
          <a:p>
            <a:r>
              <a:rPr lang="en-US"/>
              <a:t>How It Works:</a:t>
            </a:r>
          </a:p>
          <a:p>
            <a:endParaRPr lang="en-US"/>
          </a:p>
          <a:p>
            <a:r>
              <a:rPr lang="en-US"/>
              <a:t>- Terraform applies the actions specified in the execution plan. This may involve creating new resources, updating existing ones, or destroying resources that are no longer needed.</a:t>
            </a:r>
          </a:p>
          <a:p>
            <a:r>
              <a:rPr lang="en-US"/>
              <a:t>- Users are prompted to confirm the application of changes. This allows for additional safety checks before the changes are made.</a:t>
            </a:r>
          </a:p>
          <a:p>
            <a:r>
              <a:rPr lang="en-US"/>
              <a:t>- Execution: Terraform interacts with the target infrastructure, communicates with cloud providers or data centers, and orchestrates the necessary actions.</a:t>
            </a:r>
          </a:p>
          <a:p>
            <a:endParaRPr lang="en-US"/>
          </a:p>
          <a:p>
            <a:r>
              <a:rPr lang="en-US"/>
              <a:t>Output: After applying the changes, Terraform provides detailed output that includes the status of each resource modification. It also updates the state file to reflect the new state of the infrastructure.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65</a:t>
            </a:fld>
            <a:endParaRPr lang="fr-FR"/>
          </a:p>
        </p:txBody>
      </p:sp>
    </p:spTree>
    <p:extLst>
      <p:ext uri="{BB962C8B-B14F-4D97-AF65-F5344CB8AC3E}">
        <p14:creationId xmlns:p14="http://schemas.microsoft.com/office/powerpoint/2010/main" val="34193398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4. Destruction (terraform destroy):</a:t>
            </a:r>
          </a:p>
          <a:p>
            <a:endParaRPr lang="en-US"/>
          </a:p>
          <a:p>
            <a:r>
              <a:rPr lang="en-US"/>
              <a:t>Definition: The destruction phase allows users to tear down the entire infrastructure created by Terraform, reverting it to its initial state. It's especially useful for decommissioning resources or environments when they are no longer needed.</a:t>
            </a:r>
          </a:p>
          <a:p>
            <a:endParaRPr lang="en-US"/>
          </a:p>
          <a:p>
            <a:r>
              <a:rPr lang="en-US"/>
              <a:t>How It Works:</a:t>
            </a:r>
          </a:p>
          <a:p>
            <a:endParaRPr lang="en-US"/>
          </a:p>
          <a:p>
            <a:r>
              <a:rPr lang="en-US"/>
              <a:t>- Terraform generates a plan that outlines the destruction of all resources.</a:t>
            </a:r>
          </a:p>
          <a:p>
            <a:r>
              <a:rPr lang="en-US"/>
              <a:t>- The plan is reviewed and confirmed by the user before Terraform proceeds with resource deletion.</a:t>
            </a:r>
          </a:p>
          <a:p>
            <a:r>
              <a:rPr lang="en-US"/>
              <a:t>- Resources are systematically destroyed in the reverse order of their creation to resolve dependencies.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66</a:t>
            </a:fld>
            <a:endParaRPr lang="fr-FR"/>
          </a:p>
        </p:txBody>
      </p:sp>
    </p:spTree>
    <p:extLst>
      <p:ext uri="{BB962C8B-B14F-4D97-AF65-F5344CB8AC3E}">
        <p14:creationId xmlns:p14="http://schemas.microsoft.com/office/powerpoint/2010/main" val="16371019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67</a:t>
            </a:fld>
            <a:endParaRPr lang="fr-FR"/>
          </a:p>
        </p:txBody>
      </p:sp>
    </p:spTree>
    <p:extLst>
      <p:ext uri="{BB962C8B-B14F-4D97-AF65-F5344CB8AC3E}">
        <p14:creationId xmlns:p14="http://schemas.microsoft.com/office/powerpoint/2010/main" val="19362368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err="1">
                <a:solidFill>
                  <a:srgbClr val="374151"/>
                </a:solidFill>
                <a:effectLst/>
                <a:latin typeface="Söhne"/>
              </a:rPr>
              <a:t>Please</a:t>
            </a:r>
            <a:r>
              <a:rPr lang="fr-FR" b="0" i="0">
                <a:solidFill>
                  <a:srgbClr val="374151"/>
                </a:solidFill>
                <a:effectLst/>
                <a:latin typeface="Söhne"/>
              </a:rPr>
              <a:t> note </a:t>
            </a:r>
            <a:r>
              <a:rPr lang="fr-FR" b="0" i="0" err="1">
                <a:solidFill>
                  <a:srgbClr val="374151"/>
                </a:solidFill>
                <a:effectLst/>
                <a:latin typeface="Söhne"/>
              </a:rPr>
              <a:t>that</a:t>
            </a:r>
            <a:r>
              <a:rPr lang="fr-FR" b="0" i="0">
                <a:solidFill>
                  <a:srgbClr val="374151"/>
                </a:solidFill>
                <a:effectLst/>
                <a:latin typeface="Söhne"/>
              </a:rPr>
              <a:t> </a:t>
            </a:r>
            <a:r>
              <a:rPr lang="fr-FR" b="0" i="0" err="1">
                <a:solidFill>
                  <a:srgbClr val="374151"/>
                </a:solidFill>
                <a:effectLst/>
                <a:latin typeface="Söhne"/>
              </a:rPr>
              <a:t>this</a:t>
            </a:r>
            <a:r>
              <a:rPr lang="fr-FR" b="0" i="0">
                <a:solidFill>
                  <a:srgbClr val="374151"/>
                </a:solidFill>
                <a:effectLst/>
                <a:latin typeface="Söhne"/>
              </a:rPr>
              <a:t> code </a:t>
            </a:r>
            <a:r>
              <a:rPr lang="fr-FR" b="0" i="0" err="1">
                <a:solidFill>
                  <a:srgbClr val="374151"/>
                </a:solidFill>
                <a:effectLst/>
                <a:latin typeface="Söhne"/>
              </a:rPr>
              <a:t>is</a:t>
            </a:r>
            <a:r>
              <a:rPr lang="fr-FR" b="0" i="0">
                <a:solidFill>
                  <a:srgbClr val="374151"/>
                </a:solidFill>
                <a:effectLst/>
                <a:latin typeface="Söhne"/>
              </a:rPr>
              <a:t> </a:t>
            </a:r>
            <a:r>
              <a:rPr lang="fr-FR" b="0" i="0" err="1">
                <a:solidFill>
                  <a:srgbClr val="374151"/>
                </a:solidFill>
                <a:effectLst/>
                <a:latin typeface="Söhne"/>
              </a:rPr>
              <a:t>simplified</a:t>
            </a:r>
            <a:r>
              <a:rPr lang="fr-FR" b="0" i="0">
                <a:solidFill>
                  <a:srgbClr val="374151"/>
                </a:solidFill>
                <a:effectLst/>
                <a:latin typeface="Söhne"/>
              </a:rPr>
              <a:t> for </a:t>
            </a:r>
            <a:r>
              <a:rPr lang="fr-FR" b="0" i="0" err="1">
                <a:solidFill>
                  <a:srgbClr val="374151"/>
                </a:solidFill>
                <a:effectLst/>
                <a:latin typeface="Söhne"/>
              </a:rPr>
              <a:t>demonstration</a:t>
            </a:r>
            <a:r>
              <a:rPr lang="fr-FR" b="0" i="0">
                <a:solidFill>
                  <a:srgbClr val="374151"/>
                </a:solidFill>
                <a:effectLst/>
                <a:latin typeface="Söhne"/>
              </a:rPr>
              <a:t> </a:t>
            </a:r>
            <a:r>
              <a:rPr lang="fr-FR" b="0" i="0" err="1">
                <a:solidFill>
                  <a:srgbClr val="374151"/>
                </a:solidFill>
                <a:effectLst/>
                <a:latin typeface="Söhne"/>
              </a:rPr>
              <a:t>purposes</a:t>
            </a:r>
            <a:r>
              <a:rPr lang="fr-FR" b="0" i="0">
                <a:solidFill>
                  <a:srgbClr val="374151"/>
                </a:solidFill>
                <a:effectLst/>
                <a:latin typeface="Söhne"/>
              </a:rPr>
              <a:t>, and in a production </a:t>
            </a:r>
            <a:r>
              <a:rPr lang="fr-FR" b="0" i="0" err="1">
                <a:solidFill>
                  <a:srgbClr val="374151"/>
                </a:solidFill>
                <a:effectLst/>
                <a:latin typeface="Söhne"/>
              </a:rPr>
              <a:t>environment</a:t>
            </a:r>
            <a:r>
              <a:rPr lang="fr-FR" b="0" i="0">
                <a:solidFill>
                  <a:srgbClr val="374151"/>
                </a:solidFill>
                <a:effectLst/>
                <a:latin typeface="Söhne"/>
              </a:rPr>
              <a:t>, </a:t>
            </a:r>
            <a:r>
              <a:rPr lang="fr-FR" b="0" i="0" err="1">
                <a:solidFill>
                  <a:srgbClr val="374151"/>
                </a:solidFill>
                <a:effectLst/>
                <a:latin typeface="Söhne"/>
              </a:rPr>
              <a:t>you</a:t>
            </a:r>
            <a:r>
              <a:rPr lang="fr-FR" b="0" i="0">
                <a:solidFill>
                  <a:srgbClr val="374151"/>
                </a:solidFill>
                <a:effectLst/>
                <a:latin typeface="Söhne"/>
              </a:rPr>
              <a:t> </a:t>
            </a:r>
            <a:r>
              <a:rPr lang="fr-FR" b="0" i="0" err="1">
                <a:solidFill>
                  <a:srgbClr val="374151"/>
                </a:solidFill>
                <a:effectLst/>
                <a:latin typeface="Söhne"/>
              </a:rPr>
              <a:t>would</a:t>
            </a:r>
            <a:r>
              <a:rPr lang="fr-FR" b="0" i="0">
                <a:solidFill>
                  <a:srgbClr val="374151"/>
                </a:solidFill>
                <a:effectLst/>
                <a:latin typeface="Söhne"/>
              </a:rPr>
              <a:t> </a:t>
            </a:r>
            <a:r>
              <a:rPr lang="fr-FR" b="0" i="0" err="1">
                <a:solidFill>
                  <a:srgbClr val="374151"/>
                </a:solidFill>
                <a:effectLst/>
                <a:latin typeface="Söhne"/>
              </a:rPr>
              <a:t>handle</a:t>
            </a:r>
            <a:r>
              <a:rPr lang="fr-FR" b="0" i="0">
                <a:solidFill>
                  <a:srgbClr val="374151"/>
                </a:solidFill>
                <a:effectLst/>
                <a:latin typeface="Söhne"/>
              </a:rPr>
              <a:t> sensitive information more </a:t>
            </a:r>
            <a:r>
              <a:rPr lang="fr-FR" b="0" i="0" err="1">
                <a:solidFill>
                  <a:srgbClr val="374151"/>
                </a:solidFill>
                <a:effectLst/>
                <a:latin typeface="Söhne"/>
              </a:rPr>
              <a:t>securely</a:t>
            </a:r>
            <a:r>
              <a:rPr lang="fr-FR" b="0" i="0">
                <a:solidFill>
                  <a:srgbClr val="374151"/>
                </a:solidFill>
                <a:effectLst/>
                <a:latin typeface="Söhne"/>
              </a:rPr>
              <a:t>, manage variables, and use best practices for IAM </a:t>
            </a:r>
            <a:r>
              <a:rPr lang="fr-FR" b="0" i="0" err="1">
                <a:solidFill>
                  <a:srgbClr val="374151"/>
                </a:solidFill>
                <a:effectLst/>
                <a:latin typeface="Söhne"/>
              </a:rPr>
              <a:t>roles</a:t>
            </a:r>
            <a:r>
              <a:rPr lang="fr-FR" b="0" i="0">
                <a:solidFill>
                  <a:srgbClr val="374151"/>
                </a:solidFill>
                <a:effectLst/>
                <a:latin typeface="Söhne"/>
              </a:rPr>
              <a:t> and </a:t>
            </a:r>
            <a:r>
              <a:rPr lang="fr-FR" b="0" i="0" err="1">
                <a:solidFill>
                  <a:srgbClr val="374151"/>
                </a:solidFill>
                <a:effectLst/>
                <a:latin typeface="Söhne"/>
              </a:rPr>
              <a:t>policies</a:t>
            </a:r>
            <a:r>
              <a:rPr lang="fr-FR" b="0" i="0">
                <a:solidFill>
                  <a:srgbClr val="374151"/>
                </a:solidFill>
                <a:effectLst/>
                <a:latin typeface="Söhne"/>
              </a:rPr>
              <a:t>.</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68</a:t>
            </a:fld>
            <a:endParaRPr lang="fr-FR"/>
          </a:p>
        </p:txBody>
      </p:sp>
    </p:spTree>
    <p:extLst>
      <p:ext uri="{BB962C8B-B14F-4D97-AF65-F5344CB8AC3E}">
        <p14:creationId xmlns:p14="http://schemas.microsoft.com/office/powerpoint/2010/main" val="10968332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err="1">
                <a:solidFill>
                  <a:srgbClr val="374151"/>
                </a:solidFill>
                <a:effectLst/>
                <a:latin typeface="Söhne"/>
              </a:rPr>
              <a:t>Please</a:t>
            </a:r>
            <a:r>
              <a:rPr lang="fr-FR" b="0" i="0">
                <a:solidFill>
                  <a:srgbClr val="374151"/>
                </a:solidFill>
                <a:effectLst/>
                <a:latin typeface="Söhne"/>
              </a:rPr>
              <a:t> note </a:t>
            </a:r>
            <a:r>
              <a:rPr lang="fr-FR" b="0" i="0" err="1">
                <a:solidFill>
                  <a:srgbClr val="374151"/>
                </a:solidFill>
                <a:effectLst/>
                <a:latin typeface="Söhne"/>
              </a:rPr>
              <a:t>that</a:t>
            </a:r>
            <a:r>
              <a:rPr lang="fr-FR" b="0" i="0">
                <a:solidFill>
                  <a:srgbClr val="374151"/>
                </a:solidFill>
                <a:effectLst/>
                <a:latin typeface="Söhne"/>
              </a:rPr>
              <a:t> </a:t>
            </a:r>
            <a:r>
              <a:rPr lang="fr-FR" b="0" i="0" err="1">
                <a:solidFill>
                  <a:srgbClr val="374151"/>
                </a:solidFill>
                <a:effectLst/>
                <a:latin typeface="Söhne"/>
              </a:rPr>
              <a:t>this</a:t>
            </a:r>
            <a:r>
              <a:rPr lang="fr-FR" b="0" i="0">
                <a:solidFill>
                  <a:srgbClr val="374151"/>
                </a:solidFill>
                <a:effectLst/>
                <a:latin typeface="Söhne"/>
              </a:rPr>
              <a:t> code </a:t>
            </a:r>
            <a:r>
              <a:rPr lang="fr-FR" b="0" i="0" err="1">
                <a:solidFill>
                  <a:srgbClr val="374151"/>
                </a:solidFill>
                <a:effectLst/>
                <a:latin typeface="Söhne"/>
              </a:rPr>
              <a:t>is</a:t>
            </a:r>
            <a:r>
              <a:rPr lang="fr-FR" b="0" i="0">
                <a:solidFill>
                  <a:srgbClr val="374151"/>
                </a:solidFill>
                <a:effectLst/>
                <a:latin typeface="Söhne"/>
              </a:rPr>
              <a:t> </a:t>
            </a:r>
            <a:r>
              <a:rPr lang="fr-FR" b="0" i="0" err="1">
                <a:solidFill>
                  <a:srgbClr val="374151"/>
                </a:solidFill>
                <a:effectLst/>
                <a:latin typeface="Söhne"/>
              </a:rPr>
              <a:t>simplified</a:t>
            </a:r>
            <a:r>
              <a:rPr lang="fr-FR" b="0" i="0">
                <a:solidFill>
                  <a:srgbClr val="374151"/>
                </a:solidFill>
                <a:effectLst/>
                <a:latin typeface="Söhne"/>
              </a:rPr>
              <a:t> for </a:t>
            </a:r>
            <a:r>
              <a:rPr lang="fr-FR" b="0" i="0" err="1">
                <a:solidFill>
                  <a:srgbClr val="374151"/>
                </a:solidFill>
                <a:effectLst/>
                <a:latin typeface="Söhne"/>
              </a:rPr>
              <a:t>demonstration</a:t>
            </a:r>
            <a:r>
              <a:rPr lang="fr-FR" b="0" i="0">
                <a:solidFill>
                  <a:srgbClr val="374151"/>
                </a:solidFill>
                <a:effectLst/>
                <a:latin typeface="Söhne"/>
              </a:rPr>
              <a:t> </a:t>
            </a:r>
            <a:r>
              <a:rPr lang="fr-FR" b="0" i="0" err="1">
                <a:solidFill>
                  <a:srgbClr val="374151"/>
                </a:solidFill>
                <a:effectLst/>
                <a:latin typeface="Söhne"/>
              </a:rPr>
              <a:t>purposes</a:t>
            </a:r>
            <a:r>
              <a:rPr lang="fr-FR" b="0" i="0">
                <a:solidFill>
                  <a:srgbClr val="374151"/>
                </a:solidFill>
                <a:effectLst/>
                <a:latin typeface="Söhne"/>
              </a:rPr>
              <a:t>, and in a production </a:t>
            </a:r>
            <a:r>
              <a:rPr lang="fr-FR" b="0" i="0" err="1">
                <a:solidFill>
                  <a:srgbClr val="374151"/>
                </a:solidFill>
                <a:effectLst/>
                <a:latin typeface="Söhne"/>
              </a:rPr>
              <a:t>environment</a:t>
            </a:r>
            <a:r>
              <a:rPr lang="fr-FR" b="0" i="0">
                <a:solidFill>
                  <a:srgbClr val="374151"/>
                </a:solidFill>
                <a:effectLst/>
                <a:latin typeface="Söhne"/>
              </a:rPr>
              <a:t>, </a:t>
            </a:r>
            <a:r>
              <a:rPr lang="fr-FR" b="0" i="0" err="1">
                <a:solidFill>
                  <a:srgbClr val="374151"/>
                </a:solidFill>
                <a:effectLst/>
                <a:latin typeface="Söhne"/>
              </a:rPr>
              <a:t>you</a:t>
            </a:r>
            <a:r>
              <a:rPr lang="fr-FR" b="0" i="0">
                <a:solidFill>
                  <a:srgbClr val="374151"/>
                </a:solidFill>
                <a:effectLst/>
                <a:latin typeface="Söhne"/>
              </a:rPr>
              <a:t> </a:t>
            </a:r>
            <a:r>
              <a:rPr lang="fr-FR" b="0" i="0" err="1">
                <a:solidFill>
                  <a:srgbClr val="374151"/>
                </a:solidFill>
                <a:effectLst/>
                <a:latin typeface="Söhne"/>
              </a:rPr>
              <a:t>would</a:t>
            </a:r>
            <a:r>
              <a:rPr lang="fr-FR" b="0" i="0">
                <a:solidFill>
                  <a:srgbClr val="374151"/>
                </a:solidFill>
                <a:effectLst/>
                <a:latin typeface="Söhne"/>
              </a:rPr>
              <a:t> </a:t>
            </a:r>
            <a:r>
              <a:rPr lang="fr-FR" b="0" i="0" err="1">
                <a:solidFill>
                  <a:srgbClr val="374151"/>
                </a:solidFill>
                <a:effectLst/>
                <a:latin typeface="Söhne"/>
              </a:rPr>
              <a:t>handle</a:t>
            </a:r>
            <a:r>
              <a:rPr lang="fr-FR" b="0" i="0">
                <a:solidFill>
                  <a:srgbClr val="374151"/>
                </a:solidFill>
                <a:effectLst/>
                <a:latin typeface="Söhne"/>
              </a:rPr>
              <a:t> sensitive information more </a:t>
            </a:r>
            <a:r>
              <a:rPr lang="fr-FR" b="0" i="0" err="1">
                <a:solidFill>
                  <a:srgbClr val="374151"/>
                </a:solidFill>
                <a:effectLst/>
                <a:latin typeface="Söhne"/>
              </a:rPr>
              <a:t>securely</a:t>
            </a:r>
            <a:r>
              <a:rPr lang="fr-FR" b="0" i="0">
                <a:solidFill>
                  <a:srgbClr val="374151"/>
                </a:solidFill>
                <a:effectLst/>
                <a:latin typeface="Söhne"/>
              </a:rPr>
              <a:t>, manage variables, and use best practices for IAM </a:t>
            </a:r>
            <a:r>
              <a:rPr lang="fr-FR" b="0" i="0" err="1">
                <a:solidFill>
                  <a:srgbClr val="374151"/>
                </a:solidFill>
                <a:effectLst/>
                <a:latin typeface="Söhne"/>
              </a:rPr>
              <a:t>roles</a:t>
            </a:r>
            <a:r>
              <a:rPr lang="fr-FR" b="0" i="0">
                <a:solidFill>
                  <a:srgbClr val="374151"/>
                </a:solidFill>
                <a:effectLst/>
                <a:latin typeface="Söhne"/>
              </a:rPr>
              <a:t> and </a:t>
            </a:r>
            <a:r>
              <a:rPr lang="fr-FR" b="0" i="0" err="1">
                <a:solidFill>
                  <a:srgbClr val="374151"/>
                </a:solidFill>
                <a:effectLst/>
                <a:latin typeface="Söhne"/>
              </a:rPr>
              <a:t>policies</a:t>
            </a:r>
            <a:r>
              <a:rPr lang="fr-FR" b="0" i="0">
                <a:solidFill>
                  <a:srgbClr val="374151"/>
                </a:solidFill>
                <a:effectLst/>
                <a:latin typeface="Söhne"/>
              </a:rPr>
              <a:t>.</a:t>
            </a:r>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69</a:t>
            </a:fld>
            <a:endParaRPr lang="fr-FR"/>
          </a:p>
        </p:txBody>
      </p:sp>
    </p:spTree>
    <p:extLst>
      <p:ext uri="{BB962C8B-B14F-4D97-AF65-F5344CB8AC3E}">
        <p14:creationId xmlns:p14="http://schemas.microsoft.com/office/powerpoint/2010/main" val="83240589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70</a:t>
            </a:fld>
            <a:endParaRPr lang="fr-FR"/>
          </a:p>
        </p:txBody>
      </p:sp>
    </p:spTree>
    <p:extLst>
      <p:ext uri="{BB962C8B-B14F-4D97-AF65-F5344CB8AC3E}">
        <p14:creationId xmlns:p14="http://schemas.microsoft.com/office/powerpoint/2010/main" val="18111117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71</a:t>
            </a:fld>
            <a:endParaRPr lang="fr-FR"/>
          </a:p>
        </p:txBody>
      </p:sp>
    </p:spTree>
    <p:extLst>
      <p:ext uri="{BB962C8B-B14F-4D97-AF65-F5344CB8AC3E}">
        <p14:creationId xmlns:p14="http://schemas.microsoft.com/office/powerpoint/2010/main" val="5175375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72</a:t>
            </a:fld>
            <a:endParaRPr lang="fr-FR"/>
          </a:p>
        </p:txBody>
      </p:sp>
    </p:spTree>
    <p:extLst>
      <p:ext uri="{BB962C8B-B14F-4D97-AF65-F5344CB8AC3E}">
        <p14:creationId xmlns:p14="http://schemas.microsoft.com/office/powerpoint/2010/main" val="5841063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State Management in Terraform:</a:t>
            </a:r>
          </a:p>
          <a:p>
            <a:endParaRPr lang="en-US"/>
          </a:p>
          <a:p>
            <a:r>
              <a:rPr lang="en-US"/>
              <a:t>Why State Files are Necessary:</a:t>
            </a:r>
          </a:p>
          <a:p>
            <a:endParaRPr lang="en-US"/>
          </a:p>
          <a:p>
            <a:r>
              <a:rPr lang="en-US"/>
              <a:t>   - Resource Tracking: The state file helps Terraform keep track of the resources it creates and manages. Without this record, Terraform would have no way to know the existing state of your infrastructure during planning and execution phases.</a:t>
            </a:r>
          </a:p>
          <a:p>
            <a:endParaRPr lang="en-US"/>
          </a:p>
          <a:p>
            <a:r>
              <a:rPr lang="en-US"/>
              <a:t>   - Dependency Resolution: The state file is used to identify dependencies between resources, ensuring that Terraform applies changes in the correct order. This is crucial for consistent and predictable infrastructure modifications.</a:t>
            </a:r>
          </a:p>
          <a:p>
            <a:endParaRPr lang="en-US"/>
          </a:p>
          <a:p>
            <a:r>
              <a:rPr lang="en-US"/>
              <a:t>   - Resource ID Mapping: The state file contains mappings between resource names and provider-specific identifiers (e.g., AWS instance IDs). This mapping is necessary to manage and update existing resources.</a:t>
            </a:r>
          </a:p>
          <a:p>
            <a:endParaRPr lang="en-US"/>
          </a:p>
          <a:p>
            <a:r>
              <a:rPr lang="en-US"/>
              <a:t>   - Attribute Values: Terraform stores the values of resource attributes (e.g., IP addresses, security group IDs) in the state file. This allows Terraform to reference these values and use them in subsequent configurations.</a:t>
            </a:r>
          </a:p>
          <a:p>
            <a:endParaRPr lang="en-US"/>
          </a:p>
          <a:p>
            <a:r>
              <a:rPr lang="en-US"/>
              <a:t>   - Output Values: Output values defined in the Terraform configuration are also stored in the state file. These outputs can be used for various purposes, such as displaying resource information or referencing it in other configurations.</a:t>
            </a:r>
          </a:p>
          <a:p>
            <a:endParaRPr lang="en-US"/>
          </a:p>
          <a:p>
            <a:r>
              <a:rPr lang="en-US"/>
              <a:t>More on state management in the following lessons.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73</a:t>
            </a:fld>
            <a:endParaRPr lang="fr-FR"/>
          </a:p>
        </p:txBody>
      </p:sp>
    </p:spTree>
    <p:extLst>
      <p:ext uri="{BB962C8B-B14F-4D97-AF65-F5344CB8AC3E}">
        <p14:creationId xmlns:p14="http://schemas.microsoft.com/office/powerpoint/2010/main" val="24304172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Key Considerations:</a:t>
            </a:r>
          </a:p>
          <a:p>
            <a:endParaRPr lang="en-US"/>
          </a:p>
          <a:p>
            <a:r>
              <a:rPr lang="en-US"/>
              <a:t>Automatic Dependency Detection: Terraform automatically detects dependencies based on resource references and their relationships in the configuration.</a:t>
            </a:r>
          </a:p>
          <a:p>
            <a:endParaRPr lang="en-US"/>
          </a:p>
          <a:p>
            <a:r>
              <a:rPr lang="en-US"/>
              <a:t>Parallel Execution: Terraform takes advantage of parallelism whenever possible to optimize the provisioning process. Resources with no dependencies can be created or modified concurrently.</a:t>
            </a:r>
          </a:p>
          <a:p>
            <a:endParaRPr lang="en-US"/>
          </a:p>
          <a:p>
            <a:r>
              <a:rPr lang="en-US"/>
              <a:t>Safety Checks: </a:t>
            </a:r>
            <a:r>
              <a:rPr lang="en-US" err="1"/>
              <a:t>Terraform's</a:t>
            </a:r>
            <a:r>
              <a:rPr lang="en-US"/>
              <a:t> dependency resolution ensures that changes are applied in a safe manner. For example, it won't destroy resources that are still in use by other resources.</a:t>
            </a:r>
          </a:p>
          <a:p>
            <a:endParaRPr lang="en-US"/>
          </a:p>
          <a:p>
            <a:r>
              <a:rPr lang="en-US"/>
              <a:t>Resource Graph: Internally, Terraform uses a resource dependency graph to represent the relationships between resources. This graph guides the order of execution during planning and application phases.</a:t>
            </a:r>
          </a:p>
          <a:p>
            <a:endParaRPr lang="en-US"/>
          </a:p>
          <a:p>
            <a:r>
              <a:rPr lang="en-US"/>
              <a:t>The execution plan and dependency resolution mechanisms in Terraform work together to provide a clear and systematic approach to managing infrastructure changes. The execution plan outlines the actions to be taken, while dependency resolution ensures that these actions are carried out in the correct sequence to maintain a reliable and consistent infrastructure. These features contribute to </a:t>
            </a:r>
            <a:r>
              <a:rPr lang="en-US" err="1"/>
              <a:t>Terraform's</a:t>
            </a:r>
            <a:r>
              <a:rPr lang="en-US"/>
              <a:t> reputation as a robust and dependable infrastructure as code tool.</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74</a:t>
            </a:fld>
            <a:endParaRPr lang="fr-FR"/>
          </a:p>
        </p:txBody>
      </p:sp>
    </p:spTree>
    <p:extLst>
      <p:ext uri="{BB962C8B-B14F-4D97-AF65-F5344CB8AC3E}">
        <p14:creationId xmlns:p14="http://schemas.microsoft.com/office/powerpoint/2010/main" val="7567690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75</a:t>
            </a:fld>
            <a:endParaRPr lang="fr-FR"/>
          </a:p>
        </p:txBody>
      </p:sp>
    </p:spTree>
    <p:extLst>
      <p:ext uri="{BB962C8B-B14F-4D97-AF65-F5344CB8AC3E}">
        <p14:creationId xmlns:p14="http://schemas.microsoft.com/office/powerpoint/2010/main" val="19171313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76</a:t>
            </a:fld>
            <a:endParaRPr lang="fr-FR"/>
          </a:p>
        </p:txBody>
      </p:sp>
    </p:spTree>
    <p:extLst>
      <p:ext uri="{BB962C8B-B14F-4D97-AF65-F5344CB8AC3E}">
        <p14:creationId xmlns:p14="http://schemas.microsoft.com/office/powerpoint/2010/main" val="319532900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Providers:</a:t>
            </a:r>
          </a:p>
          <a:p>
            <a:r>
              <a:rPr lang="en-US"/>
              <a:t>   - Description: Providers are plugins that enable Terraform to interact with specific cloud or infrastructure platforms. Each provider offers resource types and data sources unique to its platform.</a:t>
            </a:r>
          </a:p>
          <a:p>
            <a:r>
              <a:rPr lang="en-US"/>
              <a:t>   - Usage: Developers include provider configurations in their Terraform files (e.g., AWS, Azure, Google Cloud) to define where resources will be provisioned.</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77</a:t>
            </a:fld>
            <a:endParaRPr lang="fr-FR"/>
          </a:p>
        </p:txBody>
      </p:sp>
    </p:spTree>
    <p:extLst>
      <p:ext uri="{BB962C8B-B14F-4D97-AF65-F5344CB8AC3E}">
        <p14:creationId xmlns:p14="http://schemas.microsoft.com/office/powerpoint/2010/main" val="74742650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Terraform Modules:</a:t>
            </a:r>
          </a:p>
          <a:p>
            <a:r>
              <a:rPr lang="en-US"/>
              <a:t>   - Description: Modules are reusable packages of Terraform configurations that encapsulate resources and can be used to create consistent infrastructure patterns.</a:t>
            </a:r>
          </a:p>
          <a:p>
            <a:r>
              <a:rPr lang="en-US"/>
              <a:t>   - Usage: Modules help organize and reuse infrastructure code. They can be authored and maintained separately, simplifying the creation of complex infrastructure.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78</a:t>
            </a:fld>
            <a:endParaRPr lang="fr-FR"/>
          </a:p>
        </p:txBody>
      </p:sp>
    </p:spTree>
    <p:extLst>
      <p:ext uri="{BB962C8B-B14F-4D97-AF65-F5344CB8AC3E}">
        <p14:creationId xmlns:p14="http://schemas.microsoft.com/office/powerpoint/2010/main" val="192687372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79</a:t>
            </a:fld>
            <a:endParaRPr lang="fr-FR"/>
          </a:p>
        </p:txBody>
      </p:sp>
    </p:spTree>
    <p:extLst>
      <p:ext uri="{BB962C8B-B14F-4D97-AF65-F5344CB8AC3E}">
        <p14:creationId xmlns:p14="http://schemas.microsoft.com/office/powerpoint/2010/main" val="213144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Terraform Cloud (Optional):</a:t>
            </a:r>
          </a:p>
          <a:p>
            <a:r>
              <a:rPr lang="en-US"/>
              <a:t>   - Description: Terraform Cloud is a remote collaboration and execution service provided by </a:t>
            </a:r>
            <a:r>
              <a:rPr lang="en-US" err="1"/>
              <a:t>HashiCorp</a:t>
            </a:r>
            <a:r>
              <a:rPr lang="en-US"/>
              <a:t>. It offers features like remote state storage, workspace management, and automated runs.</a:t>
            </a:r>
          </a:p>
          <a:p>
            <a:r>
              <a:rPr lang="en-US"/>
              <a:t>   - Usage: Organizations can use Terraform Cloud for centralized collaboration, remote state storage, and CI/CD integration, especially in team settings.</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80</a:t>
            </a:fld>
            <a:endParaRPr lang="fr-FR"/>
          </a:p>
        </p:txBody>
      </p:sp>
    </p:spTree>
    <p:extLst>
      <p:ext uri="{BB962C8B-B14F-4D97-AF65-F5344CB8AC3E}">
        <p14:creationId xmlns:p14="http://schemas.microsoft.com/office/powerpoint/2010/main" val="630529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Cloud Provider Console:</a:t>
            </a:r>
          </a:p>
          <a:p>
            <a:r>
              <a:rPr lang="en-US"/>
              <a:t>   - Description: The cloud provider console is the web-based management interface provided by cloud platforms like AWS, Azure, and Google Cloud. It allows users to interact with and manage cloud resources.</a:t>
            </a:r>
          </a:p>
          <a:p>
            <a:r>
              <a:rPr lang="en-US"/>
              <a:t>   - Usage: Administrators and operators may use the cloud provider console for additional resource management and monitoring beyond what Terraform can do.</a:t>
            </a:r>
          </a:p>
          <a:p>
            <a:endParaRPr lang="en-US"/>
          </a:p>
          <a:p>
            <a:r>
              <a:rPr lang="en-US"/>
              <a:t>IDE Integration:</a:t>
            </a:r>
          </a:p>
          <a:p>
            <a:r>
              <a:rPr lang="en-US"/>
              <a:t>   - Description: Integrated Development Environments (IDEs) like Visual Studio Code often offer Terraform extensions and plugins for code highlighting, autocompletion, and linting.</a:t>
            </a:r>
          </a:p>
          <a:p>
            <a:r>
              <a:rPr lang="en-US"/>
              <a:t>   - Usage: Developers use IDE integrations to streamline the authoring and editing of Terraform configuration files.</a:t>
            </a:r>
          </a:p>
          <a:p>
            <a:endParaRPr lang="en-US"/>
          </a:p>
          <a:p>
            <a:r>
              <a:rPr lang="en-US"/>
              <a:t>Version Control Systems (e.g., Git):</a:t>
            </a:r>
          </a:p>
          <a:p>
            <a:r>
              <a:rPr lang="en-US"/>
              <a:t>    - Description: Version control systems are used to track changes in Terraform configurations, enabling collaboration, change tracking, and rollbacks.</a:t>
            </a:r>
          </a:p>
          <a:p>
            <a:r>
              <a:rPr lang="en-US"/>
              <a:t>    - Usage: Developers and teams use Git to manage and version their Terraform codebase.</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81</a:t>
            </a:fld>
            <a:endParaRPr lang="fr-FR"/>
          </a:p>
        </p:txBody>
      </p:sp>
    </p:spTree>
    <p:extLst>
      <p:ext uri="{BB962C8B-B14F-4D97-AF65-F5344CB8AC3E}">
        <p14:creationId xmlns:p14="http://schemas.microsoft.com/office/powerpoint/2010/main" val="4610644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82</a:t>
            </a:fld>
            <a:endParaRPr lang="fr-FR"/>
          </a:p>
        </p:txBody>
      </p:sp>
    </p:spTree>
    <p:extLst>
      <p:ext uri="{BB962C8B-B14F-4D97-AF65-F5344CB8AC3E}">
        <p14:creationId xmlns:p14="http://schemas.microsoft.com/office/powerpoint/2010/main" val="5238875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83</a:t>
            </a:fld>
            <a:endParaRPr lang="fr-FR"/>
          </a:p>
        </p:txBody>
      </p:sp>
    </p:spTree>
    <p:extLst>
      <p:ext uri="{BB962C8B-B14F-4D97-AF65-F5344CB8AC3E}">
        <p14:creationId xmlns:p14="http://schemas.microsoft.com/office/powerpoint/2010/main" val="19404681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Lecture title">
    <p:bg>
      <p:bgPr>
        <a:solidFill>
          <a:srgbClr val="3D2683"/>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E35FED-2507-6347-9B57-3FF5AFCD8EC9}"/>
              </a:ext>
            </a:extLst>
          </p:cNvPr>
          <p:cNvSpPr>
            <a:spLocks noGrp="1"/>
          </p:cNvSpPr>
          <p:nvPr>
            <p:ph type="ctrTitle" hasCustomPrompt="1"/>
          </p:nvPr>
        </p:nvSpPr>
        <p:spPr>
          <a:xfrm>
            <a:off x="1524000" y="1122363"/>
            <a:ext cx="9144000" cy="2387600"/>
          </a:xfrm>
          <a:prstGeom prst="rect">
            <a:avLst/>
          </a:prstGeom>
        </p:spPr>
        <p:txBody>
          <a:bodyPr anchor="b"/>
          <a:lstStyle>
            <a:lvl1pPr algn="ctr">
              <a:defRPr sz="6000">
                <a:solidFill>
                  <a:schemeClr val="bg1"/>
                </a:solidFill>
              </a:defRPr>
            </a:lvl1pPr>
          </a:lstStyle>
          <a:p>
            <a:r>
              <a:rPr lang="en-US" noProof="0"/>
              <a:t>Lecture title</a:t>
            </a:r>
          </a:p>
        </p:txBody>
      </p:sp>
      <p:sp>
        <p:nvSpPr>
          <p:cNvPr id="3" name="Sous-titre 2">
            <a:extLst>
              <a:ext uri="{FF2B5EF4-FFF2-40B4-BE49-F238E27FC236}">
                <a16:creationId xmlns:a16="http://schemas.microsoft.com/office/drawing/2014/main" id="{DAD8B847-1B82-BE49-A9A7-C3023CD2D5C9}"/>
              </a:ext>
            </a:extLst>
          </p:cNvPr>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Course Name</a:t>
            </a:r>
          </a:p>
        </p:txBody>
      </p:sp>
      <p:pic>
        <p:nvPicPr>
          <p:cNvPr id="7" name="Image 6">
            <a:extLst>
              <a:ext uri="{FF2B5EF4-FFF2-40B4-BE49-F238E27FC236}">
                <a16:creationId xmlns:a16="http://schemas.microsoft.com/office/drawing/2014/main" id="{EC7D63E0-5705-23E4-9223-C7EC73F93C4E}"/>
              </a:ext>
            </a:extLst>
          </p:cNvPr>
          <p:cNvPicPr>
            <a:picLocks noChangeAspect="1"/>
          </p:cNvPicPr>
          <p:nvPr userDrawn="1"/>
        </p:nvPicPr>
        <p:blipFill>
          <a:blip r:embed="rId2"/>
          <a:stretch>
            <a:fillRect/>
          </a:stretch>
        </p:blipFill>
        <p:spPr>
          <a:xfrm>
            <a:off x="10753200" y="5454000"/>
            <a:ext cx="1080000" cy="1080000"/>
          </a:xfrm>
          <a:prstGeom prst="rect">
            <a:avLst/>
          </a:prstGeom>
        </p:spPr>
      </p:pic>
    </p:spTree>
    <p:extLst>
      <p:ext uri="{BB962C8B-B14F-4D97-AF65-F5344CB8AC3E}">
        <p14:creationId xmlns:p14="http://schemas.microsoft.com/office/powerpoint/2010/main" val="264140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bg>
      <p:bgPr>
        <a:solidFill>
          <a:srgbClr val="3D2683"/>
        </a:solidFill>
        <a:effectLst/>
      </p:bgPr>
    </p:bg>
    <p:spTree>
      <p:nvGrpSpPr>
        <p:cNvPr id="1" name=""/>
        <p:cNvGrpSpPr/>
        <p:nvPr/>
      </p:nvGrpSpPr>
      <p:grpSpPr>
        <a:xfrm>
          <a:off x="0" y="0"/>
          <a:ext cx="0" cy="0"/>
          <a:chOff x="0" y="0"/>
          <a:chExt cx="0" cy="0"/>
        </a:xfrm>
      </p:grpSpPr>
      <p:pic>
        <p:nvPicPr>
          <p:cNvPr id="8" name="Graphique 7" descr="Menu avec un remplissage uni">
            <a:extLst>
              <a:ext uri="{FF2B5EF4-FFF2-40B4-BE49-F238E27FC236}">
                <a16:creationId xmlns:a16="http://schemas.microsoft.com/office/drawing/2014/main" id="{6A612DC0-9BAA-7241-FF6D-0BB72E89A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40000" y="5040000"/>
            <a:ext cx="1080000" cy="1080000"/>
          </a:xfrm>
          <a:prstGeom prst="rect">
            <a:avLst/>
          </a:prstGeom>
        </p:spPr>
      </p:pic>
      <p:sp>
        <p:nvSpPr>
          <p:cNvPr id="2" name="Espace réservé du texte 16">
            <a:extLst>
              <a:ext uri="{FF2B5EF4-FFF2-40B4-BE49-F238E27FC236}">
                <a16:creationId xmlns:a16="http://schemas.microsoft.com/office/drawing/2014/main" id="{43A07EE0-044C-8744-BB44-5D91F7B73045}"/>
              </a:ext>
            </a:extLst>
          </p:cNvPr>
          <p:cNvSpPr>
            <a:spLocks noGrp="1"/>
          </p:cNvSpPr>
          <p:nvPr>
            <p:ph type="body" sz="quarter" idx="10" hasCustomPrompt="1"/>
          </p:nvPr>
        </p:nvSpPr>
        <p:spPr>
          <a:xfrm>
            <a:off x="831850" y="396327"/>
            <a:ext cx="10688150" cy="914400"/>
          </a:xfrm>
        </p:spPr>
        <p:txBody>
          <a:bodyPr>
            <a:normAutofit/>
          </a:bodyPr>
          <a:lstStyle>
            <a:lvl1pPr>
              <a:defRPr lang="fr-FR" sz="3200" i="1" smtClean="0">
                <a:solidFill>
                  <a:schemeClr val="bg1"/>
                </a:solidFill>
                <a:latin typeface="+mj-lt"/>
                <a:ea typeface="+mj-ea"/>
                <a:cs typeface="+mj-cs"/>
              </a:defRPr>
            </a:lvl1pPr>
            <a:lvl2pPr>
              <a:defRPr lang="fr-FR" sz="1800" smtClean="0"/>
            </a:lvl2pPr>
            <a:lvl3pPr>
              <a:defRPr lang="fr-FR" sz="1800" smtClean="0"/>
            </a:lvl3pPr>
            <a:lvl4pPr>
              <a:defRPr lang="fr-FR" smtClean="0"/>
            </a:lvl4pPr>
            <a:lvl5pPr>
              <a:defRPr lang="en-US"/>
            </a:lvl5pPr>
          </a:lstStyle>
          <a:p>
            <a:pPr marL="0" lvl="0" algn="ctr">
              <a:spcBef>
                <a:spcPct val="0"/>
              </a:spcBef>
              <a:buNone/>
            </a:pPr>
            <a:r>
              <a:rPr lang="en-US" noProof="0" dirty="0"/>
              <a:t>Summary</a:t>
            </a:r>
          </a:p>
        </p:txBody>
      </p:sp>
      <p:sp>
        <p:nvSpPr>
          <p:cNvPr id="3" name="Espace réservé du texte 18">
            <a:extLst>
              <a:ext uri="{FF2B5EF4-FFF2-40B4-BE49-F238E27FC236}">
                <a16:creationId xmlns:a16="http://schemas.microsoft.com/office/drawing/2014/main" id="{7023B183-7C64-4236-1FC6-B1766351D210}"/>
              </a:ext>
            </a:extLst>
          </p:cNvPr>
          <p:cNvSpPr>
            <a:spLocks noGrp="1"/>
          </p:cNvSpPr>
          <p:nvPr>
            <p:ph type="body" sz="quarter" idx="11" hasCustomPrompt="1"/>
          </p:nvPr>
        </p:nvSpPr>
        <p:spPr>
          <a:xfrm>
            <a:off x="844550" y="2559496"/>
            <a:ext cx="10688150" cy="3560504"/>
          </a:xfrm>
        </p:spPr>
        <p:txBody>
          <a:bodyPr>
            <a:normAutofit/>
          </a:bodyPr>
          <a:lstStyle>
            <a:lvl1pPr>
              <a:defRPr lang="fr-FR" sz="3600" dirty="0" smtClean="0">
                <a:solidFill>
                  <a:schemeClr val="bg1"/>
                </a:solidFill>
                <a:latin typeface="+mj-lt"/>
                <a:ea typeface="+mj-ea"/>
                <a:cs typeface="+mj-cs"/>
              </a:defRPr>
            </a:lvl1pPr>
            <a:lvl2pPr>
              <a:defRPr lang="fr-FR" sz="1800" dirty="0" smtClean="0">
                <a:solidFill>
                  <a:schemeClr val="bg1"/>
                </a:solidFill>
              </a:defRPr>
            </a:lvl2pPr>
            <a:lvl3pPr>
              <a:defRPr lang="fr-FR" sz="1800" dirty="0" smtClean="0">
                <a:solidFill>
                  <a:schemeClr val="bg1"/>
                </a:solidFill>
              </a:defRPr>
            </a:lvl3pPr>
            <a:lvl4pPr>
              <a:defRPr lang="fr-FR" dirty="0" smtClean="0">
                <a:solidFill>
                  <a:schemeClr val="bg1"/>
                </a:solidFill>
              </a:defRPr>
            </a:lvl4pPr>
            <a:lvl5pPr>
              <a:defRPr lang="en-US" dirty="0">
                <a:solidFill>
                  <a:schemeClr val="bg1"/>
                </a:solidFill>
              </a:defRPr>
            </a:lvl5pPr>
          </a:lstStyle>
          <a:p>
            <a:pPr marL="742950" lvl="0" indent="-742950">
              <a:spcBef>
                <a:spcPct val="0"/>
              </a:spcBef>
              <a:buAutoNum type="arabicPeriod"/>
            </a:pPr>
            <a:r>
              <a:rPr lang="en-US" noProof="0" dirty="0"/>
              <a:t>Chapter 1</a:t>
            </a:r>
          </a:p>
          <a:p>
            <a:pPr marL="742950" lvl="0" indent="-742950">
              <a:spcBef>
                <a:spcPct val="0"/>
              </a:spcBef>
              <a:buAutoNum type="arabicPeriod"/>
            </a:pPr>
            <a:r>
              <a:rPr lang="en-US" noProof="0" dirty="0"/>
              <a:t>Chapter 2</a:t>
            </a:r>
          </a:p>
        </p:txBody>
      </p:sp>
    </p:spTree>
    <p:extLst>
      <p:ext uri="{BB962C8B-B14F-4D97-AF65-F5344CB8AC3E}">
        <p14:creationId xmlns:p14="http://schemas.microsoft.com/office/powerpoint/2010/main" val="2310446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title">
    <p:bg>
      <p:bgPr>
        <a:solidFill>
          <a:srgbClr val="3D2683"/>
        </a:solidFill>
        <a:effectLst/>
      </p:bgPr>
    </p:bg>
    <p:spTree>
      <p:nvGrpSpPr>
        <p:cNvPr id="1" name=""/>
        <p:cNvGrpSpPr/>
        <p:nvPr/>
      </p:nvGrpSpPr>
      <p:grpSpPr>
        <a:xfrm>
          <a:off x="0" y="0"/>
          <a:ext cx="0" cy="0"/>
          <a:chOff x="0" y="0"/>
          <a:chExt cx="0" cy="0"/>
        </a:xfrm>
      </p:grpSpPr>
      <p:sp>
        <p:nvSpPr>
          <p:cNvPr id="2" name="Espace réservé du texte 9">
            <a:extLst>
              <a:ext uri="{FF2B5EF4-FFF2-40B4-BE49-F238E27FC236}">
                <a16:creationId xmlns:a16="http://schemas.microsoft.com/office/drawing/2014/main" id="{D91D57AC-C4F7-1020-1370-E36014B9CA35}"/>
              </a:ext>
            </a:extLst>
          </p:cNvPr>
          <p:cNvSpPr>
            <a:spLocks noGrp="1"/>
          </p:cNvSpPr>
          <p:nvPr>
            <p:ph type="body" sz="quarter" idx="10" hasCustomPrompt="1"/>
          </p:nvPr>
        </p:nvSpPr>
        <p:spPr>
          <a:xfrm>
            <a:off x="844550" y="1786740"/>
            <a:ext cx="10515600" cy="2851200"/>
          </a:xfrm>
        </p:spPr>
        <p:txBody>
          <a:bodyPr anchor="b" anchorCtr="0">
            <a:normAutofit lnSpcReduction="10000"/>
          </a:bodyPr>
          <a:lstStyle>
            <a:lvl1pPr marL="0" indent="0">
              <a:buNone/>
              <a:defRPr lang="fr-FR" sz="5400" dirty="0" smtClean="0">
                <a:solidFill>
                  <a:schemeClr val="bg1"/>
                </a:solidFill>
                <a:latin typeface="+mj-lt"/>
                <a:ea typeface="+mj-ea"/>
                <a:cs typeface="+mj-cs"/>
              </a:defRPr>
            </a:lvl1pPr>
            <a:lvl2pPr>
              <a:defRPr lang="fr-FR" sz="2800" dirty="0" smtClean="0">
                <a:solidFill>
                  <a:schemeClr val="bg1"/>
                </a:solidFill>
              </a:defRPr>
            </a:lvl2pPr>
            <a:lvl3pPr>
              <a:defRPr lang="fr-FR" sz="1800" dirty="0" smtClean="0">
                <a:solidFill>
                  <a:schemeClr val="bg1"/>
                </a:solidFill>
              </a:defRPr>
            </a:lvl3pPr>
            <a:lvl4pPr>
              <a:defRPr lang="fr-FR" dirty="0" smtClean="0">
                <a:solidFill>
                  <a:schemeClr val="bg1"/>
                </a:solidFill>
              </a:defRPr>
            </a:lvl4pPr>
            <a:lvl5pPr>
              <a:defRPr lang="en-US" dirty="0">
                <a:solidFill>
                  <a:schemeClr val="bg1"/>
                </a:solidFill>
              </a:defRPr>
            </a:lvl5pPr>
          </a:lstStyle>
          <a:p>
            <a:pPr marL="914400" lvl="0" indent="-914400">
              <a:spcBef>
                <a:spcPct val="0"/>
              </a:spcBef>
              <a:buAutoNum type="arabicPeriod"/>
            </a:pPr>
            <a:r>
              <a:rPr lang="en-US" noProof="0" dirty="0"/>
              <a:t>Chapter title</a:t>
            </a:r>
          </a:p>
        </p:txBody>
      </p:sp>
    </p:spTree>
    <p:extLst>
      <p:ext uri="{BB962C8B-B14F-4D97-AF65-F5344CB8AC3E}">
        <p14:creationId xmlns:p14="http://schemas.microsoft.com/office/powerpoint/2010/main" val="1234051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C3841B2-2299-484D-98D4-2509FDD87321}"/>
              </a:ext>
            </a:extLst>
          </p:cNvPr>
          <p:cNvSpPr>
            <a:spLocks noGrp="1"/>
          </p:cNvSpPr>
          <p:nvPr>
            <p:ph idx="1"/>
          </p:nvPr>
        </p:nvSpPr>
        <p:spPr>
          <a:xfrm>
            <a:off x="838200" y="2176669"/>
            <a:ext cx="10515600" cy="4000293"/>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e la date 3">
            <a:extLst>
              <a:ext uri="{FF2B5EF4-FFF2-40B4-BE49-F238E27FC236}">
                <a16:creationId xmlns:a16="http://schemas.microsoft.com/office/drawing/2014/main" id="{557F3535-31CB-2243-9FD7-D6385CE3DE0D}"/>
              </a:ext>
            </a:extLst>
          </p:cNvPr>
          <p:cNvSpPr>
            <a:spLocks noGrp="1"/>
          </p:cNvSpPr>
          <p:nvPr>
            <p:ph type="dt" sz="half" idx="10"/>
          </p:nvPr>
        </p:nvSpPr>
        <p:spPr/>
        <p:txBody>
          <a:bodyPr/>
          <a:lstStyle/>
          <a:p>
            <a:fld id="{760B14F5-1D21-F14F-B36B-BCA0A34A15FF}" type="datetimeFigureOut">
              <a:rPr lang="en-US" noProof="0" smtClean="0"/>
              <a:t>8/16/2026</a:t>
            </a:fld>
            <a:endParaRPr lang="en-US" noProof="0"/>
          </a:p>
        </p:txBody>
      </p:sp>
      <p:sp>
        <p:nvSpPr>
          <p:cNvPr id="5" name="Espace réservé du pied de page 4">
            <a:extLst>
              <a:ext uri="{FF2B5EF4-FFF2-40B4-BE49-F238E27FC236}">
                <a16:creationId xmlns:a16="http://schemas.microsoft.com/office/drawing/2014/main" id="{B1828F9A-0BE6-2040-B200-CA9AD150D7E1}"/>
              </a:ext>
            </a:extLst>
          </p:cNvPr>
          <p:cNvSpPr>
            <a:spLocks noGrp="1"/>
          </p:cNvSpPr>
          <p:nvPr>
            <p:ph type="ftr" sz="quarter" idx="11"/>
          </p:nvPr>
        </p:nvSpPr>
        <p:spPr/>
        <p:txBody>
          <a:bodyPr/>
          <a:lstStyle/>
          <a:p>
            <a:r>
              <a:rPr lang="en-US" noProof="0"/>
              <a:t>Course title</a:t>
            </a:r>
          </a:p>
        </p:txBody>
      </p:sp>
      <p:sp>
        <p:nvSpPr>
          <p:cNvPr id="6" name="Espace réservé du numéro de diapositive 5">
            <a:extLst>
              <a:ext uri="{FF2B5EF4-FFF2-40B4-BE49-F238E27FC236}">
                <a16:creationId xmlns:a16="http://schemas.microsoft.com/office/drawing/2014/main" id="{B553960E-7BA0-5744-B871-2625A924609E}"/>
              </a:ext>
            </a:extLst>
          </p:cNvPr>
          <p:cNvSpPr>
            <a:spLocks noGrp="1"/>
          </p:cNvSpPr>
          <p:nvPr>
            <p:ph type="sldNum" sz="quarter" idx="12"/>
          </p:nvPr>
        </p:nvSpPr>
        <p:spPr/>
        <p:txBody>
          <a:bodyPr/>
          <a:lstStyle/>
          <a:p>
            <a:fld id="{075FE8A8-8232-1F4D-846D-4EBDDCE93EEF}" type="slidenum">
              <a:rPr lang="en-US" noProof="0" smtClean="0"/>
              <a:t>‹#›</a:t>
            </a:fld>
            <a:endParaRPr lang="en-US" noProof="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6660FFC0-CE37-D2DA-C64C-88282943FAF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texte 14">
            <a:extLst>
              <a:ext uri="{FF2B5EF4-FFF2-40B4-BE49-F238E27FC236}">
                <a16:creationId xmlns:a16="http://schemas.microsoft.com/office/drawing/2014/main" id="{1CBCEF23-0CBA-1770-DAC7-928349B3A95A}"/>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7" name="Espace réservé du texte 18">
            <a:extLst>
              <a:ext uri="{FF2B5EF4-FFF2-40B4-BE49-F238E27FC236}">
                <a16:creationId xmlns:a16="http://schemas.microsoft.com/office/drawing/2014/main" id="{722D75D0-2F96-A6F3-E7ED-20E4539A02CE}"/>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1697491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slide - two column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E052425-B188-F44E-AE00-4A68E5EA4397}"/>
              </a:ext>
            </a:extLst>
          </p:cNvPr>
          <p:cNvSpPr>
            <a:spLocks noGrp="1"/>
          </p:cNvSpPr>
          <p:nvPr>
            <p:ph sz="half" idx="1"/>
          </p:nvPr>
        </p:nvSpPr>
        <p:spPr>
          <a:xfrm>
            <a:off x="838200" y="2176669"/>
            <a:ext cx="5181600" cy="4000294"/>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u contenu 3">
            <a:extLst>
              <a:ext uri="{FF2B5EF4-FFF2-40B4-BE49-F238E27FC236}">
                <a16:creationId xmlns:a16="http://schemas.microsoft.com/office/drawing/2014/main" id="{FC1B7208-E02E-5B44-B5B0-8F7E4329BF93}"/>
              </a:ext>
            </a:extLst>
          </p:cNvPr>
          <p:cNvSpPr>
            <a:spLocks noGrp="1"/>
          </p:cNvSpPr>
          <p:nvPr>
            <p:ph sz="half" idx="2"/>
          </p:nvPr>
        </p:nvSpPr>
        <p:spPr>
          <a:xfrm>
            <a:off x="6172200" y="2176667"/>
            <a:ext cx="5181600" cy="4000295"/>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5" name="Espace réservé de la date 4">
            <a:extLst>
              <a:ext uri="{FF2B5EF4-FFF2-40B4-BE49-F238E27FC236}">
                <a16:creationId xmlns:a16="http://schemas.microsoft.com/office/drawing/2014/main" id="{86479033-F7B2-3340-AA42-C9315CC63A98}"/>
              </a:ext>
            </a:extLst>
          </p:cNvPr>
          <p:cNvSpPr>
            <a:spLocks noGrp="1"/>
          </p:cNvSpPr>
          <p:nvPr>
            <p:ph type="dt" sz="half" idx="10"/>
          </p:nvPr>
        </p:nvSpPr>
        <p:spPr/>
        <p:txBody>
          <a:bodyPr/>
          <a:lstStyle/>
          <a:p>
            <a:fld id="{760B14F5-1D21-F14F-B36B-BCA0A34A15FF}" type="datetimeFigureOut">
              <a:rPr lang="en-US" noProof="0" smtClean="0"/>
              <a:t>8/16/2026</a:t>
            </a:fld>
            <a:endParaRPr lang="en-US" noProof="0"/>
          </a:p>
        </p:txBody>
      </p:sp>
      <p:sp>
        <p:nvSpPr>
          <p:cNvPr id="6" name="Espace réservé du pied de page 5">
            <a:extLst>
              <a:ext uri="{FF2B5EF4-FFF2-40B4-BE49-F238E27FC236}">
                <a16:creationId xmlns:a16="http://schemas.microsoft.com/office/drawing/2014/main" id="{9BC51178-4562-B14F-81E9-EEB57190DED2}"/>
              </a:ext>
            </a:extLst>
          </p:cNvPr>
          <p:cNvSpPr>
            <a:spLocks noGrp="1"/>
          </p:cNvSpPr>
          <p:nvPr>
            <p:ph type="ftr" sz="quarter" idx="11"/>
          </p:nvPr>
        </p:nvSpPr>
        <p:spPr/>
        <p:txBody>
          <a:bodyPr/>
          <a:lstStyle/>
          <a:p>
            <a:endParaRPr lang="en-US" noProof="0"/>
          </a:p>
        </p:txBody>
      </p:sp>
      <p:sp>
        <p:nvSpPr>
          <p:cNvPr id="7" name="Espace réservé du numéro de diapositive 6">
            <a:extLst>
              <a:ext uri="{FF2B5EF4-FFF2-40B4-BE49-F238E27FC236}">
                <a16:creationId xmlns:a16="http://schemas.microsoft.com/office/drawing/2014/main" id="{BECB1059-2BD2-DE48-8A78-A1F0952EFC47}"/>
              </a:ext>
            </a:extLst>
          </p:cNvPr>
          <p:cNvSpPr>
            <a:spLocks noGrp="1"/>
          </p:cNvSpPr>
          <p:nvPr>
            <p:ph type="sldNum" sz="quarter" idx="12"/>
          </p:nvPr>
        </p:nvSpPr>
        <p:spPr/>
        <p:txBody>
          <a:bodyPr/>
          <a:lstStyle/>
          <a:p>
            <a:fld id="{075FE8A8-8232-1F4D-846D-4EBDDCE93EEF}" type="slidenum">
              <a:rPr lang="en-US" noProof="0" smtClean="0"/>
              <a:t>‹#›</a:t>
            </a:fld>
            <a:endParaRPr lang="en-US" noProof="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A92302A2-2F30-4395-7531-E36188D0A2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4" name="Espace réservé du texte 14">
            <a:extLst>
              <a:ext uri="{FF2B5EF4-FFF2-40B4-BE49-F238E27FC236}">
                <a16:creationId xmlns:a16="http://schemas.microsoft.com/office/drawing/2014/main" id="{1CCD0D53-B6A8-F19A-90D8-BB615B020703}"/>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5" name="Espace réservé du texte 18">
            <a:extLst>
              <a:ext uri="{FF2B5EF4-FFF2-40B4-BE49-F238E27FC236}">
                <a16:creationId xmlns:a16="http://schemas.microsoft.com/office/drawing/2014/main" id="{39628C7C-5050-F3BB-3DD1-A7C9629DCAB7}"/>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3413048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slide - empty">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1AC96ECA-9486-6E4B-B4BC-7E76B34EFF98}"/>
              </a:ext>
            </a:extLst>
          </p:cNvPr>
          <p:cNvSpPr>
            <a:spLocks noGrp="1"/>
          </p:cNvSpPr>
          <p:nvPr>
            <p:ph type="dt" sz="half" idx="10"/>
          </p:nvPr>
        </p:nvSpPr>
        <p:spPr/>
        <p:txBody>
          <a:bodyPr/>
          <a:lstStyle/>
          <a:p>
            <a:fld id="{760B14F5-1D21-F14F-B36B-BCA0A34A15FF}" type="datetimeFigureOut">
              <a:rPr lang="en-US" noProof="0" smtClean="0"/>
              <a:t>8/16/2026</a:t>
            </a:fld>
            <a:endParaRPr lang="en-US" noProof="0"/>
          </a:p>
        </p:txBody>
      </p:sp>
      <p:sp>
        <p:nvSpPr>
          <p:cNvPr id="4" name="Espace réservé du pied de page 3">
            <a:extLst>
              <a:ext uri="{FF2B5EF4-FFF2-40B4-BE49-F238E27FC236}">
                <a16:creationId xmlns:a16="http://schemas.microsoft.com/office/drawing/2014/main" id="{B8B4D8AF-4BB6-934B-A379-CBF84C9A4121}"/>
              </a:ext>
            </a:extLst>
          </p:cNvPr>
          <p:cNvSpPr>
            <a:spLocks noGrp="1"/>
          </p:cNvSpPr>
          <p:nvPr>
            <p:ph type="ftr" sz="quarter" idx="11"/>
          </p:nvPr>
        </p:nvSpPr>
        <p:spPr/>
        <p:txBody>
          <a:bodyPr/>
          <a:lstStyle/>
          <a:p>
            <a:endParaRPr lang="en-US" noProof="0"/>
          </a:p>
        </p:txBody>
      </p:sp>
      <p:sp>
        <p:nvSpPr>
          <p:cNvPr id="5" name="Espace réservé du numéro de diapositive 4">
            <a:extLst>
              <a:ext uri="{FF2B5EF4-FFF2-40B4-BE49-F238E27FC236}">
                <a16:creationId xmlns:a16="http://schemas.microsoft.com/office/drawing/2014/main" id="{0F8E009D-38CE-D34C-82BA-3182CA4F15F6}"/>
              </a:ext>
            </a:extLst>
          </p:cNvPr>
          <p:cNvSpPr>
            <a:spLocks noGrp="1"/>
          </p:cNvSpPr>
          <p:nvPr>
            <p:ph type="sldNum" sz="quarter" idx="12"/>
          </p:nvPr>
        </p:nvSpPr>
        <p:spPr/>
        <p:txBody>
          <a:bodyPr/>
          <a:lstStyle/>
          <a:p>
            <a:fld id="{075FE8A8-8232-1F4D-846D-4EBDDCE93EEF}" type="slidenum">
              <a:rPr lang="en-US" noProof="0" smtClean="0"/>
              <a:t>‹#›</a:t>
            </a:fld>
            <a:endParaRPr lang="en-US" noProof="0"/>
          </a:p>
        </p:txBody>
      </p:sp>
      <p:pic>
        <p:nvPicPr>
          <p:cNvPr id="8" name="Picture 4" descr="Le Groupe IONIS renforce son leadership dans les formations tech avec la  reprise de Supinfo - Newsroom IONIS Group">
            <a:extLst>
              <a:ext uri="{FF2B5EF4-FFF2-40B4-BE49-F238E27FC236}">
                <a16:creationId xmlns:a16="http://schemas.microsoft.com/office/drawing/2014/main" id="{BFB9A735-A638-52B7-D68B-A96CEE779EC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3" name="Espace réservé du texte 14">
            <a:extLst>
              <a:ext uri="{FF2B5EF4-FFF2-40B4-BE49-F238E27FC236}">
                <a16:creationId xmlns:a16="http://schemas.microsoft.com/office/drawing/2014/main" id="{30ABB380-A5C2-B98F-AC5D-2B66EA3EA713}"/>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4" name="Espace réservé du texte 18">
            <a:extLst>
              <a:ext uri="{FF2B5EF4-FFF2-40B4-BE49-F238E27FC236}">
                <a16:creationId xmlns:a16="http://schemas.microsoft.com/office/drawing/2014/main" id="{DE53F5EF-F998-643E-58EE-4D0B72403D74}"/>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2585514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844418-3E68-CA4E-AC8C-9D66D9255062}"/>
              </a:ext>
            </a:extLst>
          </p:cNvPr>
          <p:cNvSpPr>
            <a:spLocks noGrp="1"/>
          </p:cNvSpPr>
          <p:nvPr>
            <p:ph type="dt" sz="half" idx="10"/>
          </p:nvPr>
        </p:nvSpPr>
        <p:spPr/>
        <p:txBody>
          <a:bodyPr/>
          <a:lstStyle/>
          <a:p>
            <a:fld id="{760B14F5-1D21-F14F-B36B-BCA0A34A15FF}" type="datetimeFigureOut">
              <a:rPr lang="en-US" noProof="0" smtClean="0"/>
              <a:t>8/16/2026</a:t>
            </a:fld>
            <a:endParaRPr lang="en-US" noProof="0"/>
          </a:p>
        </p:txBody>
      </p:sp>
      <p:sp>
        <p:nvSpPr>
          <p:cNvPr id="3" name="Espace réservé du pied de page 2">
            <a:extLst>
              <a:ext uri="{FF2B5EF4-FFF2-40B4-BE49-F238E27FC236}">
                <a16:creationId xmlns:a16="http://schemas.microsoft.com/office/drawing/2014/main" id="{ACD285BC-A399-C24D-9863-55D71A825557}"/>
              </a:ext>
            </a:extLst>
          </p:cNvPr>
          <p:cNvSpPr>
            <a:spLocks noGrp="1"/>
          </p:cNvSpPr>
          <p:nvPr>
            <p:ph type="ftr" sz="quarter" idx="11"/>
          </p:nvPr>
        </p:nvSpPr>
        <p:spPr/>
        <p:txBody>
          <a:bodyPr/>
          <a:lstStyle/>
          <a:p>
            <a:endParaRPr lang="en-US" noProof="0"/>
          </a:p>
        </p:txBody>
      </p:sp>
      <p:sp>
        <p:nvSpPr>
          <p:cNvPr id="4" name="Espace réservé du numéro de diapositive 3">
            <a:extLst>
              <a:ext uri="{FF2B5EF4-FFF2-40B4-BE49-F238E27FC236}">
                <a16:creationId xmlns:a16="http://schemas.microsoft.com/office/drawing/2014/main" id="{9BBC877D-0D91-8442-9A72-AF3420B94651}"/>
              </a:ext>
            </a:extLst>
          </p:cNvPr>
          <p:cNvSpPr>
            <a:spLocks noGrp="1"/>
          </p:cNvSpPr>
          <p:nvPr>
            <p:ph type="sldNum" sz="quarter" idx="12"/>
          </p:nvPr>
        </p:nvSpPr>
        <p:spPr/>
        <p:txBody>
          <a:bodyPr/>
          <a:lstStyle/>
          <a:p>
            <a:fld id="{075FE8A8-8232-1F4D-846D-4EBDDCE93EEF}" type="slidenum">
              <a:rPr lang="en-US" noProof="0" smtClean="0"/>
              <a:t>‹#›</a:t>
            </a:fld>
            <a:endParaRPr lang="en-US" noProof="0"/>
          </a:p>
        </p:txBody>
      </p:sp>
      <p:pic>
        <p:nvPicPr>
          <p:cNvPr id="5" name="Picture 4" descr="Le Groupe IONIS renforce son leadership dans les formations tech avec la  reprise de Supinfo - Newsroom IONIS Group">
            <a:extLst>
              <a:ext uri="{FF2B5EF4-FFF2-40B4-BE49-F238E27FC236}">
                <a16:creationId xmlns:a16="http://schemas.microsoft.com/office/drawing/2014/main" id="{4DADE6D4-7698-3109-FF0C-06AFA9253A2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73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slide - Side content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1A9CD95-5780-714B-A453-63A2F3456E7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u texte 3">
            <a:extLst>
              <a:ext uri="{FF2B5EF4-FFF2-40B4-BE49-F238E27FC236}">
                <a16:creationId xmlns:a16="http://schemas.microsoft.com/office/drawing/2014/main" id="{D2D7CA0C-E415-F14F-9EF8-44A9C7CBEDA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noProof="0"/>
              <a:t>Cliquez pour modifier les styles du texte du masque</a:t>
            </a:r>
          </a:p>
        </p:txBody>
      </p:sp>
      <p:sp>
        <p:nvSpPr>
          <p:cNvPr id="5" name="Espace réservé de la date 4">
            <a:extLst>
              <a:ext uri="{FF2B5EF4-FFF2-40B4-BE49-F238E27FC236}">
                <a16:creationId xmlns:a16="http://schemas.microsoft.com/office/drawing/2014/main" id="{22697766-D919-5247-A55B-2A12BA74BE2E}"/>
              </a:ext>
            </a:extLst>
          </p:cNvPr>
          <p:cNvSpPr>
            <a:spLocks noGrp="1"/>
          </p:cNvSpPr>
          <p:nvPr>
            <p:ph type="dt" sz="half" idx="10"/>
          </p:nvPr>
        </p:nvSpPr>
        <p:spPr/>
        <p:txBody>
          <a:bodyPr/>
          <a:lstStyle/>
          <a:p>
            <a:fld id="{760B14F5-1D21-F14F-B36B-BCA0A34A15FF}" type="datetimeFigureOut">
              <a:rPr lang="en-US" noProof="0" smtClean="0"/>
              <a:t>8/16/2026</a:t>
            </a:fld>
            <a:endParaRPr lang="en-US" noProof="0"/>
          </a:p>
        </p:txBody>
      </p:sp>
      <p:sp>
        <p:nvSpPr>
          <p:cNvPr id="6" name="Espace réservé du pied de page 5">
            <a:extLst>
              <a:ext uri="{FF2B5EF4-FFF2-40B4-BE49-F238E27FC236}">
                <a16:creationId xmlns:a16="http://schemas.microsoft.com/office/drawing/2014/main" id="{DFB77295-5D11-2841-AC5B-84946CEA3BB6}"/>
              </a:ext>
            </a:extLst>
          </p:cNvPr>
          <p:cNvSpPr>
            <a:spLocks noGrp="1"/>
          </p:cNvSpPr>
          <p:nvPr>
            <p:ph type="ftr" sz="quarter" idx="11"/>
          </p:nvPr>
        </p:nvSpPr>
        <p:spPr/>
        <p:txBody>
          <a:bodyPr/>
          <a:lstStyle/>
          <a:p>
            <a:endParaRPr lang="en-US" noProof="0"/>
          </a:p>
        </p:txBody>
      </p:sp>
      <p:sp>
        <p:nvSpPr>
          <p:cNvPr id="7" name="Espace réservé du numéro de diapositive 6">
            <a:extLst>
              <a:ext uri="{FF2B5EF4-FFF2-40B4-BE49-F238E27FC236}">
                <a16:creationId xmlns:a16="http://schemas.microsoft.com/office/drawing/2014/main" id="{2CAF8E56-0D31-804D-9F4F-DD615D5E8564}"/>
              </a:ext>
            </a:extLst>
          </p:cNvPr>
          <p:cNvSpPr>
            <a:spLocks noGrp="1"/>
          </p:cNvSpPr>
          <p:nvPr>
            <p:ph type="sldNum" sz="quarter" idx="12"/>
          </p:nvPr>
        </p:nvSpPr>
        <p:spPr/>
        <p:txBody>
          <a:bodyPr/>
          <a:lstStyle/>
          <a:p>
            <a:fld id="{075FE8A8-8232-1F4D-846D-4EBDDCE93EEF}" type="slidenum">
              <a:rPr lang="en-US" noProof="0" smtClean="0"/>
              <a:t>‹#›</a:t>
            </a:fld>
            <a:endParaRPr lang="en-US" noProof="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E883713E-0541-3F47-5D6E-AABDC809728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1" name="Espace réservé du texte 14">
            <a:extLst>
              <a:ext uri="{FF2B5EF4-FFF2-40B4-BE49-F238E27FC236}">
                <a16:creationId xmlns:a16="http://schemas.microsoft.com/office/drawing/2014/main" id="{443CAD83-08A3-0CB5-024F-6E35269D4F99}"/>
              </a:ext>
            </a:extLst>
          </p:cNvPr>
          <p:cNvSpPr>
            <a:spLocks noGrp="1"/>
          </p:cNvSpPr>
          <p:nvPr>
            <p:ph type="body" sz="quarter" idx="14" hasCustomPrompt="1"/>
          </p:nvPr>
        </p:nvSpPr>
        <p:spPr>
          <a:xfrm>
            <a:off x="838200" y="384352"/>
            <a:ext cx="3957611"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2" name="Espace réservé du texte 18">
            <a:extLst>
              <a:ext uri="{FF2B5EF4-FFF2-40B4-BE49-F238E27FC236}">
                <a16:creationId xmlns:a16="http://schemas.microsoft.com/office/drawing/2014/main" id="{48654FAC-FB51-D6A3-15F4-55E511891CF3}"/>
              </a:ext>
            </a:extLst>
          </p:cNvPr>
          <p:cNvSpPr>
            <a:spLocks noGrp="1"/>
          </p:cNvSpPr>
          <p:nvPr>
            <p:ph type="body" sz="quarter" idx="15" hasCustomPrompt="1"/>
          </p:nvPr>
        </p:nvSpPr>
        <p:spPr>
          <a:xfrm>
            <a:off x="838200" y="1352782"/>
            <a:ext cx="393223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4050111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slide - Side imag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EB349CDA-C85B-4F42-B8C6-26E684EDA627}"/>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noProof="0"/>
              <a:t>Cliquez sur l'icône pour ajouter une image</a:t>
            </a:r>
            <a:endParaRPr lang="en-US" noProof="0"/>
          </a:p>
        </p:txBody>
      </p:sp>
      <p:sp>
        <p:nvSpPr>
          <p:cNvPr id="4" name="Espace réservé du texte 3">
            <a:extLst>
              <a:ext uri="{FF2B5EF4-FFF2-40B4-BE49-F238E27FC236}">
                <a16:creationId xmlns:a16="http://schemas.microsoft.com/office/drawing/2014/main" id="{C9E92AAF-FCE8-F84A-8EB9-CC618F3F7E7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noProof="0"/>
              <a:t>Cliquez pour modifier les styles du texte du masque</a:t>
            </a:r>
          </a:p>
        </p:txBody>
      </p:sp>
      <p:sp>
        <p:nvSpPr>
          <p:cNvPr id="5" name="Espace réservé de la date 4">
            <a:extLst>
              <a:ext uri="{FF2B5EF4-FFF2-40B4-BE49-F238E27FC236}">
                <a16:creationId xmlns:a16="http://schemas.microsoft.com/office/drawing/2014/main" id="{4AB83901-E98D-6B44-A440-F9809CD85A51}"/>
              </a:ext>
            </a:extLst>
          </p:cNvPr>
          <p:cNvSpPr>
            <a:spLocks noGrp="1"/>
          </p:cNvSpPr>
          <p:nvPr>
            <p:ph type="dt" sz="half" idx="10"/>
          </p:nvPr>
        </p:nvSpPr>
        <p:spPr/>
        <p:txBody>
          <a:bodyPr/>
          <a:lstStyle/>
          <a:p>
            <a:fld id="{760B14F5-1D21-F14F-B36B-BCA0A34A15FF}" type="datetimeFigureOut">
              <a:rPr lang="en-US" noProof="0" smtClean="0"/>
              <a:t>8/16/2026</a:t>
            </a:fld>
            <a:endParaRPr lang="en-US" noProof="0"/>
          </a:p>
        </p:txBody>
      </p:sp>
      <p:sp>
        <p:nvSpPr>
          <p:cNvPr id="6" name="Espace réservé du pied de page 5">
            <a:extLst>
              <a:ext uri="{FF2B5EF4-FFF2-40B4-BE49-F238E27FC236}">
                <a16:creationId xmlns:a16="http://schemas.microsoft.com/office/drawing/2014/main" id="{8AB5FCBB-5385-494D-A3C1-C59A68C9E954}"/>
              </a:ext>
            </a:extLst>
          </p:cNvPr>
          <p:cNvSpPr>
            <a:spLocks noGrp="1"/>
          </p:cNvSpPr>
          <p:nvPr>
            <p:ph type="ftr" sz="quarter" idx="11"/>
          </p:nvPr>
        </p:nvSpPr>
        <p:spPr/>
        <p:txBody>
          <a:bodyPr/>
          <a:lstStyle/>
          <a:p>
            <a:endParaRPr lang="en-US" noProof="0"/>
          </a:p>
        </p:txBody>
      </p:sp>
      <p:sp>
        <p:nvSpPr>
          <p:cNvPr id="7" name="Espace réservé du numéro de diapositive 6">
            <a:extLst>
              <a:ext uri="{FF2B5EF4-FFF2-40B4-BE49-F238E27FC236}">
                <a16:creationId xmlns:a16="http://schemas.microsoft.com/office/drawing/2014/main" id="{124BFBC5-500C-E04C-A17A-AC6C64E82723}"/>
              </a:ext>
            </a:extLst>
          </p:cNvPr>
          <p:cNvSpPr>
            <a:spLocks noGrp="1"/>
          </p:cNvSpPr>
          <p:nvPr>
            <p:ph type="sldNum" sz="quarter" idx="12"/>
          </p:nvPr>
        </p:nvSpPr>
        <p:spPr/>
        <p:txBody>
          <a:bodyPr/>
          <a:lstStyle/>
          <a:p>
            <a:fld id="{075FE8A8-8232-1F4D-846D-4EBDDCE93EEF}" type="slidenum">
              <a:rPr lang="en-US" noProof="0" smtClean="0"/>
              <a:t>‹#›</a:t>
            </a:fld>
            <a:endParaRPr lang="en-US" noProof="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EBF717CA-66DC-4F9D-EF66-78234DA00CB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3" name="Espace réservé du texte 14">
            <a:extLst>
              <a:ext uri="{FF2B5EF4-FFF2-40B4-BE49-F238E27FC236}">
                <a16:creationId xmlns:a16="http://schemas.microsoft.com/office/drawing/2014/main" id="{CF70D262-D2E9-6E44-0495-7CB03B090FF8}"/>
              </a:ext>
            </a:extLst>
          </p:cNvPr>
          <p:cNvSpPr>
            <a:spLocks noGrp="1"/>
          </p:cNvSpPr>
          <p:nvPr>
            <p:ph type="body" sz="quarter" idx="14" hasCustomPrompt="1"/>
          </p:nvPr>
        </p:nvSpPr>
        <p:spPr>
          <a:xfrm>
            <a:off x="838200" y="384352"/>
            <a:ext cx="3957611"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4" name="Espace réservé du texte 18">
            <a:extLst>
              <a:ext uri="{FF2B5EF4-FFF2-40B4-BE49-F238E27FC236}">
                <a16:creationId xmlns:a16="http://schemas.microsoft.com/office/drawing/2014/main" id="{7BE82C85-17CC-0E50-E758-016117F16FA3}"/>
              </a:ext>
            </a:extLst>
          </p:cNvPr>
          <p:cNvSpPr>
            <a:spLocks noGrp="1"/>
          </p:cNvSpPr>
          <p:nvPr>
            <p:ph type="body" sz="quarter" idx="15" hasCustomPrompt="1"/>
          </p:nvPr>
        </p:nvSpPr>
        <p:spPr>
          <a:xfrm>
            <a:off x="838200" y="1352782"/>
            <a:ext cx="393223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202920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questions">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E45B96DF-B607-C4E4-32F8-E7B91E0BF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56000" y="1989000"/>
            <a:ext cx="2880000" cy="2880000"/>
          </a:xfrm>
          <a:prstGeom prst="rect">
            <a:avLst/>
          </a:prstGeom>
        </p:spPr>
      </p:pic>
      <p:sp>
        <p:nvSpPr>
          <p:cNvPr id="10" name="Espace réservé du texte 8">
            <a:extLst>
              <a:ext uri="{FF2B5EF4-FFF2-40B4-BE49-F238E27FC236}">
                <a16:creationId xmlns:a16="http://schemas.microsoft.com/office/drawing/2014/main" id="{F0EC84A3-D4F4-6086-F100-018579271662}"/>
              </a:ext>
            </a:extLst>
          </p:cNvPr>
          <p:cNvSpPr>
            <a:spLocks noGrp="1"/>
          </p:cNvSpPr>
          <p:nvPr>
            <p:ph type="body" sz="quarter" idx="10" hasCustomPrompt="1"/>
          </p:nvPr>
        </p:nvSpPr>
        <p:spPr>
          <a:xfrm>
            <a:off x="838199" y="365126"/>
            <a:ext cx="10515599" cy="579092"/>
          </a:xfrm>
        </p:spPr>
        <p:txBody>
          <a:bodyPr>
            <a:normAutofit/>
          </a:bodyPr>
          <a:lstStyle>
            <a:lvl1pPr>
              <a:defRPr lang="en-US" sz="3200" dirty="0">
                <a:solidFill>
                  <a:schemeClr val="bg1"/>
                </a:solidFill>
                <a:latin typeface="+mj-lt"/>
                <a:ea typeface="+mj-ea"/>
                <a:cs typeface="+mj-cs"/>
              </a:defRPr>
            </a:lvl1pPr>
          </a:lstStyle>
          <a:p>
            <a:pPr marL="0" lvl="0">
              <a:spcBef>
                <a:spcPct val="0"/>
              </a:spcBef>
              <a:buNone/>
            </a:pPr>
            <a:r>
              <a:rPr lang="en-US" dirty="0"/>
              <a:t>1. Chapter title</a:t>
            </a:r>
          </a:p>
        </p:txBody>
      </p:sp>
    </p:spTree>
    <p:extLst>
      <p:ext uri="{BB962C8B-B14F-4D97-AF65-F5344CB8AC3E}">
        <p14:creationId xmlns:p14="http://schemas.microsoft.com/office/powerpoint/2010/main" val="19705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cture end">
    <p:bg>
      <p:bgPr>
        <a:solidFill>
          <a:srgbClr val="3D2683"/>
        </a:solidFill>
        <a:effectLst/>
      </p:bgPr>
    </p:bg>
    <p:spTree>
      <p:nvGrpSpPr>
        <p:cNvPr id="1" name=""/>
        <p:cNvGrpSpPr/>
        <p:nvPr/>
      </p:nvGrpSpPr>
      <p:grpSpPr>
        <a:xfrm>
          <a:off x="0" y="0"/>
          <a:ext cx="0" cy="0"/>
          <a:chOff x="0" y="0"/>
          <a:chExt cx="0" cy="0"/>
        </a:xfrm>
      </p:grpSpPr>
      <p:pic>
        <p:nvPicPr>
          <p:cNvPr id="7" name="Graphique 6" descr="Drapeau de course avec un remplissage uni">
            <a:extLst>
              <a:ext uri="{FF2B5EF4-FFF2-40B4-BE49-F238E27FC236}">
                <a16:creationId xmlns:a16="http://schemas.microsoft.com/office/drawing/2014/main" id="{C39BBF25-8381-335A-6308-3AFEB15FAF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56000" y="1989000"/>
            <a:ext cx="2880000" cy="2880000"/>
          </a:xfrm>
          <a:prstGeom prst="rect">
            <a:avLst/>
          </a:prstGeom>
        </p:spPr>
      </p:pic>
    </p:spTree>
    <p:extLst>
      <p:ext uri="{BB962C8B-B14F-4D97-AF65-F5344CB8AC3E}">
        <p14:creationId xmlns:p14="http://schemas.microsoft.com/office/powerpoint/2010/main" val="211448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1016B3E-7434-F444-85B1-81A3F66D7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C2A833-B532-5441-8F6F-770D7BDE7E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19AD43F0-39EC-1047-86D5-82DFE14D5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14F5-1D21-F14F-B36B-BCA0A34A15FF}" type="datetimeFigureOut">
              <a:rPr lang="fr-FR" smtClean="0"/>
              <a:t>16/08/2026</a:t>
            </a:fld>
            <a:endParaRPr lang="fr-FR"/>
          </a:p>
        </p:txBody>
      </p:sp>
      <p:sp>
        <p:nvSpPr>
          <p:cNvPr id="5" name="Espace réservé du pied de page 4">
            <a:extLst>
              <a:ext uri="{FF2B5EF4-FFF2-40B4-BE49-F238E27FC236}">
                <a16:creationId xmlns:a16="http://schemas.microsoft.com/office/drawing/2014/main" id="{D406F5D3-EF53-A447-B4AC-97397E1C3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8542739-B2AF-EA41-A1C0-C7A7135EE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5FE8A8-8232-1F4D-846D-4EBDDCE93EEF}" type="slidenum">
              <a:rPr lang="fr-FR" smtClean="0"/>
              <a:t>‹#›</a:t>
            </a:fld>
            <a:endParaRPr lang="fr-FR"/>
          </a:p>
        </p:txBody>
      </p:sp>
    </p:spTree>
    <p:extLst>
      <p:ext uri="{BB962C8B-B14F-4D97-AF65-F5344CB8AC3E}">
        <p14:creationId xmlns:p14="http://schemas.microsoft.com/office/powerpoint/2010/main" val="978103667"/>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66" r:id="rId4"/>
    <p:sldLayoutId id="2147483652" r:id="rId5"/>
    <p:sldLayoutId id="2147483654" r:id="rId6"/>
    <p:sldLayoutId id="2147483655" r:id="rId7"/>
    <p:sldLayoutId id="2147483656" r:id="rId8"/>
    <p:sldLayoutId id="2147483657"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8.xml"/><Relationship Id="rId1" Type="http://schemas.openxmlformats.org/officeDocument/2006/relationships/themeOverride" Target="../theme/themeOverride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hyperlink" Target="https://registry.terraform.io/browse/providers" TargetMode="External"/><Relationship Id="rId2" Type="http://schemas.openxmlformats.org/officeDocument/2006/relationships/notesSlide" Target="../notesSlides/notesSlide73.xml"/><Relationship Id="rId1" Type="http://schemas.openxmlformats.org/officeDocument/2006/relationships/slideLayout" Target="../slideLayouts/slideLayout4.xml"/><Relationship Id="rId5" Type="http://schemas.openxmlformats.org/officeDocument/2006/relationships/image" Target="../media/image9.svg"/><Relationship Id="rId4" Type="http://schemas.openxmlformats.org/officeDocument/2006/relationships/image" Target="../media/image8.svg"/></Relationships>
</file>

<file path=ppt/slides/_rels/slide7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7.xml"/><Relationship Id="rId1" Type="http://schemas.openxmlformats.org/officeDocument/2006/relationships/slideLayout" Target="../slideLayouts/slideLayout4.xml"/><Relationship Id="rId5" Type="http://schemas.openxmlformats.org/officeDocument/2006/relationships/image" Target="../media/image15.svg"/><Relationship Id="rId4" Type="http://schemas.openxmlformats.org/officeDocument/2006/relationships/image" Target="../media/image14.sv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BC06DC-4D1A-B2CB-5A63-A1C912BA9509}"/>
              </a:ext>
            </a:extLst>
          </p:cNvPr>
          <p:cNvSpPr>
            <a:spLocks noGrp="1"/>
          </p:cNvSpPr>
          <p:nvPr>
            <p:ph type="ctrTitle"/>
          </p:nvPr>
        </p:nvSpPr>
        <p:spPr/>
        <p:txBody>
          <a:bodyPr>
            <a:normAutofit/>
          </a:bodyPr>
          <a:lstStyle/>
          <a:p>
            <a:r>
              <a:rPr lang="en-US" dirty="0"/>
              <a:t>Introduction to </a:t>
            </a:r>
            <a:r>
              <a:rPr lang="en-US" dirty="0" err="1"/>
              <a:t>IaC</a:t>
            </a:r>
            <a:r>
              <a:rPr lang="en-US" dirty="0"/>
              <a:t> and Terraform</a:t>
            </a:r>
            <a:endParaRPr lang="en-US" dirty="0">
              <a:ea typeface="Calibri Light"/>
              <a:cs typeface="Calibri Light"/>
            </a:endParaRPr>
          </a:p>
        </p:txBody>
      </p:sp>
      <p:sp>
        <p:nvSpPr>
          <p:cNvPr id="3" name="Sous-titre 2">
            <a:extLst>
              <a:ext uri="{FF2B5EF4-FFF2-40B4-BE49-F238E27FC236}">
                <a16:creationId xmlns:a16="http://schemas.microsoft.com/office/drawing/2014/main" id="{32F19D57-529B-F55E-AEFA-DE3148EB7275}"/>
              </a:ext>
            </a:extLst>
          </p:cNvPr>
          <p:cNvSpPr>
            <a:spLocks noGrp="1"/>
          </p:cNvSpPr>
          <p:nvPr>
            <p:ph type="subTitle" idx="1"/>
          </p:nvPr>
        </p:nvSpPr>
        <p:spPr/>
        <p:txBody>
          <a:bodyPr/>
          <a:lstStyle/>
          <a:p>
            <a:r>
              <a:rPr lang="en-US"/>
              <a:t>5HASH – Infrastructure as Code</a:t>
            </a:r>
          </a:p>
        </p:txBody>
      </p:sp>
    </p:spTree>
    <p:extLst>
      <p:ext uri="{BB962C8B-B14F-4D97-AF65-F5344CB8AC3E}">
        <p14:creationId xmlns:p14="http://schemas.microsoft.com/office/powerpoint/2010/main" val="3619379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8B185AF1-46ED-347C-AE49-12A5050FA7C9}"/>
              </a:ext>
            </a:extLst>
          </p:cNvPr>
          <p:cNvSpPr>
            <a:spLocks noGrp="1"/>
          </p:cNvSpPr>
          <p:nvPr>
            <p:ph idx="1"/>
          </p:nvPr>
        </p:nvSpPr>
        <p:spPr/>
        <p:txBody>
          <a:bodyPr vert="horz" lIns="91440" tIns="45720" rIns="91440" bIns="45720" rtlCol="0" anchor="t">
            <a:normAutofit/>
          </a:bodyPr>
          <a:lstStyle/>
          <a:p>
            <a:pPr marL="0" indent="0">
              <a:buNone/>
            </a:pPr>
            <a:r>
              <a:rPr lang="en-US"/>
              <a:t>By the end of the course, students should:</a:t>
            </a:r>
          </a:p>
          <a:p>
            <a:r>
              <a:rPr lang="en-US" dirty="0"/>
              <a:t>be able to explain what </a:t>
            </a:r>
            <a:r>
              <a:rPr lang="en-US" dirty="0" err="1"/>
              <a:t>IaC</a:t>
            </a:r>
            <a:r>
              <a:rPr lang="en-US" dirty="0"/>
              <a:t> is, evaluate its suitability on real life scenarios and be aware of the tradeoffs when choosing to use/not to use this approach,</a:t>
            </a:r>
          </a:p>
          <a:p>
            <a:r>
              <a:rPr lang="en-US"/>
              <a:t>have a working knowledge for managing the infrastructure for a web application using Terraform and AWS,</a:t>
            </a:r>
          </a:p>
          <a:p>
            <a:r>
              <a:rPr lang="en-US"/>
              <a:t>know how configure a fleet of servers with Ansible</a:t>
            </a:r>
            <a:endParaRPr lang="en-US">
              <a:ea typeface="Calibri"/>
              <a:cs typeface="Calibri"/>
            </a:endParaRPr>
          </a:p>
          <a:p>
            <a:endParaRPr lang="en-US" dirty="0">
              <a:ea typeface="Calibri"/>
              <a:cs typeface="Calibri"/>
            </a:endParaRPr>
          </a:p>
        </p:txBody>
      </p:sp>
      <p:sp>
        <p:nvSpPr>
          <p:cNvPr id="4" name="Espace réservé du texte 3">
            <a:extLst>
              <a:ext uri="{FF2B5EF4-FFF2-40B4-BE49-F238E27FC236}">
                <a16:creationId xmlns:a16="http://schemas.microsoft.com/office/drawing/2014/main" id="{B268B3BE-6B37-9AF2-48EC-1220C9079165}"/>
              </a:ext>
            </a:extLst>
          </p:cNvPr>
          <p:cNvSpPr>
            <a:spLocks noGrp="1"/>
          </p:cNvSpPr>
          <p:nvPr>
            <p:ph type="body" sz="quarter" idx="14"/>
          </p:nvPr>
        </p:nvSpPr>
        <p:spPr/>
        <p:txBody>
          <a:bodyPr/>
          <a:lstStyle/>
          <a:p>
            <a:r>
              <a:rPr lang="en-US"/>
              <a:t>5HASH – Infrastructure as Code (</a:t>
            </a:r>
            <a:r>
              <a:rPr lang="en-US" err="1"/>
              <a:t>IaC</a:t>
            </a:r>
            <a:r>
              <a:rPr lang="en-US"/>
              <a:t>)</a:t>
            </a:r>
          </a:p>
        </p:txBody>
      </p:sp>
      <p:sp>
        <p:nvSpPr>
          <p:cNvPr id="7" name="Espace réservé du texte 6">
            <a:extLst>
              <a:ext uri="{FF2B5EF4-FFF2-40B4-BE49-F238E27FC236}">
                <a16:creationId xmlns:a16="http://schemas.microsoft.com/office/drawing/2014/main" id="{1908F141-612A-36E1-94F0-95923164E5D8}"/>
              </a:ext>
            </a:extLst>
          </p:cNvPr>
          <p:cNvSpPr>
            <a:spLocks noGrp="1"/>
          </p:cNvSpPr>
          <p:nvPr>
            <p:ph type="body" sz="quarter" idx="15"/>
          </p:nvPr>
        </p:nvSpPr>
        <p:spPr/>
        <p:txBody>
          <a:bodyPr/>
          <a:lstStyle/>
          <a:p>
            <a:r>
              <a:rPr lang="en-US"/>
              <a:t>Course Objectives</a:t>
            </a:r>
          </a:p>
        </p:txBody>
      </p:sp>
    </p:spTree>
    <p:extLst>
      <p:ext uri="{BB962C8B-B14F-4D97-AF65-F5344CB8AC3E}">
        <p14:creationId xmlns:p14="http://schemas.microsoft.com/office/powerpoint/2010/main" val="941021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8B185AF1-46ED-347C-AE49-12A5050FA7C9}"/>
              </a:ext>
            </a:extLst>
          </p:cNvPr>
          <p:cNvSpPr>
            <a:spLocks noGrp="1"/>
          </p:cNvSpPr>
          <p:nvPr>
            <p:ph idx="1"/>
          </p:nvPr>
        </p:nvSpPr>
        <p:spPr/>
        <p:txBody>
          <a:bodyPr vert="horz" lIns="91440" tIns="45720" rIns="91440" bIns="45720" rtlCol="0" anchor="t">
            <a:normAutofit lnSpcReduction="10000"/>
          </a:bodyPr>
          <a:lstStyle/>
          <a:p>
            <a:r>
              <a:rPr lang="en-US" dirty="0"/>
              <a:t>The course and TPs will use the following technologies</a:t>
            </a:r>
          </a:p>
          <a:p>
            <a:pPr lvl="1"/>
            <a:r>
              <a:rPr lang="en-US" dirty="0" err="1"/>
              <a:t>IaC</a:t>
            </a:r>
            <a:r>
              <a:rPr lang="en-US" dirty="0"/>
              <a:t> tooling: Terraform, Ansible</a:t>
            </a:r>
            <a:endParaRPr lang="en-US" dirty="0">
              <a:ea typeface="Calibri"/>
              <a:cs typeface="Calibri"/>
            </a:endParaRPr>
          </a:p>
          <a:p>
            <a:pPr lvl="1"/>
            <a:r>
              <a:rPr lang="en-US" dirty="0"/>
              <a:t>Cloud services provider: AWS, </a:t>
            </a:r>
            <a:r>
              <a:rPr lang="en-US" dirty="0" err="1"/>
              <a:t>Floci</a:t>
            </a:r>
            <a:r>
              <a:rPr lang="en-US" dirty="0"/>
              <a:t> AWS Emulator</a:t>
            </a:r>
            <a:endParaRPr lang="en-US" dirty="0">
              <a:ea typeface="Calibri"/>
              <a:cs typeface="Calibri"/>
            </a:endParaRPr>
          </a:p>
          <a:p>
            <a:pPr lvl="1"/>
            <a:r>
              <a:rPr lang="en-US"/>
              <a:t>Local resource provider: Docker</a:t>
            </a:r>
            <a:endParaRPr lang="en-US">
              <a:ea typeface="Calibri"/>
              <a:cs typeface="Calibri"/>
            </a:endParaRPr>
          </a:p>
          <a:p>
            <a:r>
              <a:rPr lang="en-US" dirty="0"/>
              <a:t>Evaluation method: Mini-project with final presentation</a:t>
            </a:r>
          </a:p>
          <a:p>
            <a:pPr lvl="1"/>
            <a:r>
              <a:rPr lang="en-US" dirty="0"/>
              <a:t>Fictional scenario representing a real-life business problem for which the expected solution is an infrastructure response</a:t>
            </a:r>
          </a:p>
          <a:p>
            <a:pPr lvl="1"/>
            <a:r>
              <a:rPr lang="en-US" dirty="0"/>
              <a:t>Emphasis will be given to the analysis, clarity and documentation of the solution</a:t>
            </a:r>
          </a:p>
          <a:p>
            <a:pPr lvl="1"/>
            <a:r>
              <a:rPr lang="en-US" dirty="0"/>
              <a:t>Groups of 2-3 students</a:t>
            </a:r>
          </a:p>
        </p:txBody>
      </p:sp>
      <p:sp>
        <p:nvSpPr>
          <p:cNvPr id="4" name="Espace réservé du texte 3">
            <a:extLst>
              <a:ext uri="{FF2B5EF4-FFF2-40B4-BE49-F238E27FC236}">
                <a16:creationId xmlns:a16="http://schemas.microsoft.com/office/drawing/2014/main" id="{B268B3BE-6B37-9AF2-48EC-1220C9079165}"/>
              </a:ext>
            </a:extLst>
          </p:cNvPr>
          <p:cNvSpPr>
            <a:spLocks noGrp="1"/>
          </p:cNvSpPr>
          <p:nvPr>
            <p:ph type="body" sz="quarter" idx="14"/>
          </p:nvPr>
        </p:nvSpPr>
        <p:spPr/>
        <p:txBody>
          <a:bodyPr/>
          <a:lstStyle/>
          <a:p>
            <a:r>
              <a:rPr lang="en-US"/>
              <a:t>5HASH – Infrastructure as Code (</a:t>
            </a:r>
            <a:r>
              <a:rPr lang="en-US" err="1"/>
              <a:t>IaC</a:t>
            </a:r>
            <a:r>
              <a:rPr lang="en-US"/>
              <a:t>)</a:t>
            </a:r>
          </a:p>
        </p:txBody>
      </p:sp>
      <p:sp>
        <p:nvSpPr>
          <p:cNvPr id="7" name="Espace réservé du texte 6">
            <a:extLst>
              <a:ext uri="{FF2B5EF4-FFF2-40B4-BE49-F238E27FC236}">
                <a16:creationId xmlns:a16="http://schemas.microsoft.com/office/drawing/2014/main" id="{1908F141-612A-36E1-94F0-95923164E5D8}"/>
              </a:ext>
            </a:extLst>
          </p:cNvPr>
          <p:cNvSpPr>
            <a:spLocks noGrp="1"/>
          </p:cNvSpPr>
          <p:nvPr>
            <p:ph type="body" sz="quarter" idx="15"/>
          </p:nvPr>
        </p:nvSpPr>
        <p:spPr/>
        <p:txBody>
          <a:bodyPr/>
          <a:lstStyle/>
          <a:p>
            <a:r>
              <a:rPr lang="en-US"/>
              <a:t>Course Organization</a:t>
            </a:r>
          </a:p>
        </p:txBody>
      </p:sp>
    </p:spTree>
    <p:extLst>
      <p:ext uri="{BB962C8B-B14F-4D97-AF65-F5344CB8AC3E}">
        <p14:creationId xmlns:p14="http://schemas.microsoft.com/office/powerpoint/2010/main" val="1178207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chor="t">
            <a:normAutofit/>
          </a:bodyPr>
          <a:lstStyle/>
          <a:p>
            <a:pPr marL="0" indent="0">
              <a:buNone/>
            </a:pPr>
            <a:r>
              <a:rPr lang="en-US"/>
              <a:t>Lecture: Introduction to Infrastructure as Code and Terraform</a:t>
            </a:r>
          </a:p>
          <a:p>
            <a:pPr marL="0" indent="0">
              <a:buNone/>
            </a:pPr>
            <a:r>
              <a:rPr lang="en-US"/>
              <a:t>Hands-on Lab: Building and managing infrastructure using Terraform</a:t>
            </a:r>
            <a:endParaRPr lang="en-US">
              <a:ea typeface="Calibri"/>
              <a:cs typeface="Calibri"/>
            </a:endParaRPr>
          </a:p>
          <a:p>
            <a:pPr marL="0" indent="0">
              <a:buNone/>
            </a:pPr>
            <a:endParaRPr lang="en-US" dirty="0">
              <a:ea typeface="Calibri"/>
              <a:cs typeface="Calibri"/>
            </a:endParaRPr>
          </a:p>
          <a:p>
            <a:pPr marL="0" indent="0">
              <a:buNone/>
            </a:pPr>
            <a:r>
              <a:rPr lang="en-US">
                <a:ea typeface="Calibri"/>
                <a:cs typeface="Calibri"/>
              </a:rPr>
              <a:t>Lecture: Terraform Basics</a:t>
            </a:r>
            <a:endParaRPr lang="en-US" dirty="0">
              <a:ea typeface="Calibri"/>
              <a:cs typeface="Calibri"/>
            </a:endParaRPr>
          </a:p>
          <a:p>
            <a:pPr marL="0" indent="0">
              <a:buNone/>
            </a:pPr>
            <a:r>
              <a:rPr lang="en-US">
                <a:ea typeface="Calibri"/>
                <a:cs typeface="Calibri"/>
              </a:rPr>
              <a:t>Hands-on Lab:</a:t>
            </a:r>
            <a:endParaRPr lang="en-US"/>
          </a:p>
          <a:p>
            <a:pPr marL="0" indent="0">
              <a:buNone/>
            </a:pPr>
            <a:endParaRPr lang="en-US" dirty="0">
              <a:ea typeface="Calibri"/>
              <a:cs typeface="Calibri"/>
            </a:endParaRPr>
          </a:p>
          <a:p>
            <a:pPr marL="0" indent="0">
              <a:buNone/>
            </a:pPr>
            <a:endParaRPr lang="en-US" dirty="0">
              <a:ea typeface="Calibri"/>
              <a:cs typeface="Calibri"/>
            </a:endParaRP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5HASH – Infrastructure as Code (</a:t>
            </a:r>
            <a:r>
              <a:rPr lang="en-US" err="1"/>
              <a:t>IaC</a:t>
            </a:r>
            <a:r>
              <a:rPr lang="en-US"/>
              <a: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en-US" b="1" i="0" dirty="0">
                <a:effectLst/>
                <a:latin typeface="Söhne"/>
              </a:rPr>
              <a:t>Day 1 – Objectives</a:t>
            </a:r>
            <a:endParaRPr lang="en-US" dirty="0"/>
          </a:p>
        </p:txBody>
      </p:sp>
    </p:spTree>
    <p:extLst>
      <p:ext uri="{BB962C8B-B14F-4D97-AF65-F5344CB8AC3E}">
        <p14:creationId xmlns:p14="http://schemas.microsoft.com/office/powerpoint/2010/main" val="3690929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chor="t">
            <a:normAutofit/>
          </a:bodyPr>
          <a:lstStyle/>
          <a:p>
            <a:pPr marL="0" indent="0">
              <a:buNone/>
            </a:pPr>
            <a:r>
              <a:rPr lang="en-US"/>
              <a:t>Lecture: Modules, Variables, Outputs, Locals</a:t>
            </a:r>
          </a:p>
          <a:p>
            <a:pPr marL="0" indent="0">
              <a:buNone/>
            </a:pPr>
            <a:r>
              <a:rPr lang="en-US"/>
              <a:t>Hands-on Lab: Managing Resources</a:t>
            </a:r>
          </a:p>
          <a:p>
            <a:pPr marL="0" indent="0">
              <a:buNone/>
            </a:pPr>
            <a:endParaRPr lang="en-US"/>
          </a:p>
          <a:p>
            <a:pPr marL="0" indent="0">
              <a:buNone/>
            </a:pPr>
            <a:r>
              <a:rPr lang="en-US"/>
              <a:t>Lecture: Backends and Collaboration</a:t>
            </a:r>
            <a:endParaRPr lang="en-US">
              <a:ea typeface="Calibri" panose="020F0502020204030204"/>
              <a:cs typeface="Calibri" panose="020F0502020204030204"/>
            </a:endParaRPr>
          </a:p>
          <a:p>
            <a:pPr marL="0" indent="0">
              <a:buNone/>
            </a:pPr>
            <a:r>
              <a:rPr lang="en-US"/>
              <a:t>Hands-on Lab: Environment Management</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5HASH – Infrastructure as Code (</a:t>
            </a:r>
            <a:r>
              <a:rPr lang="en-US" err="1"/>
              <a:t>IaC</a:t>
            </a:r>
            <a:r>
              <a:rPr lang="en-US"/>
              <a: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en-US" b="1" i="0">
                <a:effectLst/>
                <a:latin typeface="Söhne"/>
              </a:rPr>
              <a:t>Day 2 – Objectives</a:t>
            </a:r>
            <a:endParaRPr lang="en-US"/>
          </a:p>
        </p:txBody>
      </p:sp>
    </p:spTree>
    <p:extLst>
      <p:ext uri="{BB962C8B-B14F-4D97-AF65-F5344CB8AC3E}">
        <p14:creationId xmlns:p14="http://schemas.microsoft.com/office/powerpoint/2010/main" val="3906265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C9E6B-73AE-C999-61ED-7076837A0D01}"/>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5A7BC53-CEE6-B61E-DF91-ADBF8FC26E5A}"/>
              </a:ext>
            </a:extLst>
          </p:cNvPr>
          <p:cNvSpPr>
            <a:spLocks noGrp="1"/>
          </p:cNvSpPr>
          <p:nvPr>
            <p:ph idx="1"/>
          </p:nvPr>
        </p:nvSpPr>
        <p:spPr/>
        <p:txBody>
          <a:bodyPr vert="horz" lIns="91440" tIns="45720" rIns="91440" bIns="45720" rtlCol="0" anchor="t">
            <a:normAutofit/>
          </a:bodyPr>
          <a:lstStyle/>
          <a:p>
            <a:pPr marL="0" indent="0">
              <a:buNone/>
            </a:pPr>
            <a:r>
              <a:rPr lang="en-US"/>
              <a:t>Lecture: Provisioning and configuration with Ansible</a:t>
            </a:r>
          </a:p>
          <a:p>
            <a:pPr marL="0" indent="0">
              <a:buNone/>
            </a:pPr>
            <a:r>
              <a:rPr lang="en-US"/>
              <a:t>Hands-on Lab: Configure servers with Ansible</a:t>
            </a:r>
          </a:p>
          <a:p>
            <a:pPr marL="0" indent="0">
              <a:buNone/>
            </a:pPr>
            <a:endParaRPr lang="en-US"/>
          </a:p>
          <a:p>
            <a:pPr marL="0" indent="0">
              <a:buNone/>
            </a:pPr>
            <a:r>
              <a:rPr lang="en-US" dirty="0"/>
              <a:t>Lecture: Ansible Efficient </a:t>
            </a:r>
            <a:r>
              <a:rPr lang="en-US" dirty="0" err="1"/>
              <a:t>Itempotency</a:t>
            </a:r>
          </a:p>
          <a:p>
            <a:pPr marL="0" indent="0">
              <a:buNone/>
            </a:pPr>
            <a:r>
              <a:rPr lang="en-US"/>
              <a:t>Hands-on Lab: Idempotent configuration</a:t>
            </a:r>
            <a:endParaRPr lang="en-US">
              <a:ea typeface="Calibri"/>
              <a:cs typeface="Calibri"/>
            </a:endParaRPr>
          </a:p>
        </p:txBody>
      </p:sp>
      <p:sp>
        <p:nvSpPr>
          <p:cNvPr id="3" name="Espace réservé du texte 2">
            <a:extLst>
              <a:ext uri="{FF2B5EF4-FFF2-40B4-BE49-F238E27FC236}">
                <a16:creationId xmlns:a16="http://schemas.microsoft.com/office/drawing/2014/main" id="{9759FC61-7903-D622-1125-A03D5530140B}"/>
              </a:ext>
            </a:extLst>
          </p:cNvPr>
          <p:cNvSpPr>
            <a:spLocks noGrp="1"/>
          </p:cNvSpPr>
          <p:nvPr>
            <p:ph type="body" sz="quarter" idx="14"/>
          </p:nvPr>
        </p:nvSpPr>
        <p:spPr/>
        <p:txBody>
          <a:bodyPr/>
          <a:lstStyle/>
          <a:p>
            <a:r>
              <a:rPr lang="en-US"/>
              <a:t>5HASH – Infrastructure as Code (</a:t>
            </a:r>
            <a:r>
              <a:rPr lang="en-US" err="1"/>
              <a:t>IaC</a:t>
            </a:r>
            <a:r>
              <a:rPr lang="en-US"/>
              <a:t>)</a:t>
            </a:r>
          </a:p>
        </p:txBody>
      </p:sp>
      <p:sp>
        <p:nvSpPr>
          <p:cNvPr id="4" name="Espace réservé du texte 3">
            <a:extLst>
              <a:ext uri="{FF2B5EF4-FFF2-40B4-BE49-F238E27FC236}">
                <a16:creationId xmlns:a16="http://schemas.microsoft.com/office/drawing/2014/main" id="{1F66BFD9-C495-8B1B-E99C-E57C0AC67A77}"/>
              </a:ext>
            </a:extLst>
          </p:cNvPr>
          <p:cNvSpPr>
            <a:spLocks noGrp="1"/>
          </p:cNvSpPr>
          <p:nvPr>
            <p:ph type="body" sz="quarter" idx="15"/>
          </p:nvPr>
        </p:nvSpPr>
        <p:spPr/>
        <p:txBody>
          <a:bodyPr/>
          <a:lstStyle/>
          <a:p>
            <a:r>
              <a:rPr lang="en-US" b="1" i="0">
                <a:effectLst/>
                <a:latin typeface="Söhne"/>
              </a:rPr>
              <a:t>Day 3 – Objectives</a:t>
            </a:r>
            <a:endParaRPr lang="en-US"/>
          </a:p>
        </p:txBody>
      </p:sp>
    </p:spTree>
    <p:extLst>
      <p:ext uri="{BB962C8B-B14F-4D97-AF65-F5344CB8AC3E}">
        <p14:creationId xmlns:p14="http://schemas.microsoft.com/office/powerpoint/2010/main" val="1945996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chor="t">
            <a:normAutofit/>
          </a:bodyPr>
          <a:lstStyle/>
          <a:p>
            <a:pPr marL="0" indent="0">
              <a:buNone/>
            </a:pPr>
            <a:r>
              <a:rPr lang="en-US">
                <a:ea typeface="Calibri"/>
                <a:cs typeface="Calibri"/>
              </a:rPr>
              <a:t>Lecture: Ansible Integration</a:t>
            </a:r>
            <a:endParaRPr lang="en-US" dirty="0">
              <a:ea typeface="Calibri"/>
              <a:cs typeface="Calibri"/>
            </a:endParaRPr>
          </a:p>
          <a:p>
            <a:pPr>
              <a:buNone/>
            </a:pPr>
            <a:r>
              <a:rPr lang="en-US">
                <a:ea typeface="Calibri"/>
                <a:cs typeface="Calibri"/>
              </a:rPr>
              <a:t>Hands-on Lab: Integrating Ansible with Terraform</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5HASH – Infrastructure as Code (</a:t>
            </a:r>
            <a:r>
              <a:rPr lang="en-US" err="1"/>
              <a:t>IaC</a:t>
            </a:r>
            <a:r>
              <a:rPr lang="en-US"/>
              <a: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vert="horz" wrap="square" lIns="91440" tIns="45720" rIns="91440" bIns="45720" rtlCol="0" anchor="t">
            <a:spAutoFit/>
          </a:bodyPr>
          <a:lstStyle/>
          <a:p>
            <a:r>
              <a:rPr lang="en-US" b="1" i="0">
                <a:effectLst/>
                <a:latin typeface="Söhne"/>
              </a:rPr>
              <a:t>Day </a:t>
            </a:r>
            <a:r>
              <a:rPr lang="en-US">
                <a:latin typeface="Söhne"/>
              </a:rPr>
              <a:t>4 </a:t>
            </a:r>
            <a:r>
              <a:rPr lang="en-US" b="1" i="0">
                <a:effectLst/>
                <a:latin typeface="Söhne"/>
              </a:rPr>
              <a:t>– Objectives</a:t>
            </a:r>
            <a:endParaRPr lang="en-US"/>
          </a:p>
        </p:txBody>
      </p:sp>
    </p:spTree>
    <p:extLst>
      <p:ext uri="{BB962C8B-B14F-4D97-AF65-F5344CB8AC3E}">
        <p14:creationId xmlns:p14="http://schemas.microsoft.com/office/powerpoint/2010/main" val="15472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B1BAA0-5E36-154D-61E1-4BDD524F79BF}"/>
              </a:ext>
            </a:extLst>
          </p:cNvPr>
          <p:cNvSpPr>
            <a:spLocks noGrp="1"/>
          </p:cNvSpPr>
          <p:nvPr>
            <p:ph type="body" sz="quarter" idx="10"/>
          </p:nvPr>
        </p:nvSpPr>
        <p:spPr/>
        <p:txBody>
          <a:bodyPr/>
          <a:lstStyle/>
          <a:p>
            <a:pPr marL="0" indent="0" algn="ctr">
              <a:buNone/>
            </a:pPr>
            <a:r>
              <a:rPr lang="en-US"/>
              <a:t>Summary</a:t>
            </a:r>
          </a:p>
        </p:txBody>
      </p:sp>
      <p:sp>
        <p:nvSpPr>
          <p:cNvPr id="3" name="Espace réservé du texte 2">
            <a:extLst>
              <a:ext uri="{FF2B5EF4-FFF2-40B4-BE49-F238E27FC236}">
                <a16:creationId xmlns:a16="http://schemas.microsoft.com/office/drawing/2014/main" id="{3C3DD7B0-B0A8-8FDB-52AB-3930D01F1718}"/>
              </a:ext>
            </a:extLst>
          </p:cNvPr>
          <p:cNvSpPr>
            <a:spLocks noGrp="1"/>
          </p:cNvSpPr>
          <p:nvPr>
            <p:ph type="body" sz="quarter" idx="11"/>
          </p:nvPr>
        </p:nvSpPr>
        <p:spPr/>
        <p:txBody>
          <a:bodyPr>
            <a:normAutofit/>
          </a:bodyPr>
          <a:lstStyle/>
          <a:p>
            <a:pPr marL="742950" indent="-742950">
              <a:buFont typeface="+mj-lt"/>
              <a:buAutoNum type="arabicPeriod"/>
            </a:pPr>
            <a:r>
              <a:rPr lang="en-US"/>
              <a:t>Introduction</a:t>
            </a:r>
          </a:p>
          <a:p>
            <a:pPr marL="742950" indent="-742950">
              <a:buFont typeface="+mj-lt"/>
              <a:buAutoNum type="arabicPeriod"/>
            </a:pPr>
            <a:r>
              <a:rPr lang="en-US"/>
              <a:t>Historical context</a:t>
            </a:r>
          </a:p>
          <a:p>
            <a:pPr marL="742950" indent="-742950">
              <a:buFont typeface="+mj-lt"/>
              <a:buAutoNum type="arabicPeriod"/>
            </a:pPr>
            <a:r>
              <a:rPr lang="en-US"/>
              <a:t>When to use </a:t>
            </a:r>
            <a:r>
              <a:rPr lang="en-US" err="1"/>
              <a:t>IaC</a:t>
            </a:r>
            <a:r>
              <a:rPr lang="en-US"/>
              <a:t>, use cases, suitability</a:t>
            </a:r>
          </a:p>
          <a:p>
            <a:pPr marL="742950" indent="-742950">
              <a:buFont typeface="+mj-lt"/>
              <a:buAutoNum type="arabicPeriod"/>
            </a:pPr>
            <a:r>
              <a:rPr lang="en-US"/>
              <a:t>Technology overview</a:t>
            </a:r>
          </a:p>
          <a:p>
            <a:pPr marL="742950" indent="-742950">
              <a:buFont typeface="+mj-lt"/>
              <a:buAutoNum type="arabicPeriod"/>
            </a:pPr>
            <a:r>
              <a:rPr lang="en-US"/>
              <a:t>Terraform core concepts</a:t>
            </a:r>
          </a:p>
          <a:p>
            <a:pPr marL="742950" indent="-742950">
              <a:buFont typeface="+mj-lt"/>
              <a:buAutoNum type="arabicPeriod"/>
            </a:pPr>
            <a:endParaRPr lang="en-US"/>
          </a:p>
          <a:p>
            <a:pPr marL="742950" indent="-742950">
              <a:buFont typeface="+mj-lt"/>
              <a:buAutoNum type="arabicPeriod"/>
            </a:pPr>
            <a:endParaRPr lang="en-US"/>
          </a:p>
        </p:txBody>
      </p:sp>
    </p:spTree>
    <p:extLst>
      <p:ext uri="{BB962C8B-B14F-4D97-AF65-F5344CB8AC3E}">
        <p14:creationId xmlns:p14="http://schemas.microsoft.com/office/powerpoint/2010/main" val="3129097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66215E3-FD19-3E39-A766-475BD340C12F}"/>
              </a:ext>
            </a:extLst>
          </p:cNvPr>
          <p:cNvSpPr>
            <a:spLocks noGrp="1"/>
          </p:cNvSpPr>
          <p:nvPr>
            <p:ph type="body" sz="quarter" idx="10"/>
          </p:nvPr>
        </p:nvSpPr>
        <p:spPr/>
        <p:txBody>
          <a:bodyPr>
            <a:normAutofit/>
          </a:bodyPr>
          <a:lstStyle/>
          <a:p>
            <a:r>
              <a:rPr lang="en-US"/>
              <a:t>1. Introduction</a:t>
            </a:r>
          </a:p>
        </p:txBody>
      </p:sp>
    </p:spTree>
    <p:extLst>
      <p:ext uri="{BB962C8B-B14F-4D97-AF65-F5344CB8AC3E}">
        <p14:creationId xmlns:p14="http://schemas.microsoft.com/office/powerpoint/2010/main" val="585745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a:normAutofit/>
          </a:bodyPr>
          <a:lstStyle/>
          <a:p>
            <a:pPr marL="0" indent="0">
              <a:buNone/>
            </a:pPr>
            <a:r>
              <a:rPr lang="en-US"/>
              <a:t>Infrastructure refers to the underlying set of computing resources, networking components, and services required to host, deploy, and run the application. It encompasses all the physical and virtual components that support the application's operation.</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1. Introduction</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en-US" b="1" i="0">
                <a:effectLst/>
                <a:latin typeface="Söhne"/>
              </a:rPr>
              <a:t>Definition – Infrastructure (in the context of a web application)</a:t>
            </a:r>
            <a:endParaRPr lang="en-US"/>
          </a:p>
        </p:txBody>
      </p:sp>
    </p:spTree>
    <p:extLst>
      <p:ext uri="{BB962C8B-B14F-4D97-AF65-F5344CB8AC3E}">
        <p14:creationId xmlns:p14="http://schemas.microsoft.com/office/powerpoint/2010/main" val="2675346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a:normAutofit/>
          </a:bodyPr>
          <a:lstStyle/>
          <a:p>
            <a:pPr marL="0" indent="0">
              <a:buNone/>
            </a:pPr>
            <a:r>
              <a:rPr lang="en-US" err="1"/>
              <a:t>IaC</a:t>
            </a:r>
            <a:r>
              <a:rPr lang="en-US"/>
              <a:t> is an approach to </a:t>
            </a:r>
            <a:r>
              <a:rPr lang="en-US" b="1"/>
              <a:t>provisioning</a:t>
            </a:r>
            <a:r>
              <a:rPr lang="en-US"/>
              <a:t>, </a:t>
            </a:r>
            <a:r>
              <a:rPr lang="en-US" b="1"/>
              <a:t>configuring</a:t>
            </a:r>
            <a:r>
              <a:rPr lang="en-US"/>
              <a:t>, and </a:t>
            </a:r>
            <a:r>
              <a:rPr lang="en-US" b="1"/>
              <a:t>managing</a:t>
            </a:r>
            <a:r>
              <a:rPr lang="en-US"/>
              <a:t> </a:t>
            </a:r>
            <a:r>
              <a:rPr lang="en-US" b="1"/>
              <a:t>infrastructure resources through</a:t>
            </a:r>
            <a:r>
              <a:rPr lang="en-US"/>
              <a:t> machine-readable </a:t>
            </a:r>
            <a:r>
              <a:rPr lang="en-US" b="1"/>
              <a:t>code</a:t>
            </a:r>
            <a:r>
              <a:rPr lang="en-US"/>
              <a:t> and automation tools. It involves the use of declarative or imperative code to define infrastructure components, including servers, networks, storage, and other resources, </a:t>
            </a:r>
            <a:r>
              <a:rPr lang="en-US" b="1"/>
              <a:t>in a consistent and repeatable manner</a:t>
            </a:r>
            <a:r>
              <a:rPr lang="en-US"/>
              <a:t>.</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1. Introduction</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en-US" b="1" i="0">
                <a:effectLst/>
                <a:latin typeface="Söhne"/>
              </a:rPr>
              <a:t>Definition – Infrastructure as Code (</a:t>
            </a:r>
            <a:r>
              <a:rPr lang="en-US" b="1" i="0" err="1">
                <a:effectLst/>
                <a:latin typeface="Söhne"/>
              </a:rPr>
              <a:t>IaC</a:t>
            </a:r>
            <a:r>
              <a:rPr lang="en-US" b="1" i="0">
                <a:effectLst/>
                <a:latin typeface="Söhne"/>
              </a:rPr>
              <a:t>)</a:t>
            </a:r>
            <a:endParaRPr lang="en-US"/>
          </a:p>
        </p:txBody>
      </p:sp>
    </p:spTree>
    <p:extLst>
      <p:ext uri="{BB962C8B-B14F-4D97-AF65-F5344CB8AC3E}">
        <p14:creationId xmlns:p14="http://schemas.microsoft.com/office/powerpoint/2010/main" val="3745736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C190B38-16D6-0171-B8A4-DCF535E6F7C9}"/>
              </a:ext>
            </a:extLst>
          </p:cNvPr>
          <p:cNvSpPr>
            <a:spLocks noGrp="1"/>
          </p:cNvSpPr>
          <p:nvPr>
            <p:ph type="body" sz="quarter" idx="10"/>
          </p:nvPr>
        </p:nvSpPr>
        <p:spPr/>
        <p:txBody>
          <a:bodyPr/>
          <a:lstStyle/>
          <a:p>
            <a:pPr marL="0" indent="0">
              <a:buNone/>
            </a:pPr>
            <a:r>
              <a:rPr lang="en-US" dirty="0"/>
              <a:t>1. Introduction</a:t>
            </a:r>
          </a:p>
        </p:txBody>
      </p:sp>
    </p:spTree>
    <p:extLst>
      <p:ext uri="{BB962C8B-B14F-4D97-AF65-F5344CB8AC3E}">
        <p14:creationId xmlns:p14="http://schemas.microsoft.com/office/powerpoint/2010/main" val="1143973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0B496BEB-659C-D375-5BDA-DDB01563AA25}"/>
              </a:ext>
            </a:extLst>
          </p:cNvPr>
          <p:cNvSpPr>
            <a:spLocks noGrp="1"/>
          </p:cNvSpPr>
          <p:nvPr>
            <p:ph type="body" sz="quarter" idx="10"/>
          </p:nvPr>
        </p:nvSpPr>
        <p:spPr/>
        <p:txBody>
          <a:bodyPr>
            <a:normAutofit/>
          </a:bodyPr>
          <a:lstStyle/>
          <a:p>
            <a:r>
              <a:rPr lang="en-US"/>
              <a:t>2. Historical context</a:t>
            </a:r>
          </a:p>
        </p:txBody>
      </p:sp>
    </p:spTree>
    <p:extLst>
      <p:ext uri="{BB962C8B-B14F-4D97-AF65-F5344CB8AC3E}">
        <p14:creationId xmlns:p14="http://schemas.microsoft.com/office/powerpoint/2010/main" val="2280575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a:lstStyle/>
          <a:p>
            <a:r>
              <a:rPr lang="en-US"/>
              <a:t>In the pre-digital era, server deployment was entirely manual and typically involved physical machines such as mechanical calculators or early computing devices.</a:t>
            </a:r>
          </a:p>
          <a:p>
            <a:r>
              <a:rPr lang="en-US"/>
              <a:t>These machines were programmed by physically configuring their components, such as switches, wires, or punch cards.</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en-US"/>
              <a:t>Manual Server Deployment (Pre-20th Century)</a:t>
            </a:r>
          </a:p>
        </p:txBody>
      </p:sp>
    </p:spTree>
    <p:extLst>
      <p:ext uri="{BB962C8B-B14F-4D97-AF65-F5344CB8AC3E}">
        <p14:creationId xmlns:p14="http://schemas.microsoft.com/office/powerpoint/2010/main" val="3902165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a:lstStyle/>
          <a:p>
            <a:pPr algn="l">
              <a:buFont typeface="Arial" panose="020B0604020202020204" pitchFamily="34" charset="0"/>
              <a:buChar char="•"/>
            </a:pPr>
            <a:r>
              <a:rPr lang="en-US" b="0" i="0">
                <a:solidFill>
                  <a:srgbClr val="374151"/>
                </a:solidFill>
                <a:effectLst/>
                <a:latin typeface="Söhne"/>
              </a:rPr>
              <a:t>The mid-20th century saw the rise of mainframe computers, which were large, centralized computing systems.</a:t>
            </a:r>
          </a:p>
          <a:p>
            <a:pPr algn="l">
              <a:buFont typeface="Arial" panose="020B0604020202020204" pitchFamily="34" charset="0"/>
              <a:buChar char="•"/>
            </a:pPr>
            <a:r>
              <a:rPr lang="en-US" b="0" i="0">
                <a:solidFill>
                  <a:srgbClr val="374151"/>
                </a:solidFill>
                <a:effectLst/>
                <a:latin typeface="Söhne"/>
              </a:rPr>
              <a:t>Mainframes were typically maintained and operated by skilled technicians and used for business and scientific computing.</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fr-FR" b="1" i="0">
                <a:effectLst/>
                <a:latin typeface="Söhne"/>
              </a:rPr>
              <a:t>Mainframes (Mid-20th Century)</a:t>
            </a:r>
            <a:endParaRPr lang="en-US"/>
          </a:p>
        </p:txBody>
      </p:sp>
    </p:spTree>
    <p:extLst>
      <p:ext uri="{BB962C8B-B14F-4D97-AF65-F5344CB8AC3E}">
        <p14:creationId xmlns:p14="http://schemas.microsoft.com/office/powerpoint/2010/main" val="1290835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The late 20th century introduced client-server architecture, where servers served requests from client devices.</a:t>
            </a:r>
          </a:p>
          <a:p>
            <a:r>
              <a:rPr lang="en-US"/>
              <a:t>Server deployment involved the installation and configuration of physical servers in data centers.</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en-US" b="1" i="0">
                <a:effectLst/>
                <a:latin typeface="Söhne"/>
              </a:rPr>
              <a:t>Client-Server Architecture (Late 20th Century)</a:t>
            </a:r>
            <a:endParaRPr lang="en-US"/>
          </a:p>
        </p:txBody>
      </p:sp>
    </p:spTree>
    <p:extLst>
      <p:ext uri="{BB962C8B-B14F-4D97-AF65-F5344CB8AC3E}">
        <p14:creationId xmlns:p14="http://schemas.microsoft.com/office/powerpoint/2010/main" val="3444506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Early 21st-century advancements in virtualization technology, such as VMware, allowed for the creation of virtual machines (VMs) on physical servers.</a:t>
            </a:r>
          </a:p>
          <a:p>
            <a:r>
              <a:rPr lang="en-US"/>
              <a:t>Virtualization improved resource utilization and simplified server provisioning.</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p:txBody>
          <a:bodyPr/>
          <a:lstStyle/>
          <a:p>
            <a:r>
              <a:rPr lang="en-US" b="1" i="0">
                <a:effectLst/>
                <a:latin typeface="Söhne"/>
              </a:rPr>
              <a:t>Virtualization (Early 21st Century)</a:t>
            </a:r>
            <a:endParaRPr lang="en-US"/>
          </a:p>
        </p:txBody>
      </p:sp>
    </p:spTree>
    <p:extLst>
      <p:ext uri="{BB962C8B-B14F-4D97-AF65-F5344CB8AC3E}">
        <p14:creationId xmlns:p14="http://schemas.microsoft.com/office/powerpoint/2010/main" val="2514440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Cloud computing, with the introduction of Amazon Web Services (AWS) in 2006, revolutionized server deployment.</a:t>
            </a:r>
          </a:p>
          <a:p>
            <a:r>
              <a:rPr lang="en-US"/>
              <a:t>Cloud providers offered Infrastructure as a Service (IaaS), enabling users to provision and manage virtual servers in the cloud.</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a:xfrm>
            <a:off x="838200" y="1352782"/>
            <a:ext cx="10441597" cy="424732"/>
          </a:xfrm>
        </p:spPr>
        <p:txBody>
          <a:bodyPr/>
          <a:lstStyle/>
          <a:p>
            <a:r>
              <a:rPr lang="en-US" b="1" i="0">
                <a:effectLst/>
                <a:latin typeface="Söhne"/>
              </a:rPr>
              <a:t>Cloud Computing (Mid-2000s Onward)</a:t>
            </a:r>
          </a:p>
        </p:txBody>
      </p:sp>
    </p:spTree>
    <p:extLst>
      <p:ext uri="{BB962C8B-B14F-4D97-AF65-F5344CB8AC3E}">
        <p14:creationId xmlns:p14="http://schemas.microsoft.com/office/powerpoint/2010/main" val="1656066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The DevOps movement emphasized automation, collaboration, and the integration of development and operations teams.</a:t>
            </a:r>
          </a:p>
          <a:p>
            <a:r>
              <a:rPr lang="en-US"/>
              <a:t>Infrastructure as Code (</a:t>
            </a:r>
            <a:r>
              <a:rPr lang="en-US" err="1"/>
              <a:t>IaC</a:t>
            </a:r>
            <a:r>
              <a:rPr lang="en-US"/>
              <a:t>) tools like Chef, Puppet, Ansible, and Terraform emerged, allowing for automated server provisioning and configuration.</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a:xfrm>
            <a:off x="838200" y="1352782"/>
            <a:ext cx="10441597" cy="424732"/>
          </a:xfrm>
        </p:spPr>
        <p:txBody>
          <a:bodyPr/>
          <a:lstStyle/>
          <a:p>
            <a:r>
              <a:rPr lang="en-US" b="1" i="0">
                <a:effectLst/>
                <a:latin typeface="Söhne"/>
              </a:rPr>
              <a:t>DevOps and Automation (2010s Onward)</a:t>
            </a:r>
          </a:p>
        </p:txBody>
      </p:sp>
    </p:spTree>
    <p:extLst>
      <p:ext uri="{BB962C8B-B14F-4D97-AF65-F5344CB8AC3E}">
        <p14:creationId xmlns:p14="http://schemas.microsoft.com/office/powerpoint/2010/main" val="2903997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Containers, popularized by Docker, introduced a lightweight and portable way to package applications and their dependencies.</a:t>
            </a:r>
          </a:p>
          <a:p>
            <a:r>
              <a:rPr lang="en-US"/>
              <a:t>Container orchestration platforms like Kubernetes made it easier to deploy and manage containers at scale.</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a:xfrm>
            <a:off x="838200" y="1352782"/>
            <a:ext cx="10441597" cy="424732"/>
          </a:xfrm>
        </p:spPr>
        <p:txBody>
          <a:bodyPr/>
          <a:lstStyle/>
          <a:p>
            <a:r>
              <a:rPr lang="en-US" b="1" i="0">
                <a:effectLst/>
                <a:latin typeface="Söhne"/>
              </a:rPr>
              <a:t>Containerization (2010s Onward)</a:t>
            </a:r>
          </a:p>
        </p:txBody>
      </p:sp>
    </p:spTree>
    <p:extLst>
      <p:ext uri="{BB962C8B-B14F-4D97-AF65-F5344CB8AC3E}">
        <p14:creationId xmlns:p14="http://schemas.microsoft.com/office/powerpoint/2010/main" val="3498204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Serverless computing introduced a paradigm shift where developers focused on writing code (functions) without managing servers.</a:t>
            </a:r>
          </a:p>
          <a:p>
            <a:r>
              <a:rPr lang="en-US"/>
              <a:t>Services like AWS Lambda, Azure Functions, and Google Cloud Functions enabled event-driven, auto-scaling compute.</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a:xfrm>
            <a:off x="838200" y="1352782"/>
            <a:ext cx="10441597" cy="424732"/>
          </a:xfrm>
        </p:spPr>
        <p:txBody>
          <a:bodyPr/>
          <a:lstStyle/>
          <a:p>
            <a:r>
              <a:rPr lang="en-US" b="1" i="0">
                <a:effectLst/>
                <a:latin typeface="Söhne"/>
              </a:rPr>
              <a:t>Serverless Computing (2010s Onward)</a:t>
            </a:r>
          </a:p>
        </p:txBody>
      </p:sp>
    </p:spTree>
    <p:extLst>
      <p:ext uri="{BB962C8B-B14F-4D97-AF65-F5344CB8AC3E}">
        <p14:creationId xmlns:p14="http://schemas.microsoft.com/office/powerpoint/2010/main" val="1361629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Organizations increasingly adopt multi-cloud and hybrid cloud strategies, leveraging multiple cloud providers and on-premises infrastructure.</a:t>
            </a:r>
          </a:p>
          <a:p>
            <a:r>
              <a:rPr lang="en-US"/>
              <a:t>Tools and platforms facilitate the deployment and management of resources across different environments.</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a:xfrm>
            <a:off x="838200" y="1352782"/>
            <a:ext cx="10441597" cy="424732"/>
          </a:xfrm>
        </p:spPr>
        <p:txBody>
          <a:bodyPr/>
          <a:lstStyle/>
          <a:p>
            <a:r>
              <a:rPr lang="en-US" b="1" i="0">
                <a:effectLst/>
                <a:latin typeface="Söhne"/>
              </a:rPr>
              <a:t>Multi-Cloud and Hybrid Cloud (Present Day)</a:t>
            </a:r>
          </a:p>
        </p:txBody>
      </p:sp>
    </p:spTree>
    <p:extLst>
      <p:ext uri="{BB962C8B-B14F-4D97-AF65-F5344CB8AC3E}">
        <p14:creationId xmlns:p14="http://schemas.microsoft.com/office/powerpoint/2010/main" val="189260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0E6A220-3127-F3F8-91EF-7CA8BE5035C0}"/>
              </a:ext>
            </a:extLst>
          </p:cNvPr>
          <p:cNvSpPr>
            <a:spLocks noGrp="1"/>
          </p:cNvSpPr>
          <p:nvPr>
            <p:ph idx="1"/>
          </p:nvPr>
        </p:nvSpPr>
        <p:spPr/>
        <p:txBody>
          <a:bodyPr vert="horz" lIns="91440" tIns="45720" rIns="91440" bIns="45720" rtlCol="0">
            <a:normAutofit/>
          </a:bodyPr>
          <a:lstStyle/>
          <a:p>
            <a:r>
              <a:rPr lang="en-US"/>
              <a:t>Automation and </a:t>
            </a:r>
            <a:r>
              <a:rPr lang="en-US" err="1"/>
              <a:t>IaC</a:t>
            </a:r>
            <a:r>
              <a:rPr lang="en-US"/>
              <a:t> continue to evolve, with modern tools like </a:t>
            </a:r>
            <a:r>
              <a:rPr lang="en-US" err="1"/>
              <a:t>Pulumi</a:t>
            </a:r>
            <a:r>
              <a:rPr lang="en-US"/>
              <a:t> and CDK for Terraform enabling infrastructure management through programming languages.</a:t>
            </a:r>
          </a:p>
          <a:p>
            <a:r>
              <a:rPr lang="en-US"/>
              <a:t>AI and machine learning are also being used to automate server deployment and optimization.</a:t>
            </a:r>
          </a:p>
        </p:txBody>
      </p:sp>
      <p:sp>
        <p:nvSpPr>
          <p:cNvPr id="3" name="Espace réservé du texte 2">
            <a:extLst>
              <a:ext uri="{FF2B5EF4-FFF2-40B4-BE49-F238E27FC236}">
                <a16:creationId xmlns:a16="http://schemas.microsoft.com/office/drawing/2014/main" id="{1793914B-2F0C-8398-A6FC-6E174718244E}"/>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4275B9D1-B699-3CBD-D338-53DA21740AE3}"/>
              </a:ext>
            </a:extLst>
          </p:cNvPr>
          <p:cNvSpPr>
            <a:spLocks noGrp="1"/>
          </p:cNvSpPr>
          <p:nvPr>
            <p:ph type="body" sz="quarter" idx="15"/>
          </p:nvPr>
        </p:nvSpPr>
        <p:spPr>
          <a:xfrm>
            <a:off x="838200" y="1352782"/>
            <a:ext cx="10441597" cy="424732"/>
          </a:xfrm>
        </p:spPr>
        <p:txBody>
          <a:bodyPr/>
          <a:lstStyle/>
          <a:p>
            <a:r>
              <a:rPr lang="en-US" b="1" i="0">
                <a:effectLst/>
                <a:latin typeface="Söhne"/>
              </a:rPr>
              <a:t>Automation and </a:t>
            </a:r>
            <a:r>
              <a:rPr lang="en-US" b="1" i="0" err="1">
                <a:effectLst/>
                <a:latin typeface="Söhne"/>
              </a:rPr>
              <a:t>IaC</a:t>
            </a:r>
            <a:r>
              <a:rPr lang="en-US" b="1" i="0">
                <a:effectLst/>
                <a:latin typeface="Söhne"/>
              </a:rPr>
              <a:t> Evolution (Present Day)</a:t>
            </a:r>
          </a:p>
        </p:txBody>
      </p:sp>
    </p:spTree>
    <p:extLst>
      <p:ext uri="{BB962C8B-B14F-4D97-AF65-F5344CB8AC3E}">
        <p14:creationId xmlns:p14="http://schemas.microsoft.com/office/powerpoint/2010/main" val="3403593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6E2EEC19-8EC6-F91E-2723-7FDF6B7AF36F}"/>
              </a:ext>
            </a:extLst>
          </p:cNvPr>
          <p:cNvSpPr>
            <a:spLocks noGrp="1"/>
          </p:cNvSpPr>
          <p:nvPr>
            <p:ph sz="half" idx="1"/>
          </p:nvPr>
        </p:nvSpPr>
        <p:spPr/>
        <p:txBody>
          <a:bodyPr/>
          <a:lstStyle/>
          <a:p>
            <a:pPr marL="0" indent="0">
              <a:buNone/>
            </a:pPr>
            <a:r>
              <a:rPr lang="en-US"/>
              <a:t>As web applications went from a few manually managed physical servers to cloud-hosted services, </a:t>
            </a:r>
            <a:r>
              <a:rPr lang="en-US" err="1"/>
              <a:t>IaC</a:t>
            </a:r>
            <a:r>
              <a:rPr lang="en-US"/>
              <a:t> approaches emerged to address the new challenges from managing and provisioning infrastructure.</a:t>
            </a:r>
          </a:p>
        </p:txBody>
      </p:sp>
      <p:sp>
        <p:nvSpPr>
          <p:cNvPr id="6" name="Espace réservé du contenu 5">
            <a:extLst>
              <a:ext uri="{FF2B5EF4-FFF2-40B4-BE49-F238E27FC236}">
                <a16:creationId xmlns:a16="http://schemas.microsoft.com/office/drawing/2014/main" id="{AAB66B5F-601A-AC19-3AB2-6B0B1C7F7AFD}"/>
              </a:ext>
            </a:extLst>
          </p:cNvPr>
          <p:cNvSpPr>
            <a:spLocks noGrp="1"/>
          </p:cNvSpPr>
          <p:nvPr>
            <p:ph sz="half" idx="2"/>
          </p:nvPr>
        </p:nvSpPr>
        <p:spPr/>
        <p:txBody>
          <a:bodyPr/>
          <a:lstStyle/>
          <a:p>
            <a:r>
              <a:rPr lang="en-US"/>
              <a:t>Scalability and Automation</a:t>
            </a:r>
          </a:p>
          <a:p>
            <a:r>
              <a:rPr lang="en-US"/>
              <a:t>Consistency and Governance</a:t>
            </a:r>
          </a:p>
          <a:p>
            <a:r>
              <a:rPr lang="en-US"/>
              <a:t>Cost management</a:t>
            </a:r>
          </a:p>
        </p:txBody>
      </p:sp>
      <p:sp>
        <p:nvSpPr>
          <p:cNvPr id="3" name="Espace réservé du texte 2">
            <a:extLst>
              <a:ext uri="{FF2B5EF4-FFF2-40B4-BE49-F238E27FC236}">
                <a16:creationId xmlns:a16="http://schemas.microsoft.com/office/drawing/2014/main" id="{7FE07C4B-14BC-0693-C9BB-E8F029DB6965}"/>
              </a:ext>
            </a:extLst>
          </p:cNvPr>
          <p:cNvSpPr>
            <a:spLocks noGrp="1"/>
          </p:cNvSpPr>
          <p:nvPr>
            <p:ph type="body" sz="quarter" idx="14"/>
          </p:nvPr>
        </p:nvSpPr>
        <p:spPr/>
        <p:txBody>
          <a:bodyPr/>
          <a:lstStyle/>
          <a:p>
            <a:r>
              <a:rPr lang="en-US"/>
              <a:t>2. Historical context</a:t>
            </a:r>
          </a:p>
        </p:txBody>
      </p:sp>
      <p:sp>
        <p:nvSpPr>
          <p:cNvPr id="4" name="Espace réservé du texte 3">
            <a:extLst>
              <a:ext uri="{FF2B5EF4-FFF2-40B4-BE49-F238E27FC236}">
                <a16:creationId xmlns:a16="http://schemas.microsoft.com/office/drawing/2014/main" id="{543C9BA9-7206-4EF3-B304-46D7841CEDD0}"/>
              </a:ext>
            </a:extLst>
          </p:cNvPr>
          <p:cNvSpPr>
            <a:spLocks noGrp="1"/>
          </p:cNvSpPr>
          <p:nvPr>
            <p:ph type="body" sz="quarter" idx="15"/>
          </p:nvPr>
        </p:nvSpPr>
        <p:spPr/>
        <p:txBody>
          <a:bodyPr/>
          <a:lstStyle/>
          <a:p>
            <a:r>
              <a:rPr lang="en-US"/>
              <a:t>Key Challenges</a:t>
            </a:r>
          </a:p>
        </p:txBody>
      </p:sp>
    </p:spTree>
    <p:extLst>
      <p:ext uri="{BB962C8B-B14F-4D97-AF65-F5344CB8AC3E}">
        <p14:creationId xmlns:p14="http://schemas.microsoft.com/office/powerpoint/2010/main" val="518895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0503198-F57B-C238-422E-8F4A6C1AC5E4}"/>
              </a:ext>
            </a:extLst>
          </p:cNvPr>
          <p:cNvSpPr>
            <a:spLocks noGrp="1"/>
          </p:cNvSpPr>
          <p:nvPr>
            <p:ph sz="half" idx="1"/>
          </p:nvPr>
        </p:nvSpPr>
        <p:spPr/>
        <p:txBody>
          <a:bodyPr>
            <a:normAutofit fontScale="92500" lnSpcReduction="20000"/>
          </a:bodyPr>
          <a:lstStyle/>
          <a:p>
            <a:pPr marL="0" indent="0">
              <a:buNone/>
            </a:pPr>
            <a:r>
              <a:rPr lang="en-US"/>
              <a:t>Organizations often struggle with manual and error-prone configuration processes.</a:t>
            </a:r>
          </a:p>
          <a:p>
            <a:pPr marL="0" indent="0">
              <a:buNone/>
            </a:pPr>
            <a:r>
              <a:rPr lang="en-US"/>
              <a:t>This leads to inefficiencies, slower deployment times, and a higher likelihood of misconfigurations. </a:t>
            </a:r>
          </a:p>
          <a:p>
            <a:pPr marL="0" indent="0">
              <a:buNone/>
            </a:pPr>
            <a:r>
              <a:rPr lang="en-US"/>
              <a:t>Automating infrastructure provisioning and management through </a:t>
            </a:r>
            <a:r>
              <a:rPr lang="en-US" err="1"/>
              <a:t>IaC</a:t>
            </a:r>
            <a:r>
              <a:rPr lang="en-US"/>
              <a:t> helps organizations improve efficiency, reduce human errors, and accelerate the deployment of resources.</a:t>
            </a:r>
          </a:p>
        </p:txBody>
      </p:sp>
      <p:sp>
        <p:nvSpPr>
          <p:cNvPr id="3" name="Espace réservé du contenu 2">
            <a:extLst>
              <a:ext uri="{FF2B5EF4-FFF2-40B4-BE49-F238E27FC236}">
                <a16:creationId xmlns:a16="http://schemas.microsoft.com/office/drawing/2014/main" id="{CD9F0DFF-3BF7-7952-01DD-D5B72AB74AFF}"/>
              </a:ext>
            </a:extLst>
          </p:cNvPr>
          <p:cNvSpPr>
            <a:spLocks noGrp="1"/>
          </p:cNvSpPr>
          <p:nvPr>
            <p:ph sz="half" idx="2"/>
          </p:nvPr>
        </p:nvSpPr>
        <p:spPr/>
        <p:txBody>
          <a:bodyPr/>
          <a:lstStyle/>
          <a:p>
            <a:r>
              <a:rPr lang="en-US"/>
              <a:t>Manual and Error-Prone Configuration</a:t>
            </a:r>
          </a:p>
          <a:p>
            <a:r>
              <a:rPr lang="en-US"/>
              <a:t>Deployment Speed and Agility</a:t>
            </a:r>
          </a:p>
          <a:p>
            <a:r>
              <a:rPr lang="en-US"/>
              <a:t>Scaling Challenges</a:t>
            </a:r>
          </a:p>
          <a:p>
            <a:endParaRPr lang="en-US"/>
          </a:p>
        </p:txBody>
      </p:sp>
      <p:sp>
        <p:nvSpPr>
          <p:cNvPr id="4" name="Espace réservé du texte 3">
            <a:extLst>
              <a:ext uri="{FF2B5EF4-FFF2-40B4-BE49-F238E27FC236}">
                <a16:creationId xmlns:a16="http://schemas.microsoft.com/office/drawing/2014/main" id="{1E8573B4-72D5-1B27-FB57-2837AD1A5939}"/>
              </a:ext>
            </a:extLst>
          </p:cNvPr>
          <p:cNvSpPr>
            <a:spLocks noGrp="1"/>
          </p:cNvSpPr>
          <p:nvPr>
            <p:ph type="body" sz="quarter" idx="14"/>
          </p:nvPr>
        </p:nvSpPr>
        <p:spPr/>
        <p:txBody>
          <a:bodyPr/>
          <a:lstStyle/>
          <a:p>
            <a:r>
              <a:rPr lang="en-US"/>
              <a:t>2. Historical context</a:t>
            </a:r>
          </a:p>
        </p:txBody>
      </p:sp>
      <p:sp>
        <p:nvSpPr>
          <p:cNvPr id="5" name="Espace réservé du texte 4">
            <a:extLst>
              <a:ext uri="{FF2B5EF4-FFF2-40B4-BE49-F238E27FC236}">
                <a16:creationId xmlns:a16="http://schemas.microsoft.com/office/drawing/2014/main" id="{2A81C3FA-0BA3-AFE7-7BDB-B12DAF2453BD}"/>
              </a:ext>
            </a:extLst>
          </p:cNvPr>
          <p:cNvSpPr>
            <a:spLocks noGrp="1"/>
          </p:cNvSpPr>
          <p:nvPr>
            <p:ph type="body" sz="quarter" idx="15"/>
          </p:nvPr>
        </p:nvSpPr>
        <p:spPr/>
        <p:txBody>
          <a:bodyPr/>
          <a:lstStyle/>
          <a:p>
            <a:r>
              <a:rPr lang="en-US"/>
              <a:t>Challenges: Scalability and Automation</a:t>
            </a:r>
          </a:p>
        </p:txBody>
      </p:sp>
    </p:spTree>
    <p:extLst>
      <p:ext uri="{BB962C8B-B14F-4D97-AF65-F5344CB8AC3E}">
        <p14:creationId xmlns:p14="http://schemas.microsoft.com/office/powerpoint/2010/main" val="3360058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0503198-F57B-C238-422E-8F4A6C1AC5E4}"/>
              </a:ext>
            </a:extLst>
          </p:cNvPr>
          <p:cNvSpPr>
            <a:spLocks noGrp="1"/>
          </p:cNvSpPr>
          <p:nvPr>
            <p:ph sz="half" idx="1"/>
          </p:nvPr>
        </p:nvSpPr>
        <p:spPr/>
        <p:txBody>
          <a:bodyPr>
            <a:normAutofit fontScale="92500" lnSpcReduction="20000"/>
          </a:bodyPr>
          <a:lstStyle/>
          <a:p>
            <a:pPr marL="0" indent="0">
              <a:buNone/>
            </a:pPr>
            <a:r>
              <a:rPr lang="en-US"/>
              <a:t>Maintaining consistency across different environments (e.g., development, staging, production) is a significant challenge.</a:t>
            </a:r>
          </a:p>
          <a:p>
            <a:pPr marL="0" indent="0">
              <a:buNone/>
            </a:pPr>
            <a:r>
              <a:rPr lang="en-US"/>
              <a:t>Manual configurations can result in inconsistencies, making it difficult to ensure security, compliance, and reliability.</a:t>
            </a:r>
          </a:p>
          <a:p>
            <a:pPr marL="0" indent="0">
              <a:buNone/>
            </a:pPr>
            <a:r>
              <a:rPr lang="en-US" err="1"/>
              <a:t>IaC</a:t>
            </a:r>
            <a:r>
              <a:rPr lang="en-US"/>
              <a:t> enables organizations to codify infrastructure configurations, enforce best practices, and achieve consistent governance across environments.</a:t>
            </a:r>
          </a:p>
        </p:txBody>
      </p:sp>
      <p:sp>
        <p:nvSpPr>
          <p:cNvPr id="3" name="Espace réservé du contenu 2">
            <a:extLst>
              <a:ext uri="{FF2B5EF4-FFF2-40B4-BE49-F238E27FC236}">
                <a16:creationId xmlns:a16="http://schemas.microsoft.com/office/drawing/2014/main" id="{CD9F0DFF-3BF7-7952-01DD-D5B72AB74AFF}"/>
              </a:ext>
            </a:extLst>
          </p:cNvPr>
          <p:cNvSpPr>
            <a:spLocks noGrp="1"/>
          </p:cNvSpPr>
          <p:nvPr>
            <p:ph sz="half" idx="2"/>
          </p:nvPr>
        </p:nvSpPr>
        <p:spPr/>
        <p:txBody>
          <a:bodyPr/>
          <a:lstStyle/>
          <a:p>
            <a:r>
              <a:rPr lang="en-US"/>
              <a:t>Inconsistency Across Environments</a:t>
            </a:r>
          </a:p>
          <a:p>
            <a:r>
              <a:rPr lang="en-US"/>
              <a:t>Version Control and Change Management</a:t>
            </a:r>
          </a:p>
          <a:p>
            <a:r>
              <a:rPr lang="en-US"/>
              <a:t>Security and Compliance</a:t>
            </a:r>
          </a:p>
          <a:p>
            <a:r>
              <a:rPr lang="en-US"/>
              <a:t>Disaster Recovery and Redundancy</a:t>
            </a:r>
          </a:p>
        </p:txBody>
      </p:sp>
      <p:sp>
        <p:nvSpPr>
          <p:cNvPr id="4" name="Espace réservé du texte 3">
            <a:extLst>
              <a:ext uri="{FF2B5EF4-FFF2-40B4-BE49-F238E27FC236}">
                <a16:creationId xmlns:a16="http://schemas.microsoft.com/office/drawing/2014/main" id="{1E8573B4-72D5-1B27-FB57-2837AD1A5939}"/>
              </a:ext>
            </a:extLst>
          </p:cNvPr>
          <p:cNvSpPr>
            <a:spLocks noGrp="1"/>
          </p:cNvSpPr>
          <p:nvPr>
            <p:ph type="body" sz="quarter" idx="14"/>
          </p:nvPr>
        </p:nvSpPr>
        <p:spPr/>
        <p:txBody>
          <a:bodyPr/>
          <a:lstStyle/>
          <a:p>
            <a:r>
              <a:rPr lang="en-US"/>
              <a:t>2. Historical context</a:t>
            </a:r>
          </a:p>
        </p:txBody>
      </p:sp>
      <p:sp>
        <p:nvSpPr>
          <p:cNvPr id="5" name="Espace réservé du texte 4">
            <a:extLst>
              <a:ext uri="{FF2B5EF4-FFF2-40B4-BE49-F238E27FC236}">
                <a16:creationId xmlns:a16="http://schemas.microsoft.com/office/drawing/2014/main" id="{2A81C3FA-0BA3-AFE7-7BDB-B12DAF2453BD}"/>
              </a:ext>
            </a:extLst>
          </p:cNvPr>
          <p:cNvSpPr>
            <a:spLocks noGrp="1"/>
          </p:cNvSpPr>
          <p:nvPr>
            <p:ph type="body" sz="quarter" idx="15"/>
          </p:nvPr>
        </p:nvSpPr>
        <p:spPr/>
        <p:txBody>
          <a:bodyPr/>
          <a:lstStyle/>
          <a:p>
            <a:r>
              <a:rPr lang="en-US"/>
              <a:t>Challenges: Consistency and Governance</a:t>
            </a:r>
          </a:p>
        </p:txBody>
      </p:sp>
    </p:spTree>
    <p:extLst>
      <p:ext uri="{BB962C8B-B14F-4D97-AF65-F5344CB8AC3E}">
        <p14:creationId xmlns:p14="http://schemas.microsoft.com/office/powerpoint/2010/main" val="458872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0503198-F57B-C238-422E-8F4A6C1AC5E4}"/>
              </a:ext>
            </a:extLst>
          </p:cNvPr>
          <p:cNvSpPr>
            <a:spLocks noGrp="1"/>
          </p:cNvSpPr>
          <p:nvPr>
            <p:ph sz="half" idx="1"/>
          </p:nvPr>
        </p:nvSpPr>
        <p:spPr/>
        <p:txBody>
          <a:bodyPr>
            <a:normAutofit fontScale="92500" lnSpcReduction="20000"/>
          </a:bodyPr>
          <a:lstStyle/>
          <a:p>
            <a:pPr marL="0" indent="0">
              <a:buNone/>
            </a:pPr>
            <a:r>
              <a:rPr lang="en-US"/>
              <a:t>Cost management is a top concern for organizations, especially in cloud environments where resources are billed based on usage.</a:t>
            </a:r>
          </a:p>
          <a:p>
            <a:pPr marL="0" indent="0">
              <a:buNone/>
            </a:pPr>
            <a:r>
              <a:rPr lang="en-US"/>
              <a:t>Without proper tagging, allocation, and resource optimization, costs can spiral out of control.</a:t>
            </a:r>
          </a:p>
          <a:p>
            <a:pPr marL="0" indent="0">
              <a:buNone/>
            </a:pPr>
            <a:r>
              <a:rPr lang="en-US" err="1"/>
              <a:t>IaC</a:t>
            </a:r>
            <a:r>
              <a:rPr lang="en-US"/>
              <a:t> tools and practices help organizations implement cost-saving strategies, such as resource tagging, right-sizing, and automated scaling, leading to better cost management and optimization.</a:t>
            </a:r>
          </a:p>
        </p:txBody>
      </p:sp>
      <p:sp>
        <p:nvSpPr>
          <p:cNvPr id="3" name="Espace réservé du contenu 2">
            <a:extLst>
              <a:ext uri="{FF2B5EF4-FFF2-40B4-BE49-F238E27FC236}">
                <a16:creationId xmlns:a16="http://schemas.microsoft.com/office/drawing/2014/main" id="{CD9F0DFF-3BF7-7952-01DD-D5B72AB74AFF}"/>
              </a:ext>
            </a:extLst>
          </p:cNvPr>
          <p:cNvSpPr>
            <a:spLocks noGrp="1"/>
          </p:cNvSpPr>
          <p:nvPr>
            <p:ph sz="half" idx="2"/>
          </p:nvPr>
        </p:nvSpPr>
        <p:spPr/>
        <p:txBody>
          <a:bodyPr/>
          <a:lstStyle/>
          <a:p>
            <a:r>
              <a:rPr lang="en-US"/>
              <a:t>Resource Underutilization</a:t>
            </a:r>
          </a:p>
          <a:p>
            <a:r>
              <a:rPr lang="en-US"/>
              <a:t>Resource Tagging and Cost Allocation</a:t>
            </a:r>
          </a:p>
          <a:p>
            <a:r>
              <a:rPr lang="en-US"/>
              <a:t>Vendor Lock-In</a:t>
            </a:r>
          </a:p>
        </p:txBody>
      </p:sp>
      <p:sp>
        <p:nvSpPr>
          <p:cNvPr id="4" name="Espace réservé du texte 3">
            <a:extLst>
              <a:ext uri="{FF2B5EF4-FFF2-40B4-BE49-F238E27FC236}">
                <a16:creationId xmlns:a16="http://schemas.microsoft.com/office/drawing/2014/main" id="{1E8573B4-72D5-1B27-FB57-2837AD1A5939}"/>
              </a:ext>
            </a:extLst>
          </p:cNvPr>
          <p:cNvSpPr>
            <a:spLocks noGrp="1"/>
          </p:cNvSpPr>
          <p:nvPr>
            <p:ph type="body" sz="quarter" idx="14"/>
          </p:nvPr>
        </p:nvSpPr>
        <p:spPr/>
        <p:txBody>
          <a:bodyPr/>
          <a:lstStyle/>
          <a:p>
            <a:r>
              <a:rPr lang="en-US" dirty="0"/>
              <a:t>2. Historical context</a:t>
            </a:r>
          </a:p>
        </p:txBody>
      </p:sp>
      <p:sp>
        <p:nvSpPr>
          <p:cNvPr id="5" name="Espace réservé du texte 4">
            <a:extLst>
              <a:ext uri="{FF2B5EF4-FFF2-40B4-BE49-F238E27FC236}">
                <a16:creationId xmlns:a16="http://schemas.microsoft.com/office/drawing/2014/main" id="{2A81C3FA-0BA3-AFE7-7BDB-B12DAF2453BD}"/>
              </a:ext>
            </a:extLst>
          </p:cNvPr>
          <p:cNvSpPr>
            <a:spLocks noGrp="1"/>
          </p:cNvSpPr>
          <p:nvPr>
            <p:ph type="body" sz="quarter" idx="15"/>
          </p:nvPr>
        </p:nvSpPr>
        <p:spPr/>
        <p:txBody>
          <a:bodyPr/>
          <a:lstStyle/>
          <a:p>
            <a:r>
              <a:rPr lang="en-US"/>
              <a:t>Challenges: Cost Management</a:t>
            </a:r>
          </a:p>
        </p:txBody>
      </p:sp>
    </p:spTree>
    <p:extLst>
      <p:ext uri="{BB962C8B-B14F-4D97-AF65-F5344CB8AC3E}">
        <p14:creationId xmlns:p14="http://schemas.microsoft.com/office/powerpoint/2010/main" val="3362238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C190B38-16D6-0171-B8A4-DCF535E6F7C9}"/>
              </a:ext>
            </a:extLst>
          </p:cNvPr>
          <p:cNvSpPr>
            <a:spLocks noGrp="1"/>
          </p:cNvSpPr>
          <p:nvPr>
            <p:ph type="body" sz="quarter" idx="10"/>
          </p:nvPr>
        </p:nvSpPr>
        <p:spPr/>
        <p:txBody>
          <a:bodyPr/>
          <a:lstStyle/>
          <a:p>
            <a:pPr marL="0" indent="0">
              <a:buNone/>
            </a:pPr>
            <a:r>
              <a:rPr lang="en-US" dirty="0"/>
              <a:t>2. Historical context</a:t>
            </a:r>
          </a:p>
        </p:txBody>
      </p:sp>
    </p:spTree>
    <p:extLst>
      <p:ext uri="{BB962C8B-B14F-4D97-AF65-F5344CB8AC3E}">
        <p14:creationId xmlns:p14="http://schemas.microsoft.com/office/powerpoint/2010/main" val="2295584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66215E3-FD19-3E39-A766-475BD340C12F}"/>
              </a:ext>
            </a:extLst>
          </p:cNvPr>
          <p:cNvSpPr>
            <a:spLocks noGrp="1"/>
          </p:cNvSpPr>
          <p:nvPr>
            <p:ph type="body" sz="quarter" idx="10"/>
          </p:nvPr>
        </p:nvSpPr>
        <p:spPr/>
        <p:txBody>
          <a:bodyPr>
            <a:normAutofit/>
          </a:bodyPr>
          <a:lstStyle/>
          <a:p>
            <a:r>
              <a:rPr lang="en-US"/>
              <a:t>3. Use cases, suitability</a:t>
            </a:r>
          </a:p>
        </p:txBody>
      </p:sp>
    </p:spTree>
    <p:extLst>
      <p:ext uri="{BB962C8B-B14F-4D97-AF65-F5344CB8AC3E}">
        <p14:creationId xmlns:p14="http://schemas.microsoft.com/office/powerpoint/2010/main" val="3379968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81A5786D-32DA-F82F-FB82-8F2F39EED176}"/>
              </a:ext>
            </a:extLst>
          </p:cNvPr>
          <p:cNvSpPr>
            <a:spLocks noGrp="1"/>
          </p:cNvSpPr>
          <p:nvPr>
            <p:ph idx="1"/>
          </p:nvPr>
        </p:nvSpPr>
        <p:spPr/>
        <p:txBody>
          <a:bodyPr>
            <a:normAutofit/>
          </a:bodyPr>
          <a:lstStyle/>
          <a:p>
            <a:r>
              <a:rPr lang="en-US"/>
              <a:t>Scalability</a:t>
            </a:r>
          </a:p>
          <a:p>
            <a:r>
              <a:rPr lang="en-US"/>
              <a:t>Automation</a:t>
            </a:r>
          </a:p>
          <a:p>
            <a:r>
              <a:rPr lang="en-US"/>
              <a:t>Version control</a:t>
            </a:r>
          </a:p>
          <a:p>
            <a:r>
              <a:rPr lang="en-US"/>
              <a:t>Reusability</a:t>
            </a:r>
          </a:p>
          <a:p>
            <a:r>
              <a:rPr lang="en-US"/>
              <a:t>Consistency</a:t>
            </a:r>
          </a:p>
          <a:p>
            <a:r>
              <a:rPr lang="en-US"/>
              <a:t>Predictability</a:t>
            </a:r>
          </a:p>
        </p:txBody>
      </p:sp>
      <p:sp>
        <p:nvSpPr>
          <p:cNvPr id="3" name="Espace réservé du texte 2">
            <a:extLst>
              <a:ext uri="{FF2B5EF4-FFF2-40B4-BE49-F238E27FC236}">
                <a16:creationId xmlns:a16="http://schemas.microsoft.com/office/drawing/2014/main" id="{D77CC6B2-C543-F7B1-BE8C-469D3A1D1F95}"/>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5FA2CB81-19E2-B8F2-66BA-3161746AAC71}"/>
              </a:ext>
            </a:extLst>
          </p:cNvPr>
          <p:cNvSpPr>
            <a:spLocks noGrp="1"/>
          </p:cNvSpPr>
          <p:nvPr>
            <p:ph type="body" sz="quarter" idx="15"/>
          </p:nvPr>
        </p:nvSpPr>
        <p:spPr/>
        <p:txBody>
          <a:bodyPr/>
          <a:lstStyle/>
          <a:p>
            <a:r>
              <a:rPr lang="en-US"/>
              <a:t>Key Benefits of </a:t>
            </a:r>
            <a:r>
              <a:rPr lang="en-US" err="1"/>
              <a:t>IaC</a:t>
            </a:r>
            <a:endParaRPr lang="en-US"/>
          </a:p>
        </p:txBody>
      </p:sp>
    </p:spTree>
    <p:extLst>
      <p:ext uri="{BB962C8B-B14F-4D97-AF65-F5344CB8AC3E}">
        <p14:creationId xmlns:p14="http://schemas.microsoft.com/office/powerpoint/2010/main" val="3238421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sz="half" idx="1"/>
          </p:nvPr>
        </p:nvSpPr>
        <p:spPr/>
        <p:txBody>
          <a:bodyPr>
            <a:normAutofit/>
          </a:bodyPr>
          <a:lstStyle/>
          <a:p>
            <a:r>
              <a:rPr lang="en-US"/>
              <a:t>Learning Curve</a:t>
            </a:r>
          </a:p>
          <a:p>
            <a:r>
              <a:rPr lang="en-US"/>
              <a:t>Tooling Selection</a:t>
            </a:r>
          </a:p>
          <a:p>
            <a:r>
              <a:rPr lang="en-US"/>
              <a:t>Team organization</a:t>
            </a:r>
          </a:p>
          <a:p>
            <a:r>
              <a:rPr lang="en-US"/>
              <a:t>Cultural shift</a:t>
            </a:r>
          </a:p>
        </p:txBody>
      </p:sp>
      <p:sp>
        <p:nvSpPr>
          <p:cNvPr id="5" name="Espace réservé du contenu 4">
            <a:extLst>
              <a:ext uri="{FF2B5EF4-FFF2-40B4-BE49-F238E27FC236}">
                <a16:creationId xmlns:a16="http://schemas.microsoft.com/office/drawing/2014/main" id="{14D9250C-3045-1550-5B7F-530EB171DC46}"/>
              </a:ext>
            </a:extLst>
          </p:cNvPr>
          <p:cNvSpPr>
            <a:spLocks noGrp="1"/>
          </p:cNvSpPr>
          <p:nvPr>
            <p:ph sz="half" idx="2"/>
          </p:nvPr>
        </p:nvSpPr>
        <p:spPr/>
        <p:txBody>
          <a:bodyPr>
            <a:normAutofit/>
          </a:bodyPr>
          <a:lstStyle/>
          <a:p>
            <a:r>
              <a:rPr lang="en-US"/>
              <a:t>Complexity of Setup</a:t>
            </a:r>
          </a:p>
          <a:p>
            <a:r>
              <a:rPr lang="en-US"/>
              <a:t>Legacy Migration</a:t>
            </a:r>
          </a:p>
          <a:p>
            <a:r>
              <a:rPr lang="en-US"/>
              <a:t>Resource Abstraction</a:t>
            </a:r>
          </a:p>
          <a:p>
            <a:r>
              <a:rPr lang="en-US"/>
              <a:t>Initial Time Investment</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Initial Barriers for Adoption</a:t>
            </a:r>
          </a:p>
        </p:txBody>
      </p:sp>
    </p:spTree>
    <p:extLst>
      <p:ext uri="{BB962C8B-B14F-4D97-AF65-F5344CB8AC3E}">
        <p14:creationId xmlns:p14="http://schemas.microsoft.com/office/powerpoint/2010/main" val="2768465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B891F3B-26A6-D45F-BB1E-FB20EAB58125}"/>
              </a:ext>
            </a:extLst>
          </p:cNvPr>
          <p:cNvSpPr>
            <a:spLocks noGrp="1"/>
          </p:cNvSpPr>
          <p:nvPr>
            <p:ph sz="half" idx="1"/>
          </p:nvPr>
        </p:nvSpPr>
        <p:spPr/>
        <p:txBody>
          <a:bodyPr/>
          <a:lstStyle/>
          <a:p>
            <a:r>
              <a:rPr lang="en-US"/>
              <a:t>State management</a:t>
            </a:r>
          </a:p>
          <a:p>
            <a:r>
              <a:rPr lang="en-US"/>
              <a:t>CI/CD added complexity</a:t>
            </a:r>
          </a:p>
          <a:p>
            <a:r>
              <a:rPr lang="en-US"/>
              <a:t>Debugging challenges</a:t>
            </a:r>
          </a:p>
          <a:p>
            <a:r>
              <a:rPr lang="en-US"/>
              <a:t>Lack of manual control, Risk of Drift</a:t>
            </a:r>
          </a:p>
        </p:txBody>
      </p:sp>
      <p:sp>
        <p:nvSpPr>
          <p:cNvPr id="3" name="Espace réservé du contenu 2">
            <a:extLst>
              <a:ext uri="{FF2B5EF4-FFF2-40B4-BE49-F238E27FC236}">
                <a16:creationId xmlns:a16="http://schemas.microsoft.com/office/drawing/2014/main" id="{A5358191-C06B-6225-BC74-44AA52C34A96}"/>
              </a:ext>
            </a:extLst>
          </p:cNvPr>
          <p:cNvSpPr>
            <a:spLocks noGrp="1"/>
          </p:cNvSpPr>
          <p:nvPr>
            <p:ph sz="half" idx="2"/>
          </p:nvPr>
        </p:nvSpPr>
        <p:spPr/>
        <p:txBody>
          <a:bodyPr/>
          <a:lstStyle/>
          <a:p>
            <a:r>
              <a:rPr lang="en-US"/>
              <a:t>Resource Optimization</a:t>
            </a:r>
          </a:p>
          <a:p>
            <a:r>
              <a:rPr lang="en-US"/>
              <a:t>Added overhead limiting team velocity</a:t>
            </a:r>
          </a:p>
          <a:p>
            <a:r>
              <a:rPr lang="en-US"/>
              <a:t>New process to include in PR reviews</a:t>
            </a:r>
          </a:p>
          <a:p>
            <a:r>
              <a:rPr lang="en-US"/>
              <a:t>Additional technology abstraction for new recruits</a:t>
            </a:r>
          </a:p>
        </p:txBody>
      </p:sp>
      <p:sp>
        <p:nvSpPr>
          <p:cNvPr id="4" name="Espace réservé du texte 3">
            <a:extLst>
              <a:ext uri="{FF2B5EF4-FFF2-40B4-BE49-F238E27FC236}">
                <a16:creationId xmlns:a16="http://schemas.microsoft.com/office/drawing/2014/main" id="{976B45D7-E297-0178-4630-437CA18E1BB2}"/>
              </a:ext>
            </a:extLst>
          </p:cNvPr>
          <p:cNvSpPr>
            <a:spLocks noGrp="1"/>
          </p:cNvSpPr>
          <p:nvPr>
            <p:ph type="body" sz="quarter" idx="14"/>
          </p:nvPr>
        </p:nvSpPr>
        <p:spPr/>
        <p:txBody>
          <a:bodyPr/>
          <a:lstStyle/>
          <a:p>
            <a:r>
              <a:rPr lang="en-US"/>
              <a:t>3. Use cases, suitability</a:t>
            </a:r>
          </a:p>
        </p:txBody>
      </p:sp>
      <p:sp>
        <p:nvSpPr>
          <p:cNvPr id="5" name="Espace réservé du texte 4">
            <a:extLst>
              <a:ext uri="{FF2B5EF4-FFF2-40B4-BE49-F238E27FC236}">
                <a16:creationId xmlns:a16="http://schemas.microsoft.com/office/drawing/2014/main" id="{6001F9D2-34C6-A60F-6780-6D7213871E63}"/>
              </a:ext>
            </a:extLst>
          </p:cNvPr>
          <p:cNvSpPr>
            <a:spLocks noGrp="1"/>
          </p:cNvSpPr>
          <p:nvPr>
            <p:ph type="body" sz="quarter" idx="15"/>
          </p:nvPr>
        </p:nvSpPr>
        <p:spPr/>
        <p:txBody>
          <a:bodyPr/>
          <a:lstStyle/>
          <a:p>
            <a:r>
              <a:rPr lang="en-US"/>
              <a:t>Regular Additional Maintenance Efforts</a:t>
            </a:r>
          </a:p>
        </p:txBody>
      </p:sp>
    </p:spTree>
    <p:extLst>
      <p:ext uri="{BB962C8B-B14F-4D97-AF65-F5344CB8AC3E}">
        <p14:creationId xmlns:p14="http://schemas.microsoft.com/office/powerpoint/2010/main" val="3156305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B891F3B-26A6-D45F-BB1E-FB20EAB58125}"/>
              </a:ext>
            </a:extLst>
          </p:cNvPr>
          <p:cNvSpPr>
            <a:spLocks noGrp="1"/>
          </p:cNvSpPr>
          <p:nvPr>
            <p:ph idx="1"/>
          </p:nvPr>
        </p:nvSpPr>
        <p:spPr/>
        <p:txBody>
          <a:bodyPr/>
          <a:lstStyle/>
          <a:p>
            <a:r>
              <a:rPr lang="en-US"/>
              <a:t>Security Risks</a:t>
            </a:r>
          </a:p>
          <a:p>
            <a:r>
              <a:rPr lang="en-US"/>
              <a:t>Vendor Lock-in</a:t>
            </a:r>
          </a:p>
          <a:p>
            <a:r>
              <a:rPr lang="en-US"/>
              <a:t>Cost Management</a:t>
            </a:r>
          </a:p>
        </p:txBody>
      </p:sp>
      <p:sp>
        <p:nvSpPr>
          <p:cNvPr id="4" name="Espace réservé du texte 3">
            <a:extLst>
              <a:ext uri="{FF2B5EF4-FFF2-40B4-BE49-F238E27FC236}">
                <a16:creationId xmlns:a16="http://schemas.microsoft.com/office/drawing/2014/main" id="{976B45D7-E297-0178-4630-437CA18E1BB2}"/>
              </a:ext>
            </a:extLst>
          </p:cNvPr>
          <p:cNvSpPr>
            <a:spLocks noGrp="1"/>
          </p:cNvSpPr>
          <p:nvPr>
            <p:ph type="body" sz="quarter" idx="14"/>
          </p:nvPr>
        </p:nvSpPr>
        <p:spPr/>
        <p:txBody>
          <a:bodyPr/>
          <a:lstStyle/>
          <a:p>
            <a:r>
              <a:rPr lang="en-US"/>
              <a:t>3. Use cases, suitability</a:t>
            </a:r>
          </a:p>
        </p:txBody>
      </p:sp>
      <p:sp>
        <p:nvSpPr>
          <p:cNvPr id="5" name="Espace réservé du texte 4">
            <a:extLst>
              <a:ext uri="{FF2B5EF4-FFF2-40B4-BE49-F238E27FC236}">
                <a16:creationId xmlns:a16="http://schemas.microsoft.com/office/drawing/2014/main" id="{6001F9D2-34C6-A60F-6780-6D7213871E63}"/>
              </a:ext>
            </a:extLst>
          </p:cNvPr>
          <p:cNvSpPr>
            <a:spLocks noGrp="1"/>
          </p:cNvSpPr>
          <p:nvPr>
            <p:ph type="body" sz="quarter" idx="15"/>
          </p:nvPr>
        </p:nvSpPr>
        <p:spPr/>
        <p:txBody>
          <a:bodyPr/>
          <a:lstStyle/>
          <a:p>
            <a:r>
              <a:rPr lang="en-US"/>
              <a:t>Misconfiguration or Misuse Risks</a:t>
            </a:r>
          </a:p>
        </p:txBody>
      </p:sp>
    </p:spTree>
    <p:extLst>
      <p:ext uri="{BB962C8B-B14F-4D97-AF65-F5344CB8AC3E}">
        <p14:creationId xmlns:p14="http://schemas.microsoft.com/office/powerpoint/2010/main" val="3515458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Business Context</a:t>
            </a:r>
          </a:p>
          <a:p>
            <a:pPr marL="0" indent="0">
              <a:buNone/>
            </a:pPr>
            <a:r>
              <a:rPr lang="en-US"/>
              <a:t>Velocity Innovations is a newly established tech startup that's developing an innovative cloud-based software product targeting a niche market. The company is in the early stages of product development and is focused on achieving product-market fit quickly.</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a:xfrm>
            <a:off x="838200" y="1352782"/>
            <a:ext cx="10441597" cy="424732"/>
          </a:xfrm>
        </p:spPr>
        <p:txBody>
          <a:bodyPr/>
          <a:lstStyle/>
          <a:p>
            <a:r>
              <a:rPr lang="en-US"/>
              <a:t>Case Scenario 1: Velocity Innovations – Early-stage Tech Startup</a:t>
            </a:r>
          </a:p>
        </p:txBody>
      </p:sp>
    </p:spTree>
    <p:extLst>
      <p:ext uri="{BB962C8B-B14F-4D97-AF65-F5344CB8AC3E}">
        <p14:creationId xmlns:p14="http://schemas.microsoft.com/office/powerpoint/2010/main" val="4163757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fontScale="85000" lnSpcReduction="10000"/>
          </a:bodyPr>
          <a:lstStyle/>
          <a:p>
            <a:pPr marL="0" indent="0">
              <a:buNone/>
            </a:pPr>
            <a:r>
              <a:rPr lang="en-US"/>
              <a:t>The team is small consisting of just three software engineers who are fully dedicated to product development. They're in a race against time to deliver a Minimum Viable Product (MVP) and gather user feedback as quickly as possible.</a:t>
            </a:r>
          </a:p>
          <a:p>
            <a:pPr marL="0" indent="0">
              <a:buNone/>
            </a:pPr>
            <a:r>
              <a:rPr lang="en-US"/>
              <a:t>Velocity Innovations has decided to postpone the adoption of </a:t>
            </a:r>
            <a:r>
              <a:rPr lang="en-US" err="1"/>
              <a:t>IaC</a:t>
            </a:r>
            <a:r>
              <a:rPr lang="en-US"/>
              <a:t>. While they recognize the long-term benefits of </a:t>
            </a:r>
            <a:r>
              <a:rPr lang="en-US" err="1"/>
              <a:t>IaC</a:t>
            </a:r>
            <a:r>
              <a:rPr lang="en-US"/>
              <a:t>, they believe that at this early stage, prioritizing feature development and quick iterations is crucial for gaining traction in the market.</a:t>
            </a:r>
          </a:p>
          <a:p>
            <a:r>
              <a:rPr lang="en-US"/>
              <a:t>Risk of loosing velocity</a:t>
            </a:r>
          </a:p>
          <a:p>
            <a:r>
              <a:rPr lang="en-US"/>
              <a:t>Learning Curve </a:t>
            </a:r>
          </a:p>
          <a:p>
            <a:r>
              <a:rPr lang="en-US"/>
              <a:t>Not Enough Developers for a Dedicated DevOps Team</a:t>
            </a:r>
          </a:p>
          <a:p>
            <a:r>
              <a:rPr lang="en-US"/>
              <a:t>Initial Setup Time Impacting New Product Features Delivery</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1: Velocity Innovations – Prioritize feature delivery</a:t>
            </a:r>
          </a:p>
        </p:txBody>
      </p:sp>
    </p:spTree>
    <p:extLst>
      <p:ext uri="{BB962C8B-B14F-4D97-AF65-F5344CB8AC3E}">
        <p14:creationId xmlns:p14="http://schemas.microsoft.com/office/powerpoint/2010/main" val="2752216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Business Context</a:t>
            </a:r>
          </a:p>
          <a:p>
            <a:pPr marL="0" indent="0">
              <a:buNone/>
            </a:pPr>
            <a:r>
              <a:rPr lang="en-US" err="1"/>
              <a:t>LegacyTech</a:t>
            </a:r>
            <a:r>
              <a:rPr lang="en-US"/>
              <a:t> Enterprises is a well-established company operating in the financial sector. They have a legacy IT infrastructure that includes mainframes, on-premises servers, and proprietary software systems. The company has a strong focus on data security and compliance due to regulatory requirements.</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2: </a:t>
            </a:r>
            <a:r>
              <a:rPr lang="en-US" err="1"/>
              <a:t>LegacyTech</a:t>
            </a:r>
            <a:r>
              <a:rPr lang="en-US"/>
              <a:t> – Big stable company with legacy systems</a:t>
            </a:r>
          </a:p>
        </p:txBody>
      </p:sp>
    </p:spTree>
    <p:extLst>
      <p:ext uri="{BB962C8B-B14F-4D97-AF65-F5344CB8AC3E}">
        <p14:creationId xmlns:p14="http://schemas.microsoft.com/office/powerpoint/2010/main" val="731899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In this scenario, </a:t>
            </a:r>
            <a:r>
              <a:rPr lang="en-US" err="1"/>
              <a:t>LegacyTech</a:t>
            </a:r>
            <a:r>
              <a:rPr lang="en-US"/>
              <a:t> Enterprises faces significant obstacles in adopting </a:t>
            </a:r>
            <a:r>
              <a:rPr lang="en-US" err="1"/>
              <a:t>IaC</a:t>
            </a:r>
            <a:r>
              <a:rPr lang="en-US"/>
              <a:t> due to the complexity of their legacy systems, particularly the mainframes, and the stringent compliance requirements of the financial industry. While the benefits of </a:t>
            </a:r>
            <a:r>
              <a:rPr lang="en-US" err="1"/>
              <a:t>IaC</a:t>
            </a:r>
            <a:r>
              <a:rPr lang="en-US"/>
              <a:t> are acknowledged, the company must carefully plan and assess the risks and impacts of any infrastructure changes, including the potential integration of </a:t>
            </a:r>
            <a:r>
              <a:rPr lang="en-US" err="1"/>
              <a:t>IaC</a:t>
            </a:r>
            <a:r>
              <a:rPr lang="en-US"/>
              <a:t> practices.</a:t>
            </a:r>
          </a:p>
          <a:p>
            <a:r>
              <a:rPr lang="en-US"/>
              <a:t>Legacy System Compatibility and Complexity</a:t>
            </a:r>
          </a:p>
          <a:p>
            <a:r>
              <a:rPr lang="en-US"/>
              <a:t>Risk Aversion and Compliance Concerns</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2: </a:t>
            </a:r>
            <a:r>
              <a:rPr lang="en-US" err="1"/>
              <a:t>LegacyTech</a:t>
            </a:r>
            <a:r>
              <a:rPr lang="en-US"/>
              <a:t> – Too risky</a:t>
            </a:r>
          </a:p>
        </p:txBody>
      </p:sp>
    </p:spTree>
    <p:extLst>
      <p:ext uri="{BB962C8B-B14F-4D97-AF65-F5344CB8AC3E}">
        <p14:creationId xmlns:p14="http://schemas.microsoft.com/office/powerpoint/2010/main" val="4132770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Phased approach:</a:t>
            </a:r>
          </a:p>
          <a:p>
            <a:r>
              <a:rPr lang="en-US"/>
              <a:t>Identify non-critical areas for </a:t>
            </a:r>
            <a:r>
              <a:rPr lang="en-US" err="1"/>
              <a:t>IaC</a:t>
            </a:r>
            <a:r>
              <a:rPr lang="en-US"/>
              <a:t> introduction</a:t>
            </a:r>
          </a:p>
          <a:p>
            <a:r>
              <a:rPr lang="en-US"/>
              <a:t>Invest in modernizing legacy systems for </a:t>
            </a:r>
            <a:r>
              <a:rPr lang="en-US" err="1"/>
              <a:t>IaC</a:t>
            </a:r>
            <a:r>
              <a:rPr lang="en-US"/>
              <a:t> compatibility</a:t>
            </a:r>
          </a:p>
          <a:p>
            <a:r>
              <a:rPr lang="en-US"/>
              <a:t>Establish dedicated teams to ensure transition</a:t>
            </a:r>
          </a:p>
          <a:p>
            <a:r>
              <a:rPr lang="en-US"/>
              <a:t>Continual risk assessments and audits through this transition</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2: </a:t>
            </a:r>
            <a:r>
              <a:rPr lang="en-US" err="1"/>
              <a:t>LegacyTech</a:t>
            </a:r>
            <a:r>
              <a:rPr lang="en-US"/>
              <a:t> – Avoid stagnation in the long term</a:t>
            </a:r>
          </a:p>
        </p:txBody>
      </p:sp>
    </p:spTree>
    <p:extLst>
      <p:ext uri="{BB962C8B-B14F-4D97-AF65-F5344CB8AC3E}">
        <p14:creationId xmlns:p14="http://schemas.microsoft.com/office/powerpoint/2010/main" val="34673419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Business Context:</a:t>
            </a:r>
          </a:p>
          <a:p>
            <a:pPr marL="0" indent="0">
              <a:buNone/>
            </a:pPr>
            <a:r>
              <a:rPr lang="en-US" err="1"/>
              <a:t>ShopZen</a:t>
            </a:r>
            <a:r>
              <a:rPr lang="en-US"/>
              <a:t> is a thriving eCommerce platform specializing in fashion and lifestyle products. Over the years, they have built a sizable customer base, but they are experiencing challenges related to fluctuating website traffic during peak shopping seasons. Additionally, they plan to expand their operations to serve customers in multiple regions.</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3: </a:t>
            </a:r>
            <a:r>
              <a:rPr lang="en-US" err="1"/>
              <a:t>ShopZen</a:t>
            </a:r>
            <a:r>
              <a:rPr lang="en-US"/>
              <a:t> – eCommerce platform with strong traffic fluctuation</a:t>
            </a:r>
          </a:p>
        </p:txBody>
      </p:sp>
    </p:spTree>
    <p:extLst>
      <p:ext uri="{BB962C8B-B14F-4D97-AF65-F5344CB8AC3E}">
        <p14:creationId xmlns:p14="http://schemas.microsoft.com/office/powerpoint/2010/main" val="37843694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r>
              <a:rPr lang="en-US"/>
              <a:t>Fluctuating Website Traffic:</a:t>
            </a:r>
          </a:p>
          <a:p>
            <a:pPr marL="457200" lvl="1" indent="0">
              <a:buNone/>
            </a:pPr>
            <a:r>
              <a:rPr lang="en-US" err="1"/>
              <a:t>ShopZen's</a:t>
            </a:r>
            <a:r>
              <a:rPr lang="en-US"/>
              <a:t> website experiences significant traffic spikes during peak shopping seasons, such as holidays and promotional events. Their existing infrastructure, consisting of self-managed virtual servers hosted in a datacenter, struggles to handle these traffic surges efficiently.</a:t>
            </a:r>
          </a:p>
          <a:p>
            <a:r>
              <a:rPr lang="en-US"/>
              <a:t>Geographic Expansion:</a:t>
            </a:r>
          </a:p>
          <a:p>
            <a:pPr marL="457200" lvl="1" indent="0">
              <a:buNone/>
            </a:pPr>
            <a:r>
              <a:rPr lang="en-US"/>
              <a:t>To tap into new markets and improve the shopping experience for international customers, </a:t>
            </a:r>
            <a:r>
              <a:rPr lang="en-US" err="1"/>
              <a:t>ShopZen</a:t>
            </a:r>
            <a:r>
              <a:rPr lang="en-US"/>
              <a:t> plans to expand its operations to different geographical regions, including Latin America and Asia. This expansion requires a scalable and globally distributed infrastructure.</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3: </a:t>
            </a:r>
            <a:r>
              <a:rPr lang="en-US" err="1"/>
              <a:t>ShopZen</a:t>
            </a:r>
            <a:r>
              <a:rPr lang="en-US"/>
              <a:t> – Challenges and Goals</a:t>
            </a:r>
          </a:p>
        </p:txBody>
      </p:sp>
    </p:spTree>
    <p:extLst>
      <p:ext uri="{BB962C8B-B14F-4D97-AF65-F5344CB8AC3E}">
        <p14:creationId xmlns:p14="http://schemas.microsoft.com/office/powerpoint/2010/main" val="24655355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lnSpcReduction="10000"/>
          </a:bodyPr>
          <a:lstStyle/>
          <a:p>
            <a:pPr marL="0" indent="0">
              <a:buNone/>
            </a:pPr>
            <a:r>
              <a:rPr lang="en-US"/>
              <a:t>Infrastructure as Code Implementation:</a:t>
            </a:r>
          </a:p>
          <a:p>
            <a:r>
              <a:rPr lang="en-US" b="1"/>
              <a:t>Strategy</a:t>
            </a:r>
            <a:r>
              <a:rPr lang="en-US"/>
              <a:t>: </a:t>
            </a:r>
            <a:r>
              <a:rPr lang="en-US" err="1"/>
              <a:t>ShopZen</a:t>
            </a:r>
            <a:r>
              <a:rPr lang="en-US"/>
              <a:t> decides to transition from their manual infrastructure management to an </a:t>
            </a:r>
            <a:r>
              <a:rPr lang="en-US" err="1"/>
              <a:t>IaC</a:t>
            </a:r>
            <a:r>
              <a:rPr lang="en-US"/>
              <a:t>-driven approach. They invest in training their internal development team to acquire the necessary </a:t>
            </a:r>
            <a:r>
              <a:rPr lang="en-US" err="1"/>
              <a:t>IaC</a:t>
            </a:r>
            <a:r>
              <a:rPr lang="en-US"/>
              <a:t> skills, including tools like Terraform.</a:t>
            </a:r>
          </a:p>
          <a:p>
            <a:r>
              <a:rPr lang="en-US" b="1"/>
              <a:t>Implementation</a:t>
            </a:r>
            <a:r>
              <a:rPr lang="en-US"/>
              <a:t>: The development team starts by defining infrastructure resources, configurations, and dependencies in Terraform code. They use version control systems to manage and track changes to their infrastructure code, ensuring consistency and traceability.</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3: </a:t>
            </a:r>
            <a:r>
              <a:rPr lang="en-US" err="1"/>
              <a:t>ShopZen</a:t>
            </a:r>
            <a:r>
              <a:rPr lang="en-US"/>
              <a:t> – Approach</a:t>
            </a:r>
          </a:p>
        </p:txBody>
      </p:sp>
    </p:spTree>
    <p:extLst>
      <p:ext uri="{BB962C8B-B14F-4D97-AF65-F5344CB8AC3E}">
        <p14:creationId xmlns:p14="http://schemas.microsoft.com/office/powerpoint/2010/main" val="2923594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Scalability and Elasticity:</a:t>
            </a:r>
          </a:p>
          <a:p>
            <a:r>
              <a:rPr lang="en-US" b="1"/>
              <a:t>Strategy</a:t>
            </a:r>
            <a:r>
              <a:rPr lang="en-US"/>
              <a:t>: Leveraging </a:t>
            </a:r>
            <a:r>
              <a:rPr lang="en-US" err="1"/>
              <a:t>IaC</a:t>
            </a:r>
            <a:r>
              <a:rPr lang="en-US"/>
              <a:t>, </a:t>
            </a:r>
            <a:r>
              <a:rPr lang="en-US" err="1"/>
              <a:t>ShopZen</a:t>
            </a:r>
            <a:r>
              <a:rPr lang="en-US"/>
              <a:t> designs an architecture that enables auto-scaling based on traffic demand. They utilize cloud services, such as AWS Auto Scaling, to dynamically allocate resources during peak periods and scale down during quieter times.</a:t>
            </a:r>
          </a:p>
          <a:p>
            <a:r>
              <a:rPr lang="en-US" b="1"/>
              <a:t>Implementation</a:t>
            </a:r>
            <a:r>
              <a:rPr lang="en-US"/>
              <a:t>: Through </a:t>
            </a:r>
            <a:r>
              <a:rPr lang="en-US" err="1"/>
              <a:t>IaC</a:t>
            </a:r>
            <a:r>
              <a:rPr lang="en-US"/>
              <a:t>, </a:t>
            </a:r>
            <a:r>
              <a:rPr lang="en-US" err="1"/>
              <a:t>ShopZen</a:t>
            </a:r>
            <a:r>
              <a:rPr lang="en-US"/>
              <a:t> configures auto-scaling groups, load balancers, and caching layers that automatically adjust to accommodate traffic fluctuations, ensuring a responsive shopping experience.</a:t>
            </a:r>
          </a:p>
          <a:p>
            <a:pPr marL="0" indent="0">
              <a:buNone/>
            </a:pPr>
            <a:endParaRPr lang="en-US"/>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3: </a:t>
            </a:r>
            <a:r>
              <a:rPr lang="en-US" err="1"/>
              <a:t>ShopZen</a:t>
            </a:r>
            <a:r>
              <a:rPr lang="en-US"/>
              <a:t> – Approach</a:t>
            </a:r>
          </a:p>
        </p:txBody>
      </p:sp>
    </p:spTree>
    <p:extLst>
      <p:ext uri="{BB962C8B-B14F-4D97-AF65-F5344CB8AC3E}">
        <p14:creationId xmlns:p14="http://schemas.microsoft.com/office/powerpoint/2010/main" val="3937924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Geographical Expansion:</a:t>
            </a:r>
          </a:p>
          <a:p>
            <a:r>
              <a:rPr lang="en-US" b="1"/>
              <a:t>Strategy</a:t>
            </a:r>
            <a:r>
              <a:rPr lang="en-US"/>
              <a:t>: With </a:t>
            </a:r>
            <a:r>
              <a:rPr lang="en-US" err="1"/>
              <a:t>IaC</a:t>
            </a:r>
            <a:r>
              <a:rPr lang="en-US"/>
              <a:t>, </a:t>
            </a:r>
            <a:r>
              <a:rPr lang="en-US" err="1"/>
              <a:t>ShopZen</a:t>
            </a:r>
            <a:r>
              <a:rPr lang="en-US"/>
              <a:t> streamlines the deployment of infrastructure in multiple regions, enabling faster market entry and lower latency for international customers.</a:t>
            </a:r>
          </a:p>
          <a:p>
            <a:r>
              <a:rPr lang="en-US" b="1"/>
              <a:t>Implementation</a:t>
            </a:r>
            <a:r>
              <a:rPr lang="en-US"/>
              <a:t>: They create reusable Terraform modules for region-specific deployments, allowing for consistent infrastructure provisioning across regions. This approach helps them quickly establish and manage their infrastructure in new geographical locations.</a:t>
            </a:r>
          </a:p>
          <a:p>
            <a:pPr marL="0" indent="0">
              <a:buNone/>
            </a:pPr>
            <a:endParaRPr lang="en-US"/>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3: </a:t>
            </a:r>
            <a:r>
              <a:rPr lang="en-US" err="1"/>
              <a:t>ShopZen</a:t>
            </a:r>
            <a:r>
              <a:rPr lang="en-US"/>
              <a:t> – Approach</a:t>
            </a:r>
          </a:p>
        </p:txBody>
      </p:sp>
    </p:spTree>
    <p:extLst>
      <p:ext uri="{BB962C8B-B14F-4D97-AF65-F5344CB8AC3E}">
        <p14:creationId xmlns:p14="http://schemas.microsoft.com/office/powerpoint/2010/main" val="863862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B026AC-CAF8-382D-F913-5DF561D2FD98}"/>
              </a:ext>
            </a:extLst>
          </p:cNvPr>
          <p:cNvSpPr>
            <a:spLocks noGrp="1"/>
          </p:cNvSpPr>
          <p:nvPr>
            <p:ph idx="1"/>
          </p:nvPr>
        </p:nvSpPr>
        <p:spPr/>
        <p:txBody>
          <a:bodyPr>
            <a:normAutofit/>
          </a:bodyPr>
          <a:lstStyle/>
          <a:p>
            <a:pPr marL="0" indent="0">
              <a:buNone/>
            </a:pPr>
            <a:r>
              <a:rPr lang="en-US"/>
              <a:t>Continuous Monitoring and Optimization:</a:t>
            </a:r>
          </a:p>
          <a:p>
            <a:r>
              <a:rPr lang="en-US" b="1"/>
              <a:t>Strategy</a:t>
            </a:r>
            <a:r>
              <a:rPr lang="en-US"/>
              <a:t>: </a:t>
            </a:r>
            <a:r>
              <a:rPr lang="en-US" err="1"/>
              <a:t>ShopZen</a:t>
            </a:r>
            <a:r>
              <a:rPr lang="en-US"/>
              <a:t> implements monitoring and optimization practices as an integral part of their </a:t>
            </a:r>
            <a:r>
              <a:rPr lang="en-US" err="1"/>
              <a:t>IaC</a:t>
            </a:r>
            <a:r>
              <a:rPr lang="en-US"/>
              <a:t> approach. They use tools like AWS CloudWatch and </a:t>
            </a:r>
            <a:r>
              <a:rPr lang="en-US" err="1"/>
              <a:t>Terraform's</a:t>
            </a:r>
            <a:r>
              <a:rPr lang="en-US"/>
              <a:t> state management to gain insights into infrastructure performance and cost-efficiency.</a:t>
            </a:r>
          </a:p>
          <a:p>
            <a:r>
              <a:rPr lang="en-US" b="1"/>
              <a:t>Implementation</a:t>
            </a:r>
            <a:r>
              <a:rPr lang="en-US"/>
              <a:t>: The development team sets up alerts and triggers for automated scaling actions based on predefined thresholds. Regular cost analysis ensures that infrastructure expenses align with revenue and usage patterns.</a:t>
            </a:r>
          </a:p>
        </p:txBody>
      </p:sp>
      <p:sp>
        <p:nvSpPr>
          <p:cNvPr id="3" name="Espace réservé du texte 2">
            <a:extLst>
              <a:ext uri="{FF2B5EF4-FFF2-40B4-BE49-F238E27FC236}">
                <a16:creationId xmlns:a16="http://schemas.microsoft.com/office/drawing/2014/main" id="{0D746E8F-B9D9-CD5B-669D-5B27F971F7D8}"/>
              </a:ext>
            </a:extLst>
          </p:cNvPr>
          <p:cNvSpPr>
            <a:spLocks noGrp="1"/>
          </p:cNvSpPr>
          <p:nvPr>
            <p:ph type="body" sz="quarter" idx="14"/>
          </p:nvPr>
        </p:nvSpPr>
        <p:spPr/>
        <p:txBody>
          <a:bodyPr/>
          <a:lstStyle/>
          <a:p>
            <a:r>
              <a:rPr lang="en-US" dirty="0"/>
              <a:t>3. Use cases, suitability</a:t>
            </a:r>
          </a:p>
        </p:txBody>
      </p:sp>
      <p:sp>
        <p:nvSpPr>
          <p:cNvPr id="4" name="Espace réservé du texte 3">
            <a:extLst>
              <a:ext uri="{FF2B5EF4-FFF2-40B4-BE49-F238E27FC236}">
                <a16:creationId xmlns:a16="http://schemas.microsoft.com/office/drawing/2014/main" id="{87120AC0-0A03-A172-5CD6-57EEFC3C18E7}"/>
              </a:ext>
            </a:extLst>
          </p:cNvPr>
          <p:cNvSpPr>
            <a:spLocks noGrp="1"/>
          </p:cNvSpPr>
          <p:nvPr>
            <p:ph type="body" sz="quarter" idx="15"/>
          </p:nvPr>
        </p:nvSpPr>
        <p:spPr/>
        <p:txBody>
          <a:bodyPr/>
          <a:lstStyle/>
          <a:p>
            <a:r>
              <a:rPr lang="en-US"/>
              <a:t>Case Scenario 3: </a:t>
            </a:r>
            <a:r>
              <a:rPr lang="en-US" err="1"/>
              <a:t>ShopZen</a:t>
            </a:r>
            <a:r>
              <a:rPr lang="en-US"/>
              <a:t> – Approach</a:t>
            </a:r>
          </a:p>
        </p:txBody>
      </p:sp>
    </p:spTree>
    <p:extLst>
      <p:ext uri="{BB962C8B-B14F-4D97-AF65-F5344CB8AC3E}">
        <p14:creationId xmlns:p14="http://schemas.microsoft.com/office/powerpoint/2010/main" val="4090072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CAE04EF-7913-C4BB-6482-4CE85759D764}"/>
              </a:ext>
            </a:extLst>
          </p:cNvPr>
          <p:cNvSpPr>
            <a:spLocks noGrp="1"/>
          </p:cNvSpPr>
          <p:nvPr>
            <p:ph type="body" sz="quarter" idx="10"/>
          </p:nvPr>
        </p:nvSpPr>
        <p:spPr/>
        <p:txBody>
          <a:bodyPr/>
          <a:lstStyle/>
          <a:p>
            <a:pPr marL="0" indent="0">
              <a:buNone/>
            </a:pPr>
            <a:r>
              <a:rPr lang="en-US" dirty="0"/>
              <a:t>3. Use cases, suitability</a:t>
            </a:r>
          </a:p>
        </p:txBody>
      </p:sp>
    </p:spTree>
    <p:extLst>
      <p:ext uri="{BB962C8B-B14F-4D97-AF65-F5344CB8AC3E}">
        <p14:creationId xmlns:p14="http://schemas.microsoft.com/office/powerpoint/2010/main" val="26238894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6839F16-08EC-C51F-945E-4293E5C0268A}"/>
              </a:ext>
            </a:extLst>
          </p:cNvPr>
          <p:cNvSpPr>
            <a:spLocks noGrp="1"/>
          </p:cNvSpPr>
          <p:nvPr>
            <p:ph type="body" sz="quarter" idx="10"/>
          </p:nvPr>
        </p:nvSpPr>
        <p:spPr/>
        <p:txBody>
          <a:bodyPr>
            <a:normAutofit/>
          </a:bodyPr>
          <a:lstStyle/>
          <a:p>
            <a:r>
              <a:rPr lang="en-US"/>
              <a:t>4. Technology overview</a:t>
            </a:r>
          </a:p>
        </p:txBody>
      </p:sp>
    </p:spTree>
    <p:extLst>
      <p:ext uri="{BB962C8B-B14F-4D97-AF65-F5344CB8AC3E}">
        <p14:creationId xmlns:p14="http://schemas.microsoft.com/office/powerpoint/2010/main" val="31768265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7248134D-90BD-FE2E-00F3-5C2E2B64AB1B}"/>
              </a:ext>
            </a:extLst>
          </p:cNvPr>
          <p:cNvSpPr>
            <a:spLocks noGrp="1"/>
          </p:cNvSpPr>
          <p:nvPr>
            <p:ph type="body" sz="quarter" idx="14"/>
          </p:nvPr>
        </p:nvSpPr>
        <p:spPr/>
        <p:txBody>
          <a:bodyPr/>
          <a:lstStyle/>
          <a:p>
            <a:r>
              <a:rPr lang="en-US"/>
              <a:t>4. Technology overview</a:t>
            </a:r>
          </a:p>
        </p:txBody>
      </p:sp>
      <p:sp>
        <p:nvSpPr>
          <p:cNvPr id="4" name="Espace réservé du texte 3">
            <a:extLst>
              <a:ext uri="{FF2B5EF4-FFF2-40B4-BE49-F238E27FC236}">
                <a16:creationId xmlns:a16="http://schemas.microsoft.com/office/drawing/2014/main" id="{628AE71B-D7AD-D319-10D0-75E30B116580}"/>
              </a:ext>
            </a:extLst>
          </p:cNvPr>
          <p:cNvSpPr>
            <a:spLocks noGrp="1"/>
          </p:cNvSpPr>
          <p:nvPr>
            <p:ph type="body" sz="quarter" idx="15"/>
          </p:nvPr>
        </p:nvSpPr>
        <p:spPr/>
        <p:txBody>
          <a:bodyPr/>
          <a:lstStyle/>
          <a:p>
            <a:r>
              <a:rPr lang="en-US" err="1"/>
              <a:t>IaC</a:t>
            </a:r>
            <a:r>
              <a:rPr lang="en-US"/>
              <a:t> Timeline</a:t>
            </a:r>
          </a:p>
        </p:txBody>
      </p:sp>
      <p:graphicFrame>
        <p:nvGraphicFramePr>
          <p:cNvPr id="8" name="Espace réservé du contenu 7">
            <a:extLst>
              <a:ext uri="{FF2B5EF4-FFF2-40B4-BE49-F238E27FC236}">
                <a16:creationId xmlns:a16="http://schemas.microsoft.com/office/drawing/2014/main" id="{6886B642-121D-DB29-BFB3-EED4D71A93A5}"/>
              </a:ext>
            </a:extLst>
          </p:cNvPr>
          <p:cNvGraphicFramePr>
            <a:graphicFrameLocks noGrp="1"/>
          </p:cNvGraphicFramePr>
          <p:nvPr>
            <p:ph idx="1"/>
            <p:extLst>
              <p:ext uri="{D42A27DB-BD31-4B8C-83A1-F6EECF244321}">
                <p14:modId xmlns:p14="http://schemas.microsoft.com/office/powerpoint/2010/main" val="423480232"/>
              </p:ext>
            </p:extLst>
          </p:nvPr>
        </p:nvGraphicFramePr>
        <p:xfrm>
          <a:off x="838200" y="2176463"/>
          <a:ext cx="10515600" cy="4000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4899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a:noAutofit/>
          </a:bodyPr>
          <a:lstStyle/>
          <a:p>
            <a:pPr marL="0" indent="0">
              <a:buNone/>
            </a:pPr>
            <a:r>
              <a:rPr lang="en-US" sz="1200" b="0">
                <a:solidFill>
                  <a:srgbClr val="6A9955"/>
                </a:solidFill>
                <a:effectLst/>
                <a:latin typeface="Consolas" panose="020B0609020204030204" pitchFamily="49" charset="0"/>
              </a:rPr>
              <a:t># Manifest to install and configure Apache web server</a:t>
            </a:r>
            <a:endParaRPr lang="en-US" sz="1200" b="0">
              <a:solidFill>
                <a:srgbClr val="D4D4D4"/>
              </a:solidFill>
              <a:effectLst/>
              <a:latin typeface="Consolas" panose="020B0609020204030204" pitchFamily="49" charset="0"/>
            </a:endParaRPr>
          </a:p>
          <a:p>
            <a:pPr marL="0" indent="0">
              <a:buNone/>
            </a:pPr>
            <a:r>
              <a:rPr lang="en-US" sz="1200" b="0">
                <a:solidFill>
                  <a:srgbClr val="569CD6"/>
                </a:solidFill>
                <a:effectLst/>
                <a:latin typeface="Consolas" panose="020B0609020204030204" pitchFamily="49" charset="0"/>
              </a:rPr>
              <a:t>package</a:t>
            </a:r>
            <a:r>
              <a:rPr lang="en-US" sz="1200" b="0">
                <a:solidFill>
                  <a:srgbClr val="D4D4D4"/>
                </a:solidFill>
                <a:effectLst/>
                <a:latin typeface="Consolas" panose="020B0609020204030204" pitchFamily="49" charset="0"/>
              </a:rPr>
              <a:t> { </a:t>
            </a:r>
            <a:r>
              <a:rPr lang="en-US" sz="1200" b="0">
                <a:solidFill>
                  <a:srgbClr val="CE9178"/>
                </a:solidFill>
                <a:effectLst/>
                <a:latin typeface="Consolas" panose="020B0609020204030204" pitchFamily="49" charset="0"/>
              </a:rPr>
              <a:t>'httpd’</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ensure =&gt; </a:t>
            </a:r>
            <a:r>
              <a:rPr lang="en-US" sz="1200" b="0">
                <a:solidFill>
                  <a:srgbClr val="CE9178"/>
                </a:solidFill>
                <a:effectLst/>
                <a:latin typeface="Consolas" panose="020B0609020204030204" pitchFamily="49" charset="0"/>
              </a:rPr>
              <a:t>'installed'</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a:t>
            </a:r>
          </a:p>
          <a:p>
            <a:pPr marL="0" indent="0">
              <a:buNone/>
            </a:pPr>
            <a:br>
              <a:rPr lang="en-US" sz="1200" b="0">
                <a:solidFill>
                  <a:srgbClr val="D4D4D4"/>
                </a:solidFill>
                <a:effectLst/>
                <a:latin typeface="Consolas" panose="020B0609020204030204" pitchFamily="49" charset="0"/>
              </a:rPr>
            </a:br>
            <a:r>
              <a:rPr lang="en-US" sz="1200" b="0">
                <a:solidFill>
                  <a:srgbClr val="569CD6"/>
                </a:solidFill>
                <a:effectLst/>
                <a:latin typeface="Consolas" panose="020B0609020204030204" pitchFamily="49" charset="0"/>
              </a:rPr>
              <a:t>service</a:t>
            </a:r>
            <a:r>
              <a:rPr lang="en-US" sz="1200" b="0">
                <a:solidFill>
                  <a:srgbClr val="D4D4D4"/>
                </a:solidFill>
                <a:effectLst/>
                <a:latin typeface="Consolas" panose="020B0609020204030204" pitchFamily="49" charset="0"/>
              </a:rPr>
              <a:t> { </a:t>
            </a:r>
            <a:r>
              <a:rPr lang="en-US" sz="1200" b="0">
                <a:solidFill>
                  <a:srgbClr val="CE9178"/>
                </a:solidFill>
                <a:effectLst/>
                <a:latin typeface="Consolas" panose="020B0609020204030204" pitchFamily="49" charset="0"/>
              </a:rPr>
              <a:t>'httpd’</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ensure =&gt; </a:t>
            </a:r>
            <a:r>
              <a:rPr lang="en-US" sz="1200" b="0">
                <a:solidFill>
                  <a:srgbClr val="CE9178"/>
                </a:solidFill>
                <a:effectLst/>
                <a:latin typeface="Consolas" panose="020B0609020204030204" pitchFamily="49" charset="0"/>
              </a:rPr>
              <a:t>'running’</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enable =&gt; </a:t>
            </a:r>
            <a:r>
              <a:rPr lang="en-US" sz="1200" b="0">
                <a:solidFill>
                  <a:srgbClr val="569CD6"/>
                </a:solidFill>
                <a:effectLst/>
                <a:latin typeface="Consolas" panose="020B0609020204030204" pitchFamily="49" charset="0"/>
              </a:rPr>
              <a:t>true</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a:t>
            </a:r>
          </a:p>
          <a:p>
            <a:pPr marL="0" indent="0">
              <a:buNone/>
            </a:pPr>
            <a:br>
              <a:rPr lang="en-US" sz="1200" b="0">
                <a:solidFill>
                  <a:srgbClr val="D4D4D4"/>
                </a:solidFill>
                <a:effectLst/>
                <a:latin typeface="Consolas" panose="020B0609020204030204" pitchFamily="49" charset="0"/>
              </a:rPr>
            </a:br>
            <a:r>
              <a:rPr lang="en-US" sz="1200" b="0">
                <a:solidFill>
                  <a:srgbClr val="569CD6"/>
                </a:solidFill>
                <a:effectLst/>
                <a:latin typeface="Consolas" panose="020B0609020204030204" pitchFamily="49" charset="0"/>
              </a:rPr>
              <a:t>file</a:t>
            </a:r>
            <a:r>
              <a:rPr lang="en-US" sz="1200" b="0">
                <a:solidFill>
                  <a:srgbClr val="D4D4D4"/>
                </a:solidFill>
                <a:effectLst/>
                <a:latin typeface="Consolas" panose="020B0609020204030204" pitchFamily="49" charset="0"/>
              </a:rPr>
              <a:t> { </a:t>
            </a:r>
            <a:r>
              <a:rPr lang="en-US" sz="1200" b="0">
                <a:solidFill>
                  <a:srgbClr val="CE9178"/>
                </a:solidFill>
                <a:effectLst/>
                <a:latin typeface="Consolas" panose="020B0609020204030204" pitchFamily="49" charset="0"/>
              </a:rPr>
              <a:t>'/var/www/html/index.html’</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ensure =&gt; </a:t>
            </a:r>
            <a:r>
              <a:rPr lang="en-US" sz="1200" b="0">
                <a:solidFill>
                  <a:srgbClr val="CE9178"/>
                </a:solidFill>
                <a:effectLst/>
                <a:latin typeface="Consolas" panose="020B0609020204030204" pitchFamily="49" charset="0"/>
              </a:rPr>
              <a:t>'file’</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content =&gt; </a:t>
            </a:r>
            <a:r>
              <a:rPr lang="en-US" sz="1200" b="0">
                <a:solidFill>
                  <a:srgbClr val="CE9178"/>
                </a:solidFill>
                <a:effectLst/>
                <a:latin typeface="Consolas" panose="020B0609020204030204" pitchFamily="49" charset="0"/>
              </a:rPr>
              <a:t>'&lt;html&gt;&lt;body&gt;&lt;h1&gt;Hello, Puppet!&lt;/h1&gt;&lt;/body&gt;&lt;/html&gt;’</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owner =&gt; </a:t>
            </a:r>
            <a:r>
              <a:rPr lang="en-US" sz="1200" b="0">
                <a:solidFill>
                  <a:srgbClr val="CE9178"/>
                </a:solidFill>
                <a:effectLst/>
                <a:latin typeface="Consolas" panose="020B0609020204030204" pitchFamily="49" charset="0"/>
              </a:rPr>
              <a:t>'root’</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group =&gt; </a:t>
            </a:r>
            <a:r>
              <a:rPr lang="en-US" sz="1200" b="0">
                <a:solidFill>
                  <a:srgbClr val="CE9178"/>
                </a:solidFill>
                <a:effectLst/>
                <a:latin typeface="Consolas" panose="020B0609020204030204" pitchFamily="49" charset="0"/>
              </a:rPr>
              <a:t>'root’</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  mode =&gt; </a:t>
            </a:r>
            <a:r>
              <a:rPr lang="en-US" sz="1200" b="0">
                <a:solidFill>
                  <a:srgbClr val="CE9178"/>
                </a:solidFill>
                <a:effectLst/>
                <a:latin typeface="Consolas" panose="020B0609020204030204" pitchFamily="49" charset="0"/>
              </a:rPr>
              <a:t>'0644'</a:t>
            </a:r>
            <a:r>
              <a:rPr lang="en-US" sz="1200" b="0">
                <a:solidFill>
                  <a:srgbClr val="D4D4D4"/>
                </a:solidFill>
                <a:effectLst/>
                <a:latin typeface="Consolas" panose="020B0609020204030204" pitchFamily="49" charset="0"/>
              </a:rPr>
              <a:t>,</a:t>
            </a:r>
          </a:p>
          <a:p>
            <a:pPr marL="0" indent="0">
              <a:buNone/>
            </a:pPr>
            <a:r>
              <a:rPr lang="en-US" sz="1200" b="0">
                <a:solidFill>
                  <a:srgbClr val="D4D4D4"/>
                </a:solidFill>
                <a:effectLst/>
                <a:latin typeface="Consolas" panose="020B0609020204030204" pitchFamily="49" charset="0"/>
              </a:rPr>
              <a:t>}</a:t>
            </a: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a:solidFill>
                  <a:srgbClr val="374151"/>
                </a:solidFill>
                <a:latin typeface="Söhne"/>
              </a:rPr>
              <a:t>Puppet is designed for automating configuration management across servers and infrastructure.</a:t>
            </a:r>
          </a:p>
          <a:p>
            <a:r>
              <a:rPr lang="en-US">
                <a:solidFill>
                  <a:srgbClr val="374151"/>
                </a:solidFill>
                <a:latin typeface="Söhne"/>
              </a:rPr>
              <a:t>U</a:t>
            </a:r>
            <a:r>
              <a:rPr lang="en-US" b="0" i="0">
                <a:solidFill>
                  <a:srgbClr val="374151"/>
                </a:solidFill>
                <a:effectLst/>
                <a:latin typeface="Söhne"/>
              </a:rPr>
              <a:t>sing a declarative language, i</a:t>
            </a:r>
            <a:r>
              <a:rPr lang="en-US">
                <a:solidFill>
                  <a:srgbClr val="374151"/>
                </a:solidFill>
                <a:latin typeface="Söhne"/>
              </a:rPr>
              <a:t>t focuses on maintaining the desired state of systems and ensuring compliance with defined configurations.</a:t>
            </a:r>
          </a:p>
          <a:p>
            <a:pPr marL="285750" indent="-285750">
              <a:buFont typeface="Arial" panose="020B0604020202020204" pitchFamily="34" charset="0"/>
              <a:buChar char="•"/>
            </a:pPr>
            <a:r>
              <a:rPr lang="en-US">
                <a:solidFill>
                  <a:srgbClr val="374151"/>
                </a:solidFill>
                <a:latin typeface="Söhne"/>
              </a:rPr>
              <a:t>Declarative server configuration</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a:t>Puppet</a:t>
            </a:r>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1479892" cy="369332"/>
          </a:xfrm>
          <a:prstGeom prst="rect">
            <a:avLst/>
          </a:prstGeom>
          <a:noFill/>
        </p:spPr>
        <p:txBody>
          <a:bodyPr wrap="none" rtlCol="0">
            <a:spAutoFit/>
          </a:bodyPr>
          <a:lstStyle/>
          <a:p>
            <a:r>
              <a:rPr lang="en-US">
                <a:latin typeface="Consolas" panose="020B0609020204030204" pitchFamily="49" charset="0"/>
              </a:rPr>
              <a:t>Puppet DSL</a:t>
            </a:r>
          </a:p>
        </p:txBody>
      </p:sp>
    </p:spTree>
    <p:extLst>
      <p:ext uri="{BB962C8B-B14F-4D97-AF65-F5344CB8AC3E}">
        <p14:creationId xmlns:p14="http://schemas.microsoft.com/office/powerpoint/2010/main" val="8030991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a:normAutofit/>
          </a:bodyPr>
          <a:lstStyle/>
          <a:p>
            <a:pPr marL="0" indent="0">
              <a:buNone/>
            </a:pPr>
            <a:r>
              <a:rPr lang="en-US" sz="1200" b="0">
                <a:solidFill>
                  <a:srgbClr val="6A9955"/>
                </a:solidFill>
                <a:effectLst/>
                <a:latin typeface="Consolas" panose="020B0609020204030204" pitchFamily="49" charset="0"/>
              </a:rPr>
              <a:t># Recipe to install and configure Apache web server</a:t>
            </a:r>
            <a:endParaRPr lang="en-US" sz="1200" b="0">
              <a:solidFill>
                <a:srgbClr val="D4D4D4"/>
              </a:solidFill>
              <a:effectLst/>
              <a:latin typeface="Consolas" panose="020B0609020204030204" pitchFamily="49" charset="0"/>
            </a:endParaRPr>
          </a:p>
          <a:p>
            <a:pPr marL="0" indent="0">
              <a:buNone/>
            </a:pPr>
            <a:r>
              <a:rPr lang="en-US" sz="1200" b="0">
                <a:solidFill>
                  <a:srgbClr val="D4D4D4"/>
                </a:solidFill>
                <a:effectLst/>
                <a:latin typeface="Consolas" panose="020B0609020204030204" pitchFamily="49" charset="0"/>
              </a:rPr>
              <a:t>package </a:t>
            </a:r>
            <a:r>
              <a:rPr lang="en-US" sz="1200" b="0">
                <a:solidFill>
                  <a:srgbClr val="CE9178"/>
                </a:solidFill>
                <a:effectLst/>
                <a:latin typeface="Consolas" panose="020B0609020204030204" pitchFamily="49" charset="0"/>
              </a:rPr>
              <a:t>'httpd'</a:t>
            </a:r>
            <a:r>
              <a:rPr lang="en-US" sz="1200" b="0">
                <a:solidFill>
                  <a:srgbClr val="D4D4D4"/>
                </a:solidFill>
                <a:effectLst/>
                <a:latin typeface="Consolas" panose="020B0609020204030204" pitchFamily="49" charset="0"/>
              </a:rPr>
              <a:t> </a:t>
            </a:r>
            <a:r>
              <a:rPr lang="en-US" sz="1200" b="0">
                <a:solidFill>
                  <a:srgbClr val="C586C0"/>
                </a:solidFill>
                <a:effectLst/>
                <a:latin typeface="Consolas" panose="020B0609020204030204" pitchFamily="49" charset="0"/>
              </a:rPr>
              <a:t>do</a:t>
            </a:r>
            <a:endParaRPr lang="en-US" sz="1200" b="0">
              <a:solidFill>
                <a:srgbClr val="D4D4D4"/>
              </a:solidFill>
              <a:effectLst/>
              <a:latin typeface="Consolas" panose="020B0609020204030204" pitchFamily="49" charset="0"/>
            </a:endParaRPr>
          </a:p>
          <a:p>
            <a:pPr marL="0" indent="0">
              <a:buNone/>
            </a:pPr>
            <a:r>
              <a:rPr lang="en-US" sz="1200" b="0">
                <a:solidFill>
                  <a:srgbClr val="D4D4D4"/>
                </a:solidFill>
                <a:effectLst/>
                <a:latin typeface="Consolas" panose="020B0609020204030204" pitchFamily="49" charset="0"/>
              </a:rPr>
              <a:t>  action </a:t>
            </a:r>
            <a:r>
              <a:rPr lang="en-US" sz="1200" b="0">
                <a:solidFill>
                  <a:srgbClr val="569CD6"/>
                </a:solidFill>
                <a:effectLst/>
                <a:latin typeface="Consolas" panose="020B0609020204030204" pitchFamily="49" charset="0"/>
              </a:rPr>
              <a:t>:install</a:t>
            </a:r>
            <a:endParaRPr lang="en-US" sz="1200" b="0">
              <a:solidFill>
                <a:srgbClr val="D4D4D4"/>
              </a:solidFill>
              <a:effectLst/>
              <a:latin typeface="Consolas" panose="020B0609020204030204" pitchFamily="49" charset="0"/>
            </a:endParaRPr>
          </a:p>
          <a:p>
            <a:pPr marL="0" indent="0">
              <a:buNone/>
            </a:pPr>
            <a:r>
              <a:rPr lang="en-US" sz="1200" b="0">
                <a:solidFill>
                  <a:srgbClr val="C586C0"/>
                </a:solidFill>
                <a:effectLst/>
                <a:latin typeface="Consolas" panose="020B0609020204030204" pitchFamily="49" charset="0"/>
              </a:rPr>
              <a:t>end</a:t>
            </a:r>
            <a:endParaRPr lang="en-US" sz="1200" b="0">
              <a:solidFill>
                <a:srgbClr val="D4D4D4"/>
              </a:solidFill>
              <a:effectLst/>
              <a:latin typeface="Consolas" panose="020B0609020204030204" pitchFamily="49" charset="0"/>
            </a:endParaRPr>
          </a:p>
          <a:p>
            <a:pPr marL="0" indent="0">
              <a:buNone/>
            </a:pPr>
            <a:br>
              <a:rPr lang="en-US" sz="1200" b="0">
                <a:solidFill>
                  <a:srgbClr val="D4D4D4"/>
                </a:solidFill>
                <a:effectLst/>
                <a:latin typeface="Consolas" panose="020B0609020204030204" pitchFamily="49" charset="0"/>
              </a:rPr>
            </a:br>
            <a:r>
              <a:rPr lang="en-US" sz="1200" b="0">
                <a:solidFill>
                  <a:srgbClr val="D4D4D4"/>
                </a:solidFill>
                <a:effectLst/>
                <a:latin typeface="Consolas" panose="020B0609020204030204" pitchFamily="49" charset="0"/>
              </a:rPr>
              <a:t>service </a:t>
            </a:r>
            <a:r>
              <a:rPr lang="en-US" sz="1200" b="0">
                <a:solidFill>
                  <a:srgbClr val="CE9178"/>
                </a:solidFill>
                <a:effectLst/>
                <a:latin typeface="Consolas" panose="020B0609020204030204" pitchFamily="49" charset="0"/>
              </a:rPr>
              <a:t>'httpd'</a:t>
            </a:r>
            <a:r>
              <a:rPr lang="en-US" sz="1200" b="0">
                <a:solidFill>
                  <a:srgbClr val="D4D4D4"/>
                </a:solidFill>
                <a:effectLst/>
                <a:latin typeface="Consolas" panose="020B0609020204030204" pitchFamily="49" charset="0"/>
              </a:rPr>
              <a:t> </a:t>
            </a:r>
            <a:r>
              <a:rPr lang="en-US" sz="1200" b="0">
                <a:solidFill>
                  <a:srgbClr val="C586C0"/>
                </a:solidFill>
                <a:effectLst/>
                <a:latin typeface="Consolas" panose="020B0609020204030204" pitchFamily="49" charset="0"/>
              </a:rPr>
              <a:t>do</a:t>
            </a:r>
            <a:endParaRPr lang="en-US" sz="1200" b="0">
              <a:solidFill>
                <a:srgbClr val="D4D4D4"/>
              </a:solidFill>
              <a:effectLst/>
              <a:latin typeface="Consolas" panose="020B0609020204030204" pitchFamily="49" charset="0"/>
            </a:endParaRPr>
          </a:p>
          <a:p>
            <a:pPr marL="0" indent="0">
              <a:buNone/>
            </a:pPr>
            <a:r>
              <a:rPr lang="en-US" sz="1200" b="0">
                <a:solidFill>
                  <a:srgbClr val="D4D4D4"/>
                </a:solidFill>
                <a:effectLst/>
                <a:latin typeface="Consolas" panose="020B0609020204030204" pitchFamily="49" charset="0"/>
              </a:rPr>
              <a:t>  action [</a:t>
            </a:r>
            <a:r>
              <a:rPr lang="en-US" sz="1200" b="0">
                <a:solidFill>
                  <a:srgbClr val="569CD6"/>
                </a:solidFill>
                <a:effectLst/>
                <a:latin typeface="Consolas" panose="020B0609020204030204" pitchFamily="49" charset="0"/>
              </a:rPr>
              <a:t>:start</a:t>
            </a:r>
            <a:r>
              <a:rPr lang="en-US" sz="1200" b="0">
                <a:solidFill>
                  <a:srgbClr val="D4D4D4"/>
                </a:solidFill>
                <a:effectLst/>
                <a:latin typeface="Consolas" panose="020B0609020204030204" pitchFamily="49" charset="0"/>
              </a:rPr>
              <a:t>, </a:t>
            </a:r>
            <a:r>
              <a:rPr lang="en-US" sz="1200" b="0">
                <a:solidFill>
                  <a:srgbClr val="569CD6"/>
                </a:solidFill>
                <a:effectLst/>
                <a:latin typeface="Consolas" panose="020B0609020204030204" pitchFamily="49" charset="0"/>
              </a:rPr>
              <a:t>:enable</a:t>
            </a:r>
            <a:r>
              <a:rPr lang="en-US" sz="1200" b="0">
                <a:solidFill>
                  <a:srgbClr val="D4D4D4"/>
                </a:solidFill>
                <a:effectLst/>
                <a:latin typeface="Consolas" panose="020B0609020204030204" pitchFamily="49" charset="0"/>
              </a:rPr>
              <a:t>]</a:t>
            </a:r>
          </a:p>
          <a:p>
            <a:pPr marL="0" indent="0">
              <a:buNone/>
            </a:pPr>
            <a:r>
              <a:rPr lang="en-US" sz="1200" b="0">
                <a:solidFill>
                  <a:srgbClr val="C586C0"/>
                </a:solidFill>
                <a:effectLst/>
                <a:latin typeface="Consolas" panose="020B0609020204030204" pitchFamily="49" charset="0"/>
              </a:rPr>
              <a:t>end</a:t>
            </a:r>
            <a:endParaRPr lang="en-US" sz="1200" b="0">
              <a:solidFill>
                <a:srgbClr val="D4D4D4"/>
              </a:solidFill>
              <a:effectLst/>
              <a:latin typeface="Consolas" panose="020B0609020204030204" pitchFamily="49" charset="0"/>
            </a:endParaRPr>
          </a:p>
          <a:p>
            <a:pPr marL="0" indent="0">
              <a:buNone/>
            </a:pPr>
            <a:br>
              <a:rPr lang="en-US" sz="1200" b="0">
                <a:solidFill>
                  <a:srgbClr val="D4D4D4"/>
                </a:solidFill>
                <a:effectLst/>
                <a:latin typeface="Consolas" panose="020B0609020204030204" pitchFamily="49" charset="0"/>
              </a:rPr>
            </a:br>
            <a:r>
              <a:rPr lang="en-US" sz="1200" b="0">
                <a:solidFill>
                  <a:srgbClr val="D4D4D4"/>
                </a:solidFill>
                <a:effectLst/>
                <a:latin typeface="Consolas" panose="020B0609020204030204" pitchFamily="49" charset="0"/>
              </a:rPr>
              <a:t>file </a:t>
            </a:r>
            <a:r>
              <a:rPr lang="en-US" sz="1200" b="0">
                <a:solidFill>
                  <a:srgbClr val="CE9178"/>
                </a:solidFill>
                <a:effectLst/>
                <a:latin typeface="Consolas" panose="020B0609020204030204" pitchFamily="49" charset="0"/>
              </a:rPr>
              <a:t>'/var/www/html/index.html'</a:t>
            </a:r>
            <a:r>
              <a:rPr lang="en-US" sz="1200" b="0">
                <a:solidFill>
                  <a:srgbClr val="D4D4D4"/>
                </a:solidFill>
                <a:effectLst/>
                <a:latin typeface="Consolas" panose="020B0609020204030204" pitchFamily="49" charset="0"/>
              </a:rPr>
              <a:t> </a:t>
            </a:r>
            <a:r>
              <a:rPr lang="en-US" sz="1200" b="0">
                <a:solidFill>
                  <a:srgbClr val="C586C0"/>
                </a:solidFill>
                <a:effectLst/>
                <a:latin typeface="Consolas" panose="020B0609020204030204" pitchFamily="49" charset="0"/>
              </a:rPr>
              <a:t>do</a:t>
            </a:r>
            <a:endParaRPr lang="en-US" sz="1200" b="0">
              <a:solidFill>
                <a:srgbClr val="D4D4D4"/>
              </a:solidFill>
              <a:effectLst/>
              <a:latin typeface="Consolas" panose="020B0609020204030204" pitchFamily="49" charset="0"/>
            </a:endParaRPr>
          </a:p>
          <a:p>
            <a:pPr marL="0" indent="0">
              <a:buNone/>
            </a:pPr>
            <a:r>
              <a:rPr lang="en-US" sz="1200" b="0">
                <a:solidFill>
                  <a:srgbClr val="D4D4D4"/>
                </a:solidFill>
                <a:effectLst/>
                <a:latin typeface="Consolas" panose="020B0609020204030204" pitchFamily="49" charset="0"/>
              </a:rPr>
              <a:t>  content </a:t>
            </a:r>
            <a:r>
              <a:rPr lang="en-US" sz="1200" b="0">
                <a:solidFill>
                  <a:srgbClr val="CE9178"/>
                </a:solidFill>
                <a:effectLst/>
                <a:latin typeface="Consolas" panose="020B0609020204030204" pitchFamily="49" charset="0"/>
              </a:rPr>
              <a:t>'&lt;html&gt;&lt;body&gt;&lt;h1&gt;Hello, Chef!&lt;/h1&gt;&lt;/body&gt;&lt;/html&gt;'</a:t>
            </a:r>
            <a:endParaRPr lang="en-US" sz="1200" b="0">
              <a:solidFill>
                <a:srgbClr val="D4D4D4"/>
              </a:solidFill>
              <a:effectLst/>
              <a:latin typeface="Consolas" panose="020B0609020204030204" pitchFamily="49" charset="0"/>
            </a:endParaRPr>
          </a:p>
          <a:p>
            <a:pPr marL="0" indent="0">
              <a:buNone/>
            </a:pPr>
            <a:r>
              <a:rPr lang="en-US" sz="1200" b="0">
                <a:solidFill>
                  <a:srgbClr val="D4D4D4"/>
                </a:solidFill>
                <a:effectLst/>
                <a:latin typeface="Consolas" panose="020B0609020204030204" pitchFamily="49" charset="0"/>
              </a:rPr>
              <a:t>  owner </a:t>
            </a:r>
            <a:r>
              <a:rPr lang="en-US" sz="1200" b="0">
                <a:solidFill>
                  <a:srgbClr val="CE9178"/>
                </a:solidFill>
                <a:effectLst/>
                <a:latin typeface="Consolas" panose="020B0609020204030204" pitchFamily="49" charset="0"/>
              </a:rPr>
              <a:t>'root'</a:t>
            </a:r>
            <a:endParaRPr lang="en-US" sz="1200" b="0">
              <a:solidFill>
                <a:srgbClr val="D4D4D4"/>
              </a:solidFill>
              <a:effectLst/>
              <a:latin typeface="Consolas" panose="020B0609020204030204" pitchFamily="49" charset="0"/>
            </a:endParaRPr>
          </a:p>
          <a:p>
            <a:pPr marL="0" indent="0">
              <a:buNone/>
            </a:pPr>
            <a:r>
              <a:rPr lang="en-US" sz="1200" b="0">
                <a:solidFill>
                  <a:srgbClr val="D4D4D4"/>
                </a:solidFill>
                <a:effectLst/>
                <a:latin typeface="Consolas" panose="020B0609020204030204" pitchFamily="49" charset="0"/>
              </a:rPr>
              <a:t>  group </a:t>
            </a:r>
            <a:r>
              <a:rPr lang="en-US" sz="1200" b="0">
                <a:solidFill>
                  <a:srgbClr val="CE9178"/>
                </a:solidFill>
                <a:effectLst/>
                <a:latin typeface="Consolas" panose="020B0609020204030204" pitchFamily="49" charset="0"/>
              </a:rPr>
              <a:t>'root'</a:t>
            </a:r>
            <a:endParaRPr lang="en-US" sz="1200" b="0">
              <a:solidFill>
                <a:srgbClr val="D4D4D4"/>
              </a:solidFill>
              <a:effectLst/>
              <a:latin typeface="Consolas" panose="020B0609020204030204" pitchFamily="49" charset="0"/>
            </a:endParaRPr>
          </a:p>
          <a:p>
            <a:pPr marL="0" indent="0">
              <a:buNone/>
            </a:pPr>
            <a:r>
              <a:rPr lang="en-US" sz="1200" b="0">
                <a:solidFill>
                  <a:srgbClr val="D4D4D4"/>
                </a:solidFill>
                <a:effectLst/>
                <a:latin typeface="Consolas" panose="020B0609020204030204" pitchFamily="49" charset="0"/>
              </a:rPr>
              <a:t>  mode </a:t>
            </a:r>
            <a:r>
              <a:rPr lang="en-US" sz="1200" b="0">
                <a:solidFill>
                  <a:srgbClr val="CE9178"/>
                </a:solidFill>
                <a:effectLst/>
                <a:latin typeface="Consolas" panose="020B0609020204030204" pitchFamily="49" charset="0"/>
              </a:rPr>
              <a:t>'0644'</a:t>
            </a:r>
            <a:endParaRPr lang="en-US" sz="1200" b="0">
              <a:solidFill>
                <a:srgbClr val="D4D4D4"/>
              </a:solidFill>
              <a:effectLst/>
              <a:latin typeface="Consolas" panose="020B0609020204030204" pitchFamily="49" charset="0"/>
            </a:endParaRPr>
          </a:p>
          <a:p>
            <a:pPr marL="0" indent="0">
              <a:buNone/>
            </a:pPr>
            <a:r>
              <a:rPr lang="en-US" sz="1200" b="0">
                <a:solidFill>
                  <a:srgbClr val="C586C0"/>
                </a:solidFill>
                <a:effectLst/>
                <a:latin typeface="Consolas" panose="020B0609020204030204" pitchFamily="49" charset="0"/>
              </a:rPr>
              <a:t>end</a:t>
            </a:r>
            <a:endParaRPr lang="en-US" sz="1200" b="0">
              <a:solidFill>
                <a:srgbClr val="D4D4D4"/>
              </a:solidFill>
              <a:effectLst/>
              <a:latin typeface="Consolas" panose="020B0609020204030204" pitchFamily="49" charset="0"/>
            </a:endParaRP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a:t>Chef is a popular open-source configuration management tool that focuses on automating software configuration and application deployment.</a:t>
            </a:r>
          </a:p>
          <a:p>
            <a:r>
              <a:rPr lang="en-US"/>
              <a:t>By using recipes, users describe how to configure each node (machine) of the system.</a:t>
            </a:r>
          </a:p>
          <a:p>
            <a:pPr marL="285750" indent="-285750">
              <a:buFont typeface="Arial" panose="020B0604020202020204" pitchFamily="34" charset="0"/>
              <a:buChar char="•"/>
            </a:pPr>
            <a:r>
              <a:rPr lang="en-US"/>
              <a:t>Imperative server configuration</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a:t>Chef</a:t>
            </a:r>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704039" cy="369332"/>
          </a:xfrm>
          <a:prstGeom prst="rect">
            <a:avLst/>
          </a:prstGeom>
          <a:noFill/>
        </p:spPr>
        <p:txBody>
          <a:bodyPr wrap="none" rtlCol="0">
            <a:spAutoFit/>
          </a:bodyPr>
          <a:lstStyle/>
          <a:p>
            <a:r>
              <a:rPr lang="en-US">
                <a:latin typeface="Consolas" panose="020B0609020204030204" pitchFamily="49" charset="0"/>
              </a:rPr>
              <a:t>Ruby</a:t>
            </a:r>
          </a:p>
        </p:txBody>
      </p:sp>
    </p:spTree>
    <p:extLst>
      <p:ext uri="{BB962C8B-B14F-4D97-AF65-F5344CB8AC3E}">
        <p14:creationId xmlns:p14="http://schemas.microsoft.com/office/powerpoint/2010/main" val="26237335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a:normAutofit/>
          </a:bodyPr>
          <a:lstStyle/>
          <a:p>
            <a:pPr marL="0" indent="0">
              <a:buNone/>
            </a:pP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Install and configure Apache web server</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hosts</a:t>
            </a:r>
            <a:r>
              <a:rPr lang="en-US" sz="1200" b="0" dirty="0">
                <a:solidFill>
                  <a:srgbClr val="D4D4D4"/>
                </a:solidFill>
                <a:effectLst/>
                <a:latin typeface="Consolas" panose="020B0609020204030204" pitchFamily="49" charset="0"/>
              </a:rPr>
              <a:t>: </a:t>
            </a:r>
            <a:r>
              <a:rPr lang="en-US" sz="1200" b="0" dirty="0" err="1">
                <a:solidFill>
                  <a:srgbClr val="CE9178"/>
                </a:solidFill>
                <a:effectLst/>
                <a:latin typeface="Consolas" panose="020B0609020204030204" pitchFamily="49" charset="0"/>
              </a:rPr>
              <a:t>web_servers</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tasks</a:t>
            </a:r>
            <a:r>
              <a:rPr lang="en-US" sz="1200" b="0" dirty="0">
                <a:solidFill>
                  <a:srgbClr val="D4D4D4"/>
                </a:solidFill>
                <a:effectLst/>
                <a:latin typeface="Consolas" panose="020B0609020204030204" pitchFamily="49" charset="0"/>
              </a:rPr>
              <a:t>:</a:t>
            </a:r>
          </a:p>
          <a:p>
            <a:pPr marL="0" indent="0">
              <a:buNone/>
            </a:pP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Install Apache</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yum</a:t>
            </a:r>
            <a:r>
              <a:rPr lang="en-US" sz="1200" b="0" dirty="0">
                <a:solidFill>
                  <a:srgbClr val="D4D4D4"/>
                </a:solidFill>
                <a:effectLst/>
                <a:latin typeface="Consolas" panose="020B0609020204030204" pitchFamily="49" charset="0"/>
              </a:rPr>
              <a:t>:</a:t>
            </a:r>
          </a:p>
          <a:p>
            <a:pPr marL="0" indent="0">
              <a:buNone/>
            </a:pPr>
            <a:r>
              <a:rPr lang="en-US" sz="1200" b="0" dirty="0">
                <a:solidFill>
                  <a:srgbClr val="569CD6"/>
                </a:solidFill>
                <a:effectLst/>
                <a:latin typeface="Consolas" panose="020B0609020204030204" pitchFamily="49" charset="0"/>
              </a:rPr>
              <a:t>      name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httpd</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state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present</a:t>
            </a:r>
            <a:endParaRPr lang="en-US" sz="1200" b="0" dirty="0">
              <a:solidFill>
                <a:srgbClr val="D4D4D4"/>
              </a:solidFill>
              <a:effectLst/>
              <a:latin typeface="Consolas" panose="020B0609020204030204" pitchFamily="49" charset="0"/>
            </a:endParaRPr>
          </a:p>
          <a:p>
            <a:pPr marL="0" indent="0">
              <a:buNone/>
            </a:pPr>
            <a:br>
              <a:rPr lang="en-US" sz="1200" b="0" dirty="0">
                <a:solidFill>
                  <a:srgbClr val="D4D4D4"/>
                </a:solidFill>
                <a:effectLst/>
                <a:latin typeface="Consolas" panose="020B0609020204030204" pitchFamily="49" charset="0"/>
              </a:rPr>
            </a:b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Start Apache service</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service</a:t>
            </a:r>
            <a:r>
              <a:rPr lang="en-US" sz="1200" b="0" dirty="0">
                <a:solidFill>
                  <a:srgbClr val="D4D4D4"/>
                </a:solidFill>
                <a:effectLst/>
                <a:latin typeface="Consolas" panose="020B0609020204030204" pitchFamily="49" charset="0"/>
              </a:rPr>
              <a:t>:</a:t>
            </a:r>
          </a:p>
          <a:p>
            <a:pPr marL="0" indent="0">
              <a:buNone/>
            </a:pPr>
            <a:r>
              <a:rPr lang="en-US" sz="1200" b="0" dirty="0">
                <a:solidFill>
                  <a:srgbClr val="569CD6"/>
                </a:solidFill>
                <a:effectLst/>
                <a:latin typeface="Consolas" panose="020B0609020204030204" pitchFamily="49" charset="0"/>
              </a:rPr>
              <a:t>      name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httpd</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state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started</a:t>
            </a:r>
            <a:endParaRPr lang="en-US" sz="1200" b="0" dirty="0">
              <a:solidFill>
                <a:srgbClr val="D4D4D4"/>
              </a:solidFill>
              <a:effectLst/>
              <a:latin typeface="Consolas" panose="020B0609020204030204" pitchFamily="49" charset="0"/>
            </a:endParaRPr>
          </a:p>
          <a:p>
            <a:pPr marL="0" indent="0">
              <a:buNone/>
            </a:pPr>
            <a:br>
              <a:rPr lang="en-US" sz="1200" b="0" dirty="0">
                <a:solidFill>
                  <a:srgbClr val="D4D4D4"/>
                </a:solidFill>
                <a:effectLst/>
                <a:latin typeface="Consolas" panose="020B0609020204030204" pitchFamily="49" charset="0"/>
              </a:rPr>
            </a:br>
            <a:r>
              <a:rPr lang="en-US" sz="1200" b="0" dirty="0">
                <a:solidFill>
                  <a:srgbClr val="D4D4D4"/>
                </a:solidFill>
                <a:effectLst/>
                <a:latin typeface="Consolas" panose="020B0609020204030204" pitchFamily="49" charset="0"/>
              </a:rPr>
              <a:t>  - </a:t>
            </a:r>
            <a:r>
              <a:rPr lang="en-US" sz="1200" b="0" dirty="0">
                <a:solidFill>
                  <a:srgbClr val="569CD6"/>
                </a:solidFill>
                <a:effectLst/>
                <a:latin typeface="Consolas" panose="020B0609020204030204" pitchFamily="49" charset="0"/>
              </a:rPr>
              <a:t>name</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Create </a:t>
            </a:r>
            <a:r>
              <a:rPr lang="en-US" sz="1200" b="0" dirty="0" err="1">
                <a:solidFill>
                  <a:srgbClr val="CE9178"/>
                </a:solidFill>
                <a:effectLst/>
                <a:latin typeface="Consolas" panose="020B0609020204030204" pitchFamily="49" charset="0"/>
              </a:rPr>
              <a:t>index.html</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copy</a:t>
            </a:r>
            <a:r>
              <a:rPr lang="en-US" sz="1200" b="0" dirty="0">
                <a:solidFill>
                  <a:srgbClr val="D4D4D4"/>
                </a:solidFill>
                <a:effectLst/>
                <a:latin typeface="Consolas" panose="020B0609020204030204" pitchFamily="49" charset="0"/>
              </a:rPr>
              <a:t>:</a:t>
            </a:r>
          </a:p>
          <a:p>
            <a:pPr marL="0" indent="0">
              <a:buNone/>
            </a:pPr>
            <a:r>
              <a:rPr lang="en-US" sz="1200" b="0" dirty="0">
                <a:solidFill>
                  <a:srgbClr val="569CD6"/>
                </a:solidFill>
                <a:effectLst/>
                <a:latin typeface="Consolas" panose="020B0609020204030204" pitchFamily="49" charset="0"/>
              </a:rPr>
              <a:t>      content</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'&lt;html&gt;&lt;body&gt;&lt;h1&gt;Hello, Ansible!&lt;/h1&gt;&lt;/body&gt;&lt;/html&gt;'</a:t>
            </a:r>
            <a:endParaRPr lang="en-US" sz="1200" b="0" dirty="0">
              <a:solidFill>
                <a:srgbClr val="D4D4D4"/>
              </a:solidFill>
              <a:effectLst/>
              <a:latin typeface="Consolas" panose="020B0609020204030204" pitchFamily="49" charset="0"/>
            </a:endParaRPr>
          </a:p>
          <a:p>
            <a:pPr marL="0" indent="0">
              <a:buNone/>
            </a:pPr>
            <a:r>
              <a:rPr lang="en-US" sz="1200" b="0" dirty="0">
                <a:solidFill>
                  <a:srgbClr val="569CD6"/>
                </a:solidFill>
                <a:effectLst/>
                <a:latin typeface="Consolas" panose="020B0609020204030204" pitchFamily="49" charset="0"/>
              </a:rPr>
              <a:t>      </a:t>
            </a:r>
            <a:r>
              <a:rPr lang="en-US" sz="1200" b="0" dirty="0" err="1">
                <a:solidFill>
                  <a:srgbClr val="569CD6"/>
                </a:solidFill>
                <a:effectLst/>
                <a:latin typeface="Consolas" panose="020B0609020204030204" pitchFamily="49" charset="0"/>
              </a:rPr>
              <a:t>dest</a:t>
            </a:r>
            <a:r>
              <a:rPr lang="en-US" sz="1200" b="0" dirty="0">
                <a:solidFill>
                  <a:srgbClr val="D4D4D4"/>
                </a:solidFill>
                <a:effectLst/>
                <a:latin typeface="Consolas" panose="020B0609020204030204" pitchFamily="49" charset="0"/>
              </a:rPr>
              <a:t>: </a:t>
            </a:r>
            <a:r>
              <a:rPr lang="en-US" sz="1200" b="0" dirty="0">
                <a:solidFill>
                  <a:srgbClr val="CE9178"/>
                </a:solidFill>
                <a:effectLst/>
                <a:latin typeface="Consolas" panose="020B0609020204030204" pitchFamily="49" charset="0"/>
              </a:rPr>
              <a:t>/var/www/html/</a:t>
            </a:r>
            <a:r>
              <a:rPr lang="en-US" sz="1200" b="0" dirty="0" err="1">
                <a:solidFill>
                  <a:srgbClr val="CE9178"/>
                </a:solidFill>
                <a:effectLst/>
                <a:latin typeface="Consolas" panose="020B0609020204030204" pitchFamily="49" charset="0"/>
              </a:rPr>
              <a:t>index.html</a:t>
            </a:r>
            <a:endParaRPr lang="en-US" sz="1200" b="0" dirty="0">
              <a:solidFill>
                <a:srgbClr val="D4D4D4"/>
              </a:solidFill>
              <a:effectLst/>
              <a:latin typeface="Consolas" panose="020B0609020204030204" pitchFamily="49" charset="0"/>
            </a:endParaRP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a:t>Ansible is an open-source automation tool that supports configuration management and application deployment using YAML-based playbooks.</a:t>
            </a:r>
          </a:p>
          <a:p>
            <a:r>
              <a:rPr lang="en-US"/>
              <a:t>Playbooks define the tasks that will be executed to arrive at a certain configuration state.</a:t>
            </a:r>
          </a:p>
          <a:p>
            <a:pPr marL="285750" indent="-285750">
              <a:buFont typeface="Arial" panose="020B0604020202020204" pitchFamily="34" charset="0"/>
              <a:buChar char="•"/>
            </a:pPr>
            <a:r>
              <a:rPr lang="en-US"/>
              <a:t>Imperative configuration</a:t>
            </a:r>
          </a:p>
          <a:p>
            <a:pPr marL="285750" indent="-285750">
              <a:buFont typeface="Arial" panose="020B0604020202020204" pitchFamily="34" charset="0"/>
              <a:buChar char="•"/>
            </a:pPr>
            <a:r>
              <a:rPr lang="en-US"/>
              <a:t>IT automation for self managed servers</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a:t>Ansible</a:t>
            </a:r>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704039" cy="369332"/>
          </a:xfrm>
          <a:prstGeom prst="rect">
            <a:avLst/>
          </a:prstGeom>
          <a:noFill/>
        </p:spPr>
        <p:txBody>
          <a:bodyPr wrap="none" rtlCol="0">
            <a:spAutoFit/>
          </a:bodyPr>
          <a:lstStyle/>
          <a:p>
            <a:r>
              <a:rPr lang="en-US">
                <a:latin typeface="Consolas" panose="020B0609020204030204" pitchFamily="49" charset="0"/>
              </a:rPr>
              <a:t>YAML</a:t>
            </a:r>
          </a:p>
        </p:txBody>
      </p:sp>
    </p:spTree>
    <p:extLst>
      <p:ext uri="{BB962C8B-B14F-4D97-AF65-F5344CB8AC3E}">
        <p14:creationId xmlns:p14="http://schemas.microsoft.com/office/powerpoint/2010/main" val="2477359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a:normAutofit/>
          </a:bodyPr>
          <a:lstStyle/>
          <a:p>
            <a:pPr marL="0" indent="0">
              <a:buNone/>
            </a:pPr>
            <a:r>
              <a:rPr lang="fr-FR" sz="1200" b="0" dirty="0">
                <a:solidFill>
                  <a:srgbClr val="569CD6"/>
                </a:solidFill>
                <a:effectLst/>
                <a:latin typeface="Consolas" panose="020B0609020204030204" pitchFamily="49" charset="0"/>
              </a:rPr>
              <a:t>version</a:t>
            </a:r>
            <a:r>
              <a:rPr lang="fr-FR" sz="1200" b="0" dirty="0">
                <a:solidFill>
                  <a:srgbClr val="D4D4D4"/>
                </a:solidFill>
                <a:effectLst/>
                <a:latin typeface="Consolas" panose="020B0609020204030204" pitchFamily="49" charset="0"/>
              </a:rPr>
              <a:t>: </a:t>
            </a:r>
            <a:r>
              <a:rPr lang="fr-FR" sz="1200" b="0" dirty="0">
                <a:solidFill>
                  <a:srgbClr val="CE9178"/>
                </a:solidFill>
                <a:effectLst/>
                <a:latin typeface="Consolas" panose="020B0609020204030204" pitchFamily="49" charset="0"/>
              </a:rPr>
              <a:t>"3"</a:t>
            </a:r>
            <a:endParaRPr lang="fr-FR" sz="1200" b="0" dirty="0">
              <a:solidFill>
                <a:srgbClr val="D4D4D4"/>
              </a:solidFill>
              <a:effectLst/>
              <a:latin typeface="Consolas" panose="020B0609020204030204" pitchFamily="49" charset="0"/>
            </a:endParaRPr>
          </a:p>
          <a:p>
            <a:pPr marL="0" indent="0">
              <a:buNone/>
            </a:pPr>
            <a:r>
              <a:rPr lang="fr-FR" sz="1200" b="0" dirty="0">
                <a:solidFill>
                  <a:srgbClr val="569CD6"/>
                </a:solidFill>
                <a:effectLst/>
                <a:latin typeface="Consolas" panose="020B0609020204030204" pitchFamily="49" charset="0"/>
              </a:rPr>
              <a:t>services</a:t>
            </a:r>
            <a:r>
              <a:rPr lang="fr-FR" sz="1200" b="0" dirty="0">
                <a:solidFill>
                  <a:srgbClr val="D4D4D4"/>
                </a:solidFill>
                <a:effectLst/>
                <a:latin typeface="Consolas" panose="020B0609020204030204" pitchFamily="49" charset="0"/>
              </a:rPr>
              <a:t>:</a:t>
            </a:r>
          </a:p>
          <a:p>
            <a:pPr marL="0" indent="0">
              <a:buNone/>
            </a:pPr>
            <a:r>
              <a:rPr lang="fr-FR" sz="1200" b="0" dirty="0">
                <a:solidFill>
                  <a:srgbClr val="569CD6"/>
                </a:solidFill>
                <a:effectLst/>
                <a:latin typeface="Consolas" panose="020B0609020204030204" pitchFamily="49" charset="0"/>
              </a:rPr>
              <a:t>  web</a:t>
            </a:r>
            <a:r>
              <a:rPr lang="fr-FR" sz="1200" b="0" dirty="0">
                <a:solidFill>
                  <a:srgbClr val="D4D4D4"/>
                </a:solidFill>
                <a:effectLst/>
                <a:latin typeface="Consolas" panose="020B0609020204030204" pitchFamily="49" charset="0"/>
              </a:rPr>
              <a:t>:</a:t>
            </a:r>
          </a:p>
          <a:p>
            <a:pPr marL="0" indent="0">
              <a:buNone/>
            </a:pPr>
            <a:r>
              <a:rPr lang="fr-FR" sz="1200" b="0" dirty="0">
                <a:solidFill>
                  <a:srgbClr val="569CD6"/>
                </a:solidFill>
                <a:effectLst/>
                <a:latin typeface="Consolas" panose="020B0609020204030204" pitchFamily="49" charset="0"/>
              </a:rPr>
              <a:t>    image</a:t>
            </a:r>
            <a:r>
              <a:rPr lang="fr-FR" sz="1200" b="0" dirty="0">
                <a:solidFill>
                  <a:srgbClr val="D4D4D4"/>
                </a:solidFill>
                <a:effectLst/>
                <a:latin typeface="Consolas" panose="020B0609020204030204" pitchFamily="49" charset="0"/>
              </a:rPr>
              <a:t>: </a:t>
            </a:r>
            <a:r>
              <a:rPr lang="fr-FR" sz="1200" b="0" dirty="0" err="1">
                <a:solidFill>
                  <a:srgbClr val="CE9178"/>
                </a:solidFill>
                <a:effectLst/>
                <a:latin typeface="Consolas" panose="020B0609020204030204" pitchFamily="49" charset="0"/>
              </a:rPr>
              <a:t>nginx:alpine</a:t>
            </a:r>
            <a:endParaRPr lang="fr-FR" sz="1200" b="0" dirty="0">
              <a:solidFill>
                <a:srgbClr val="D4D4D4"/>
              </a:solidFill>
              <a:effectLst/>
              <a:latin typeface="Consolas" panose="020B0609020204030204" pitchFamily="49" charset="0"/>
            </a:endParaRPr>
          </a:p>
          <a:p>
            <a:pPr marL="0" indent="0">
              <a:buNone/>
            </a:pPr>
            <a:r>
              <a:rPr lang="fr-FR" sz="1200" b="0" dirty="0">
                <a:solidFill>
                  <a:srgbClr val="569CD6"/>
                </a:solidFill>
                <a:effectLst/>
                <a:latin typeface="Consolas" panose="020B0609020204030204" pitchFamily="49" charset="0"/>
              </a:rPr>
              <a:t>    ports</a:t>
            </a:r>
            <a:r>
              <a:rPr lang="fr-FR" sz="1200" b="0" dirty="0">
                <a:solidFill>
                  <a:srgbClr val="D4D4D4"/>
                </a:solidFill>
                <a:effectLst/>
                <a:latin typeface="Consolas" panose="020B0609020204030204" pitchFamily="49" charset="0"/>
              </a:rPr>
              <a:t>:</a:t>
            </a:r>
          </a:p>
          <a:p>
            <a:pPr marL="0" indent="0">
              <a:buNone/>
            </a:pPr>
            <a:r>
              <a:rPr lang="fr-FR" sz="1200" b="0" dirty="0">
                <a:solidFill>
                  <a:srgbClr val="D4D4D4"/>
                </a:solidFill>
                <a:effectLst/>
                <a:latin typeface="Consolas" panose="020B0609020204030204" pitchFamily="49" charset="0"/>
              </a:rPr>
              <a:t>      - </a:t>
            </a:r>
            <a:r>
              <a:rPr lang="fr-FR" sz="1200" b="0" dirty="0">
                <a:solidFill>
                  <a:srgbClr val="CE9178"/>
                </a:solidFill>
                <a:effectLst/>
                <a:latin typeface="Consolas" panose="020B0609020204030204" pitchFamily="49" charset="0"/>
              </a:rPr>
              <a:t>"80:80"</a:t>
            </a:r>
            <a:endParaRPr lang="fr-FR" sz="1200" b="0" dirty="0">
              <a:solidFill>
                <a:srgbClr val="D4D4D4"/>
              </a:solidFill>
              <a:effectLst/>
              <a:latin typeface="Consolas" panose="020B0609020204030204" pitchFamily="49" charset="0"/>
            </a:endParaRPr>
          </a:p>
          <a:p>
            <a:pPr marL="0" indent="0">
              <a:buNone/>
            </a:pPr>
            <a:r>
              <a:rPr lang="fr-FR" sz="1200" b="0" dirty="0">
                <a:solidFill>
                  <a:srgbClr val="569CD6"/>
                </a:solidFill>
                <a:effectLst/>
                <a:latin typeface="Consolas" panose="020B0609020204030204" pitchFamily="49" charset="0"/>
              </a:rPr>
              <a:t>  redis</a:t>
            </a:r>
            <a:r>
              <a:rPr lang="fr-FR" sz="1200" b="0" dirty="0">
                <a:solidFill>
                  <a:srgbClr val="D4D4D4"/>
                </a:solidFill>
                <a:effectLst/>
                <a:latin typeface="Consolas" panose="020B0609020204030204" pitchFamily="49" charset="0"/>
              </a:rPr>
              <a:t>:</a:t>
            </a:r>
          </a:p>
          <a:p>
            <a:pPr marL="0" indent="0">
              <a:buNone/>
            </a:pPr>
            <a:r>
              <a:rPr lang="fr-FR" sz="1200" b="0" dirty="0">
                <a:solidFill>
                  <a:srgbClr val="569CD6"/>
                </a:solidFill>
                <a:effectLst/>
                <a:latin typeface="Consolas" panose="020B0609020204030204" pitchFamily="49" charset="0"/>
              </a:rPr>
              <a:t>    image</a:t>
            </a:r>
            <a:r>
              <a:rPr lang="fr-FR" sz="1200" b="0" dirty="0">
                <a:solidFill>
                  <a:srgbClr val="D4D4D4"/>
                </a:solidFill>
                <a:effectLst/>
                <a:latin typeface="Consolas" panose="020B0609020204030204" pitchFamily="49" charset="0"/>
              </a:rPr>
              <a:t>: </a:t>
            </a:r>
            <a:r>
              <a:rPr lang="fr-FR" sz="1200" b="0" dirty="0">
                <a:solidFill>
                  <a:srgbClr val="CE9178"/>
                </a:solidFill>
                <a:effectLst/>
                <a:latin typeface="Consolas" panose="020B0609020204030204" pitchFamily="49" charset="0"/>
              </a:rPr>
              <a:t>"</a:t>
            </a:r>
            <a:r>
              <a:rPr lang="fr-FR" sz="1200" b="0" dirty="0" err="1">
                <a:solidFill>
                  <a:srgbClr val="CE9178"/>
                </a:solidFill>
                <a:effectLst/>
                <a:latin typeface="Consolas" panose="020B0609020204030204" pitchFamily="49" charset="0"/>
              </a:rPr>
              <a:t>redis:alpine</a:t>
            </a:r>
            <a:r>
              <a:rPr lang="fr-FR" sz="1200" b="0" dirty="0">
                <a:solidFill>
                  <a:srgbClr val="CE9178"/>
                </a:solidFill>
                <a:effectLst/>
                <a:latin typeface="Consolas" panose="020B0609020204030204" pitchFamily="49" charset="0"/>
              </a:rPr>
              <a:t>"</a:t>
            </a:r>
            <a:endParaRPr lang="fr-FR" sz="1200" b="0" dirty="0">
              <a:solidFill>
                <a:srgbClr val="D4D4D4"/>
              </a:solidFill>
              <a:effectLst/>
              <a:latin typeface="Consolas" panose="020B0609020204030204" pitchFamily="49" charset="0"/>
            </a:endParaRP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dirty="0"/>
              <a:t>Docker Compose is an open-source tool for defining and running multi-container Docker applications using a YAML configuration file.</a:t>
            </a:r>
          </a:p>
          <a:p>
            <a:r>
              <a:rPr lang="en-US" dirty="0"/>
              <a:t>It's suitable for local development and testing of containerized applications.</a:t>
            </a:r>
          </a:p>
          <a:p>
            <a:pPr marL="285750" indent="-285750">
              <a:buFont typeface="Arial" panose="020B0604020202020204" pitchFamily="34" charset="0"/>
              <a:buChar char="•"/>
            </a:pPr>
            <a:r>
              <a:rPr lang="en-US" dirty="0"/>
              <a:t>Container based</a:t>
            </a:r>
          </a:p>
          <a:p>
            <a:pPr marL="285750" indent="-285750">
              <a:buFont typeface="Arial" panose="020B0604020202020204" pitchFamily="34" charset="0"/>
              <a:buChar char="•"/>
            </a:pPr>
            <a:r>
              <a:rPr lang="en-US" dirty="0"/>
              <a:t>Suitable for local or simple deployments</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a:t>Docker compose</a:t>
            </a:r>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704039" cy="369332"/>
          </a:xfrm>
          <a:prstGeom prst="rect">
            <a:avLst/>
          </a:prstGeom>
          <a:noFill/>
        </p:spPr>
        <p:txBody>
          <a:bodyPr wrap="none" rtlCol="0">
            <a:spAutoFit/>
          </a:bodyPr>
          <a:lstStyle/>
          <a:p>
            <a:r>
              <a:rPr lang="en-US">
                <a:latin typeface="Consolas" panose="020B0609020204030204" pitchFamily="49" charset="0"/>
              </a:rPr>
              <a:t>YAML</a:t>
            </a:r>
          </a:p>
        </p:txBody>
      </p:sp>
    </p:spTree>
    <p:extLst>
      <p:ext uri="{BB962C8B-B14F-4D97-AF65-F5344CB8AC3E}">
        <p14:creationId xmlns:p14="http://schemas.microsoft.com/office/powerpoint/2010/main" val="24912269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a:noAutofit/>
          </a:bodyPr>
          <a:lstStyle/>
          <a:p>
            <a:pPr marL="0" indent="0">
              <a:buNone/>
            </a:pPr>
            <a:r>
              <a:rPr lang="en-US" sz="900" b="0" noProof="1">
                <a:solidFill>
                  <a:srgbClr val="569CD6"/>
                </a:solidFill>
                <a:effectLst/>
                <a:latin typeface="Consolas" panose="020B0609020204030204" pitchFamily="49" charset="0"/>
              </a:rPr>
              <a:t>apiVersion</a:t>
            </a:r>
            <a:r>
              <a:rPr lang="en-US" sz="900" b="0" noProof="1">
                <a:solidFill>
                  <a:srgbClr val="D4D4D4"/>
                </a:solidFill>
                <a:effectLst/>
                <a:latin typeface="Consolas" panose="020B0609020204030204" pitchFamily="49" charset="0"/>
              </a:rPr>
              <a:t>: </a:t>
            </a:r>
            <a:r>
              <a:rPr lang="en-US" sz="900" b="0" noProof="1">
                <a:solidFill>
                  <a:srgbClr val="CE9178"/>
                </a:solidFill>
                <a:effectLst/>
                <a:latin typeface="Consolas" panose="020B0609020204030204" pitchFamily="49" charset="0"/>
              </a:rPr>
              <a:t>apps/v1</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kind</a:t>
            </a:r>
            <a:r>
              <a:rPr lang="en-US" sz="900" b="0" noProof="1">
                <a:solidFill>
                  <a:srgbClr val="D4D4D4"/>
                </a:solidFill>
                <a:effectLst/>
                <a:latin typeface="Consolas" panose="020B0609020204030204" pitchFamily="49" charset="0"/>
              </a:rPr>
              <a:t>: </a:t>
            </a:r>
            <a:r>
              <a:rPr lang="en-US" sz="900" b="0" noProof="1">
                <a:solidFill>
                  <a:srgbClr val="CE9178"/>
                </a:solidFill>
                <a:effectLst/>
                <a:latin typeface="Consolas" panose="020B0609020204030204" pitchFamily="49" charset="0"/>
              </a:rPr>
              <a:t>Deployment</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metadata</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name</a:t>
            </a:r>
            <a:r>
              <a:rPr lang="en-US" sz="900" b="0" noProof="1">
                <a:solidFill>
                  <a:srgbClr val="D4D4D4"/>
                </a:solidFill>
                <a:effectLst/>
                <a:latin typeface="Consolas" panose="020B0609020204030204" pitchFamily="49" charset="0"/>
              </a:rPr>
              <a:t>: </a:t>
            </a:r>
            <a:r>
              <a:rPr lang="en-US" sz="900" b="0" noProof="1">
                <a:solidFill>
                  <a:srgbClr val="CE9178"/>
                </a:solidFill>
                <a:effectLst/>
                <a:latin typeface="Consolas" panose="020B0609020204030204" pitchFamily="49" charset="0"/>
              </a:rPr>
              <a:t>nginx-deployment</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spec</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replicas</a:t>
            </a:r>
            <a:r>
              <a:rPr lang="en-US" sz="900" b="0" noProof="1">
                <a:solidFill>
                  <a:srgbClr val="D4D4D4"/>
                </a:solidFill>
                <a:effectLst/>
                <a:latin typeface="Consolas" panose="020B0609020204030204" pitchFamily="49" charset="0"/>
              </a:rPr>
              <a:t>: </a:t>
            </a:r>
            <a:r>
              <a:rPr lang="en-US" sz="900" b="0" noProof="1">
                <a:solidFill>
                  <a:srgbClr val="B5CEA8"/>
                </a:solidFill>
                <a:effectLst/>
                <a:latin typeface="Consolas" panose="020B0609020204030204" pitchFamily="49" charset="0"/>
              </a:rPr>
              <a:t>2</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  selector</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matchLabels</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app</a:t>
            </a:r>
            <a:r>
              <a:rPr lang="en-US" sz="900" b="0" noProof="1">
                <a:solidFill>
                  <a:srgbClr val="D4D4D4"/>
                </a:solidFill>
                <a:effectLst/>
                <a:latin typeface="Consolas" panose="020B0609020204030204" pitchFamily="49" charset="0"/>
              </a:rPr>
              <a:t>: </a:t>
            </a:r>
            <a:r>
              <a:rPr lang="en-US" sz="900" b="0" noProof="1">
                <a:solidFill>
                  <a:srgbClr val="CE9178"/>
                </a:solidFill>
                <a:effectLst/>
                <a:latin typeface="Consolas" panose="020B0609020204030204" pitchFamily="49" charset="0"/>
              </a:rPr>
              <a:t>nginx</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  template</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metadata</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labels</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app</a:t>
            </a:r>
            <a:r>
              <a:rPr lang="en-US" sz="900" b="0" noProof="1">
                <a:solidFill>
                  <a:srgbClr val="D4D4D4"/>
                </a:solidFill>
                <a:effectLst/>
                <a:latin typeface="Consolas" panose="020B0609020204030204" pitchFamily="49" charset="0"/>
              </a:rPr>
              <a:t>: </a:t>
            </a:r>
            <a:r>
              <a:rPr lang="en-US" sz="900" b="0" noProof="1">
                <a:solidFill>
                  <a:srgbClr val="CE9178"/>
                </a:solidFill>
                <a:effectLst/>
                <a:latin typeface="Consolas" panose="020B0609020204030204" pitchFamily="49" charset="0"/>
              </a:rPr>
              <a:t>nginx</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    spec</a:t>
            </a:r>
            <a:r>
              <a:rPr lang="en-US" sz="900" b="0" noProof="1">
                <a:solidFill>
                  <a:srgbClr val="D4D4D4"/>
                </a:solidFill>
                <a:effectLst/>
                <a:latin typeface="Consolas" panose="020B0609020204030204" pitchFamily="49" charset="0"/>
              </a:rPr>
              <a:t>:</a:t>
            </a:r>
          </a:p>
          <a:p>
            <a:pPr marL="0" indent="0">
              <a:buNone/>
            </a:pPr>
            <a:r>
              <a:rPr lang="en-US" sz="900" b="0" noProof="1">
                <a:solidFill>
                  <a:srgbClr val="569CD6"/>
                </a:solidFill>
                <a:effectLst/>
                <a:latin typeface="Consolas" panose="020B0609020204030204" pitchFamily="49" charset="0"/>
              </a:rPr>
              <a:t>      containers</a:t>
            </a:r>
            <a:r>
              <a:rPr lang="en-US" sz="900" b="0" noProof="1">
                <a:solidFill>
                  <a:srgbClr val="D4D4D4"/>
                </a:solidFill>
                <a:effectLst/>
                <a:latin typeface="Consolas" panose="020B0609020204030204" pitchFamily="49" charset="0"/>
              </a:rPr>
              <a:t>: </a:t>
            </a:r>
          </a:p>
          <a:p>
            <a:pPr marL="0" indent="0">
              <a:buNone/>
            </a:pPr>
            <a:r>
              <a:rPr lang="en-US" sz="900" b="0" noProof="1">
                <a:solidFill>
                  <a:srgbClr val="D4D4D4"/>
                </a:solidFill>
                <a:effectLst/>
                <a:latin typeface="Consolas" panose="020B0609020204030204" pitchFamily="49" charset="0"/>
              </a:rPr>
              <a:t>        - </a:t>
            </a:r>
            <a:r>
              <a:rPr lang="en-US" sz="900" b="0" noProof="1">
                <a:solidFill>
                  <a:srgbClr val="569CD6"/>
                </a:solidFill>
                <a:effectLst/>
                <a:latin typeface="Consolas" panose="020B0609020204030204" pitchFamily="49" charset="0"/>
              </a:rPr>
              <a:t>name</a:t>
            </a:r>
            <a:r>
              <a:rPr lang="en-US" sz="900" b="0" noProof="1">
                <a:solidFill>
                  <a:srgbClr val="D4D4D4"/>
                </a:solidFill>
                <a:effectLst/>
                <a:latin typeface="Consolas" panose="020B0609020204030204" pitchFamily="49" charset="0"/>
              </a:rPr>
              <a:t>: </a:t>
            </a:r>
            <a:r>
              <a:rPr lang="en-US" sz="900" b="0" noProof="1">
                <a:solidFill>
                  <a:srgbClr val="CE9178"/>
                </a:solidFill>
                <a:effectLst/>
                <a:latin typeface="Consolas" panose="020B0609020204030204" pitchFamily="49" charset="0"/>
              </a:rPr>
              <a:t>nginx2</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          image</a:t>
            </a:r>
            <a:r>
              <a:rPr lang="en-US" sz="900" b="0" noProof="1">
                <a:solidFill>
                  <a:srgbClr val="D4D4D4"/>
                </a:solidFill>
                <a:effectLst/>
                <a:latin typeface="Consolas" panose="020B0609020204030204" pitchFamily="49" charset="0"/>
              </a:rPr>
              <a:t>: </a:t>
            </a:r>
            <a:r>
              <a:rPr lang="en-US" sz="900" b="0" noProof="1">
                <a:solidFill>
                  <a:srgbClr val="CE9178"/>
                </a:solidFill>
                <a:effectLst/>
                <a:latin typeface="Consolas" panose="020B0609020204030204" pitchFamily="49" charset="0"/>
              </a:rPr>
              <a:t>nginx:1.19</a:t>
            </a:r>
            <a:endParaRPr lang="en-US" sz="900" b="0" noProof="1">
              <a:solidFill>
                <a:srgbClr val="D4D4D4"/>
              </a:solidFill>
              <a:effectLst/>
              <a:latin typeface="Consolas" panose="020B0609020204030204" pitchFamily="49" charset="0"/>
            </a:endParaRPr>
          </a:p>
          <a:p>
            <a:pPr marL="0" indent="0">
              <a:buNone/>
            </a:pPr>
            <a:r>
              <a:rPr lang="en-US" sz="900" b="0" noProof="1">
                <a:solidFill>
                  <a:srgbClr val="569CD6"/>
                </a:solidFill>
                <a:effectLst/>
                <a:latin typeface="Consolas" panose="020B0609020204030204" pitchFamily="49" charset="0"/>
              </a:rPr>
              <a:t>          ports</a:t>
            </a:r>
            <a:r>
              <a:rPr lang="en-US" sz="900" b="0" noProof="1">
                <a:solidFill>
                  <a:srgbClr val="D4D4D4"/>
                </a:solidFill>
                <a:effectLst/>
                <a:latin typeface="Consolas" panose="020B0609020204030204" pitchFamily="49" charset="0"/>
              </a:rPr>
              <a:t>:</a:t>
            </a:r>
          </a:p>
          <a:p>
            <a:pPr marL="0" indent="0">
              <a:buNone/>
            </a:pPr>
            <a:r>
              <a:rPr lang="en-US" sz="900" b="0" noProof="1">
                <a:solidFill>
                  <a:srgbClr val="D4D4D4"/>
                </a:solidFill>
                <a:effectLst/>
                <a:latin typeface="Consolas" panose="020B0609020204030204" pitchFamily="49" charset="0"/>
              </a:rPr>
              <a:t>            - </a:t>
            </a:r>
            <a:r>
              <a:rPr lang="en-US" sz="900" b="0" noProof="1">
                <a:solidFill>
                  <a:srgbClr val="569CD6"/>
                </a:solidFill>
                <a:effectLst/>
                <a:latin typeface="Consolas" panose="020B0609020204030204" pitchFamily="49" charset="0"/>
              </a:rPr>
              <a:t>containerPort</a:t>
            </a:r>
            <a:r>
              <a:rPr lang="en-US" sz="900" b="0" noProof="1">
                <a:solidFill>
                  <a:srgbClr val="D4D4D4"/>
                </a:solidFill>
                <a:effectLst/>
                <a:latin typeface="Consolas" panose="020B0609020204030204" pitchFamily="49" charset="0"/>
              </a:rPr>
              <a:t>: </a:t>
            </a:r>
            <a:r>
              <a:rPr lang="en-US" sz="900" b="0" noProof="1">
                <a:solidFill>
                  <a:srgbClr val="B5CEA8"/>
                </a:solidFill>
                <a:effectLst/>
                <a:latin typeface="Consolas" panose="020B0609020204030204" pitchFamily="49" charset="0"/>
              </a:rPr>
              <a:t>80</a:t>
            </a:r>
            <a:endParaRPr lang="en-US" sz="900" b="0" noProof="1">
              <a:solidFill>
                <a:srgbClr val="D4D4D4"/>
              </a:solidFill>
              <a:effectLst/>
              <a:latin typeface="Consolas" panose="020B0609020204030204" pitchFamily="49" charset="0"/>
            </a:endParaRP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a:t>Kubernetes is an open-source container orchestration platform that supports Infrastructure as Code principles through YAML-based manifest files.</a:t>
            </a:r>
          </a:p>
          <a:p>
            <a:r>
              <a:rPr lang="en-US"/>
              <a:t>Manifests describe the desired state of each resource kind, and the system will attempt to reach/maintain this state over time.</a:t>
            </a:r>
          </a:p>
          <a:p>
            <a:pPr marL="285750" indent="-285750">
              <a:buFont typeface="Arial" panose="020B0604020202020204" pitchFamily="34" charset="0"/>
              <a:buChar char="•"/>
            </a:pPr>
            <a:r>
              <a:rPr lang="en-US"/>
              <a:t>Container orchestration</a:t>
            </a:r>
          </a:p>
          <a:p>
            <a:pPr marL="285750" indent="-285750">
              <a:buFont typeface="Arial" panose="020B0604020202020204" pitchFamily="34" charset="0"/>
              <a:buChar char="•"/>
            </a:pPr>
            <a:r>
              <a:rPr lang="en-US"/>
              <a:t>Cluster “operating system”</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a:t>Kubernetes</a:t>
            </a:r>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704039" cy="369332"/>
          </a:xfrm>
          <a:prstGeom prst="rect">
            <a:avLst/>
          </a:prstGeom>
          <a:noFill/>
        </p:spPr>
        <p:txBody>
          <a:bodyPr wrap="none" rtlCol="0">
            <a:spAutoFit/>
          </a:bodyPr>
          <a:lstStyle/>
          <a:p>
            <a:r>
              <a:rPr lang="en-US">
                <a:latin typeface="Consolas" panose="020B0609020204030204" pitchFamily="49" charset="0"/>
              </a:rPr>
              <a:t>YAML</a:t>
            </a:r>
          </a:p>
        </p:txBody>
      </p:sp>
    </p:spTree>
    <p:extLst>
      <p:ext uri="{BB962C8B-B14F-4D97-AF65-F5344CB8AC3E}">
        <p14:creationId xmlns:p14="http://schemas.microsoft.com/office/powerpoint/2010/main" val="10335151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vert="horz" lIns="91440" tIns="45720" rIns="91440" bIns="45720" rtlCol="0">
            <a:noAutofit/>
          </a:bodyPr>
          <a:lstStyle/>
          <a:p>
            <a:pPr marL="0" indent="0">
              <a:buNone/>
            </a:pPr>
            <a:r>
              <a:rPr lang="en-US" sz="1400" b="0" noProof="1">
                <a:solidFill>
                  <a:srgbClr val="6A9955"/>
                </a:solidFill>
                <a:effectLst/>
                <a:latin typeface="Consolas" panose="020B0609020204030204" pitchFamily="49" charset="0"/>
              </a:rPr>
              <a:t># Define an AWS EC2 instance</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4EC9B0"/>
                </a:solidFill>
                <a:effectLst/>
                <a:latin typeface="Consolas" panose="020B0609020204030204" pitchFamily="49" charset="0"/>
              </a:rPr>
              <a:t>resource</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"aws_instance"</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"example"</a:t>
            </a:r>
            <a:r>
              <a:rPr lang="en-US" sz="1400" b="0" noProof="1">
                <a:solidFill>
                  <a:srgbClr val="D4D4D4"/>
                </a:solidFill>
                <a:effectLst/>
                <a:latin typeface="Consolas" panose="020B0609020204030204" pitchFamily="49" charset="0"/>
              </a:rPr>
              <a:t> {</a:t>
            </a:r>
          </a:p>
          <a:p>
            <a:pPr marL="0" indent="0">
              <a:buNone/>
            </a:pPr>
            <a:r>
              <a:rPr lang="en-US" sz="1400" b="0" noProof="1">
                <a:solidFill>
                  <a:srgbClr val="9CDCFE"/>
                </a:solidFill>
                <a:effectLst/>
                <a:latin typeface="Consolas" panose="020B0609020204030204" pitchFamily="49" charset="0"/>
              </a:rPr>
              <a:t>  ami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"ami-0c55b159cbfafe1f0"</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instance_type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"t2.micro"</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D4D4D4"/>
                </a:solidFill>
                <a:effectLst/>
                <a:latin typeface="Consolas" panose="020B0609020204030204" pitchFamily="49" charset="0"/>
              </a:rPr>
              <a:t>}</a:t>
            </a:r>
          </a:p>
          <a:p>
            <a:pPr marL="0" indent="0">
              <a:buNone/>
            </a:pPr>
            <a:br>
              <a:rPr lang="en-US" sz="1400" b="0" noProof="1">
                <a:solidFill>
                  <a:srgbClr val="D4D4D4"/>
                </a:solidFill>
                <a:effectLst/>
                <a:latin typeface="Consolas" panose="020B0609020204030204" pitchFamily="49" charset="0"/>
              </a:rPr>
            </a:br>
            <a:r>
              <a:rPr lang="en-US" sz="1400" b="0" noProof="1">
                <a:solidFill>
                  <a:srgbClr val="6A9955"/>
                </a:solidFill>
                <a:effectLst/>
                <a:latin typeface="Consolas" panose="020B0609020204030204" pitchFamily="49" charset="0"/>
              </a:rPr>
              <a:t># Define an AWS S3 bucket</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4EC9B0"/>
                </a:solidFill>
                <a:effectLst/>
                <a:latin typeface="Consolas" panose="020B0609020204030204" pitchFamily="49" charset="0"/>
              </a:rPr>
              <a:t>resource</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"aws_s3_bucket"</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"example"</a:t>
            </a:r>
            <a:r>
              <a:rPr lang="en-US" sz="1400" b="0" noProof="1">
                <a:solidFill>
                  <a:srgbClr val="D4D4D4"/>
                </a:solidFill>
                <a:effectLst/>
                <a:latin typeface="Consolas" panose="020B0609020204030204" pitchFamily="49" charset="0"/>
              </a:rPr>
              <a:t> {</a:t>
            </a:r>
          </a:p>
          <a:p>
            <a:pPr marL="0" indent="0">
              <a:buNone/>
            </a:pPr>
            <a:r>
              <a:rPr lang="en-US" sz="1400" b="0" noProof="1">
                <a:solidFill>
                  <a:srgbClr val="9CDCFE"/>
                </a:solidFill>
                <a:effectLst/>
                <a:latin typeface="Consolas" panose="020B0609020204030204" pitchFamily="49" charset="0"/>
              </a:rPr>
              <a:t>  bucket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"my-example-bucket"</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D4D4D4"/>
                </a:solidFill>
                <a:effectLst/>
                <a:latin typeface="Consolas" panose="020B0609020204030204" pitchFamily="49" charset="0"/>
              </a:rPr>
              <a:t>}</a:t>
            </a: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a:t>Terraform is designed to enable the provisioning and management of infrastructure resources across multiple cloud providers and on-premises environments using a declarative approach.</a:t>
            </a:r>
          </a:p>
          <a:p>
            <a:r>
              <a:rPr lang="en-US"/>
              <a:t>It simplifies resource provisioning, automates deployments, and ensures infrastructure consistency.</a:t>
            </a:r>
          </a:p>
          <a:p>
            <a:pPr marL="285750" indent="-285750">
              <a:buFont typeface="Arial" panose="020B0604020202020204" pitchFamily="34" charset="0"/>
              <a:buChar char="•"/>
            </a:pPr>
            <a:r>
              <a:rPr lang="en-US"/>
              <a:t>Multi cloud</a:t>
            </a:r>
          </a:p>
          <a:p>
            <a:pPr marL="285750" indent="-285750">
              <a:buFont typeface="Arial" panose="020B0604020202020204" pitchFamily="34" charset="0"/>
              <a:buChar char="•"/>
            </a:pPr>
            <a:r>
              <a:rPr lang="en-US"/>
              <a:t>Manages any vendor’s specific service</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a:t>Terraform</a:t>
            </a:r>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574196" cy="369332"/>
          </a:xfrm>
          <a:prstGeom prst="rect">
            <a:avLst/>
          </a:prstGeom>
          <a:noFill/>
        </p:spPr>
        <p:txBody>
          <a:bodyPr wrap="none" rtlCol="0">
            <a:spAutoFit/>
          </a:bodyPr>
          <a:lstStyle/>
          <a:p>
            <a:r>
              <a:rPr lang="en-US">
                <a:latin typeface="Consolas" panose="020B0609020204030204" pitchFamily="49" charset="0"/>
              </a:rPr>
              <a:t>HCL</a:t>
            </a:r>
          </a:p>
        </p:txBody>
      </p:sp>
    </p:spTree>
    <p:extLst>
      <p:ext uri="{BB962C8B-B14F-4D97-AF65-F5344CB8AC3E}">
        <p14:creationId xmlns:p14="http://schemas.microsoft.com/office/powerpoint/2010/main" val="1353800608"/>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a:normAutofit/>
          </a:bodyPr>
          <a:lstStyle/>
          <a:p>
            <a:pPr marL="0" indent="0">
              <a:buNone/>
            </a:pPr>
            <a:r>
              <a:rPr lang="en-US" sz="1400" b="0" noProof="1">
                <a:solidFill>
                  <a:srgbClr val="C586C0"/>
                </a:solidFill>
                <a:effectLst/>
                <a:latin typeface="Consolas" panose="020B0609020204030204" pitchFamily="49" charset="0"/>
              </a:rPr>
              <a:t>import</a:t>
            </a:r>
            <a:r>
              <a:rPr lang="en-US" sz="1400" b="0" noProof="1">
                <a:solidFill>
                  <a:srgbClr val="D4D4D4"/>
                </a:solidFill>
                <a:effectLst/>
                <a:latin typeface="Consolas" panose="020B0609020204030204" pitchFamily="49" charset="0"/>
              </a:rPr>
              <a:t> </a:t>
            </a:r>
            <a:r>
              <a:rPr lang="en-US" sz="1400" b="0" noProof="1">
                <a:solidFill>
                  <a:srgbClr val="569CD6"/>
                </a:solidFill>
                <a:effectLst/>
                <a:latin typeface="Consolas" panose="020B0609020204030204" pitchFamily="49" charset="0"/>
              </a:rPr>
              <a:t>*</a:t>
            </a:r>
            <a:r>
              <a:rPr lang="en-US" sz="1400" b="0" noProof="1">
                <a:solidFill>
                  <a:srgbClr val="D4D4D4"/>
                </a:solidFill>
                <a:effectLst/>
                <a:latin typeface="Consolas" panose="020B0609020204030204" pitchFamily="49" charset="0"/>
              </a:rPr>
              <a:t> </a:t>
            </a:r>
            <a:r>
              <a:rPr lang="en-US" sz="1400" b="0" noProof="1">
                <a:solidFill>
                  <a:srgbClr val="C586C0"/>
                </a:solidFill>
                <a:effectLst/>
                <a:latin typeface="Consolas" panose="020B0609020204030204" pitchFamily="49" charset="0"/>
              </a:rPr>
              <a:t>as</a:t>
            </a:r>
            <a:r>
              <a:rPr lang="en-US" sz="1400" b="0" noProof="1">
                <a:solidFill>
                  <a:srgbClr val="D4D4D4"/>
                </a:solidFill>
                <a:effectLst/>
                <a:latin typeface="Consolas" panose="020B0609020204030204" pitchFamily="49" charset="0"/>
              </a:rPr>
              <a:t> </a:t>
            </a:r>
            <a:r>
              <a:rPr lang="en-US" sz="1400" b="0" noProof="1">
                <a:solidFill>
                  <a:srgbClr val="9CDCFE"/>
                </a:solidFill>
                <a:effectLst/>
                <a:latin typeface="Consolas" panose="020B0609020204030204" pitchFamily="49" charset="0"/>
              </a:rPr>
              <a:t>aws</a:t>
            </a:r>
            <a:r>
              <a:rPr lang="en-US" sz="1400" b="0" noProof="1">
                <a:solidFill>
                  <a:srgbClr val="D4D4D4"/>
                </a:solidFill>
                <a:effectLst/>
                <a:latin typeface="Consolas" panose="020B0609020204030204" pitchFamily="49" charset="0"/>
              </a:rPr>
              <a:t> </a:t>
            </a:r>
            <a:r>
              <a:rPr lang="en-US" sz="1400" b="0" noProof="1">
                <a:solidFill>
                  <a:srgbClr val="C586C0"/>
                </a:solidFill>
                <a:effectLst/>
                <a:latin typeface="Consolas" panose="020B0609020204030204" pitchFamily="49" charset="0"/>
              </a:rPr>
              <a:t>from</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"@pulumi/aws"</a:t>
            </a:r>
            <a:r>
              <a:rPr lang="en-US" sz="1400" b="0" noProof="1">
                <a:solidFill>
                  <a:srgbClr val="D4D4D4"/>
                </a:solidFill>
                <a:effectLst/>
                <a:latin typeface="Consolas" panose="020B0609020204030204" pitchFamily="49" charset="0"/>
              </a:rPr>
              <a:t>;</a:t>
            </a:r>
          </a:p>
          <a:p>
            <a:pPr marL="0" indent="0">
              <a:buNone/>
            </a:pPr>
            <a:br>
              <a:rPr lang="en-US" sz="1400" b="0" noProof="1">
                <a:solidFill>
                  <a:srgbClr val="D4D4D4"/>
                </a:solidFill>
                <a:effectLst/>
                <a:latin typeface="Consolas" panose="020B0609020204030204" pitchFamily="49" charset="0"/>
              </a:rPr>
            </a:br>
            <a:r>
              <a:rPr lang="en-US" sz="1400" b="0" noProof="1">
                <a:solidFill>
                  <a:srgbClr val="569CD6"/>
                </a:solidFill>
                <a:effectLst/>
                <a:latin typeface="Consolas" panose="020B0609020204030204" pitchFamily="49" charset="0"/>
              </a:rPr>
              <a:t>const</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exampleBucket</a:t>
            </a:r>
            <a:r>
              <a:rPr lang="en-US" sz="1400" b="0" noProof="1">
                <a:solidFill>
                  <a:srgbClr val="D4D4D4"/>
                </a:solidFill>
                <a:effectLst/>
                <a:latin typeface="Consolas" panose="020B0609020204030204" pitchFamily="49" charset="0"/>
              </a:rPr>
              <a:t> = </a:t>
            </a:r>
            <a:r>
              <a:rPr lang="en-US" sz="1400" b="0" noProof="1">
                <a:solidFill>
                  <a:srgbClr val="569CD6"/>
                </a:solidFill>
                <a:effectLst/>
                <a:latin typeface="Consolas" panose="020B0609020204030204" pitchFamily="49" charset="0"/>
              </a:rPr>
              <a:t>new</a:t>
            </a:r>
            <a:r>
              <a:rPr lang="en-US" sz="1400" b="0" noProof="1">
                <a:solidFill>
                  <a:srgbClr val="D4D4D4"/>
                </a:solidFill>
                <a:effectLst/>
                <a:latin typeface="Consolas" panose="020B0609020204030204" pitchFamily="49" charset="0"/>
              </a:rPr>
              <a:t> </a:t>
            </a:r>
            <a:r>
              <a:rPr lang="en-US" sz="1400" b="0" noProof="1">
                <a:solidFill>
                  <a:srgbClr val="9CDCFE"/>
                </a:solidFill>
                <a:effectLst/>
                <a:latin typeface="Consolas" panose="020B0609020204030204" pitchFamily="49" charset="0"/>
              </a:rPr>
              <a:t>aws</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s3</a:t>
            </a:r>
            <a:r>
              <a:rPr lang="en-US" sz="1400" b="0" noProof="1">
                <a:solidFill>
                  <a:srgbClr val="D4D4D4"/>
                </a:solidFill>
                <a:effectLst/>
                <a:latin typeface="Consolas" panose="020B0609020204030204" pitchFamily="49" charset="0"/>
              </a:rPr>
              <a:t>.</a:t>
            </a:r>
            <a:r>
              <a:rPr lang="en-US" sz="1400" b="0" noProof="1">
                <a:solidFill>
                  <a:srgbClr val="DCDCAA"/>
                </a:solidFill>
                <a:effectLst/>
                <a:latin typeface="Consolas" panose="020B0609020204030204" pitchFamily="49" charset="0"/>
              </a:rPr>
              <a:t>Bucket</a:t>
            </a:r>
            <a:r>
              <a:rPr lang="en-US" sz="1400" b="0" noProof="1">
                <a:solidFill>
                  <a:srgbClr val="D4D4D4"/>
                </a:solidFill>
                <a:effectLst/>
                <a:latin typeface="Consolas" panose="020B0609020204030204" pitchFamily="49" charset="0"/>
              </a:rPr>
              <a:t>(</a:t>
            </a:r>
          </a:p>
          <a:p>
            <a:pPr marL="0" indent="0">
              <a:buNone/>
            </a:pP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"example-bucket"</a:t>
            </a:r>
            <a:r>
              <a:rPr lang="en-US" sz="1400" b="0" noProof="1">
                <a:solidFill>
                  <a:srgbClr val="D4D4D4"/>
                </a:solidFill>
                <a:effectLst/>
                <a:latin typeface="Consolas" panose="020B0609020204030204" pitchFamily="49" charset="0"/>
              </a:rPr>
              <a:t>, </a:t>
            </a:r>
          </a:p>
          <a:p>
            <a:pPr marL="0" indent="0">
              <a:buNone/>
            </a:pPr>
            <a:r>
              <a:rPr lang="en-US" sz="1400" noProof="1">
                <a:solidFill>
                  <a:srgbClr val="D4D4D4"/>
                </a:solidFill>
                <a:latin typeface="Consolas" panose="020B0609020204030204" pitchFamily="49" charset="0"/>
              </a:rPr>
              <a:t>  </a:t>
            </a:r>
            <a:r>
              <a:rPr lang="en-US" sz="1400" b="0" noProof="1">
                <a:solidFill>
                  <a:srgbClr val="D4D4D4"/>
                </a:solidFill>
                <a:effectLst/>
                <a:latin typeface="Consolas" panose="020B0609020204030204" pitchFamily="49" charset="0"/>
              </a:rPr>
              <a:t>{</a:t>
            </a:r>
          </a:p>
          <a:p>
            <a:pPr marL="0" indent="0">
              <a:buNone/>
            </a:pPr>
            <a:r>
              <a:rPr lang="en-US" sz="1400" b="0" noProof="1">
                <a:solidFill>
                  <a:srgbClr val="9CDCFE"/>
                </a:solidFill>
                <a:effectLst/>
                <a:latin typeface="Consolas" panose="020B0609020204030204" pitchFamily="49" charset="0"/>
              </a:rPr>
              <a:t>    acl:</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"private"</a:t>
            </a:r>
            <a:endParaRPr lang="en-US" sz="1400" noProof="1">
              <a:solidFill>
                <a:srgbClr val="D4D4D4"/>
              </a:solidFill>
              <a:latin typeface="Consolas" panose="020B0609020204030204" pitchFamily="49" charset="0"/>
            </a:endParaRPr>
          </a:p>
          <a:p>
            <a:pPr marL="0" indent="0">
              <a:buNone/>
            </a:pPr>
            <a:r>
              <a:rPr lang="en-US" sz="1400" b="0" noProof="1">
                <a:solidFill>
                  <a:srgbClr val="D4D4D4"/>
                </a:solidFill>
                <a:effectLst/>
                <a:latin typeface="Consolas" panose="020B0609020204030204" pitchFamily="49" charset="0"/>
              </a:rPr>
              <a:t>  }</a:t>
            </a:r>
          </a:p>
          <a:p>
            <a:pPr marL="0" indent="0">
              <a:buNone/>
            </a:pPr>
            <a:r>
              <a:rPr lang="en-US" sz="1400" b="0" noProof="1">
                <a:solidFill>
                  <a:srgbClr val="D4D4D4"/>
                </a:solidFill>
                <a:effectLst/>
                <a:latin typeface="Consolas" panose="020B0609020204030204" pitchFamily="49" charset="0"/>
              </a:rPr>
              <a:t>);</a:t>
            </a:r>
          </a:p>
          <a:p>
            <a:pPr marL="0" indent="0">
              <a:buNone/>
            </a:pPr>
            <a:br>
              <a:rPr lang="en-US" sz="1400" b="0" noProof="1">
                <a:solidFill>
                  <a:srgbClr val="D4D4D4"/>
                </a:solidFill>
                <a:effectLst/>
                <a:latin typeface="Consolas" panose="020B0609020204030204" pitchFamily="49" charset="0"/>
              </a:rPr>
            </a:br>
            <a:r>
              <a:rPr lang="en-US" sz="1400" b="0" noProof="1">
                <a:solidFill>
                  <a:srgbClr val="569CD6"/>
                </a:solidFill>
                <a:effectLst/>
                <a:latin typeface="Consolas" panose="020B0609020204030204" pitchFamily="49" charset="0"/>
              </a:rPr>
              <a:t>const</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exampleInstance</a:t>
            </a:r>
            <a:r>
              <a:rPr lang="en-US" sz="1400" b="0" noProof="1">
                <a:solidFill>
                  <a:srgbClr val="D4D4D4"/>
                </a:solidFill>
                <a:effectLst/>
                <a:latin typeface="Consolas" panose="020B0609020204030204" pitchFamily="49" charset="0"/>
              </a:rPr>
              <a:t> = </a:t>
            </a:r>
            <a:r>
              <a:rPr lang="en-US" sz="1400" b="0" noProof="1">
                <a:solidFill>
                  <a:srgbClr val="569CD6"/>
                </a:solidFill>
                <a:effectLst/>
                <a:latin typeface="Consolas" panose="020B0609020204030204" pitchFamily="49" charset="0"/>
              </a:rPr>
              <a:t>new</a:t>
            </a:r>
            <a:r>
              <a:rPr lang="en-US" sz="1400" b="0" noProof="1">
                <a:solidFill>
                  <a:srgbClr val="D4D4D4"/>
                </a:solidFill>
                <a:effectLst/>
                <a:latin typeface="Consolas" panose="020B0609020204030204" pitchFamily="49" charset="0"/>
              </a:rPr>
              <a:t> </a:t>
            </a:r>
            <a:r>
              <a:rPr lang="en-US" sz="1400" b="0" noProof="1">
                <a:solidFill>
                  <a:srgbClr val="9CDCFE"/>
                </a:solidFill>
                <a:effectLst/>
                <a:latin typeface="Consolas" panose="020B0609020204030204" pitchFamily="49" charset="0"/>
              </a:rPr>
              <a:t>aws</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ec2</a:t>
            </a:r>
            <a:r>
              <a:rPr lang="en-US" sz="1400" b="0" noProof="1">
                <a:solidFill>
                  <a:srgbClr val="D4D4D4"/>
                </a:solidFill>
                <a:effectLst/>
                <a:latin typeface="Consolas" panose="020B0609020204030204" pitchFamily="49" charset="0"/>
              </a:rPr>
              <a:t>.</a:t>
            </a:r>
            <a:r>
              <a:rPr lang="en-US" sz="1400" b="0" noProof="1">
                <a:solidFill>
                  <a:srgbClr val="DCDCAA"/>
                </a:solidFill>
                <a:effectLst/>
                <a:latin typeface="Consolas" panose="020B0609020204030204" pitchFamily="49" charset="0"/>
              </a:rPr>
              <a:t>Instance</a:t>
            </a:r>
            <a:r>
              <a:rPr lang="en-US" sz="1400" b="0" noProof="1">
                <a:solidFill>
                  <a:srgbClr val="D4D4D4"/>
                </a:solidFill>
                <a:effectLst/>
                <a:latin typeface="Consolas" panose="020B0609020204030204" pitchFamily="49" charset="0"/>
              </a:rPr>
              <a:t>(</a:t>
            </a:r>
          </a:p>
          <a:p>
            <a:pPr marL="0" indent="0">
              <a:buNone/>
            </a:pPr>
            <a:r>
              <a:rPr lang="en-US" sz="1400" noProof="1">
                <a:solidFill>
                  <a:srgbClr val="D4D4D4"/>
                </a:solidFill>
                <a:latin typeface="Consolas" panose="020B0609020204030204" pitchFamily="49" charset="0"/>
              </a:rPr>
              <a:t>  </a:t>
            </a:r>
            <a:r>
              <a:rPr lang="en-US" sz="1400" b="0" noProof="1">
                <a:solidFill>
                  <a:srgbClr val="CE9178"/>
                </a:solidFill>
                <a:effectLst/>
                <a:latin typeface="Consolas" panose="020B0609020204030204" pitchFamily="49" charset="0"/>
              </a:rPr>
              <a:t>"example-instance"</a:t>
            </a:r>
            <a:r>
              <a:rPr lang="en-US" sz="1400" b="0" noProof="1">
                <a:solidFill>
                  <a:srgbClr val="D4D4D4"/>
                </a:solidFill>
                <a:effectLst/>
                <a:latin typeface="Consolas" panose="020B0609020204030204" pitchFamily="49" charset="0"/>
              </a:rPr>
              <a:t>,</a:t>
            </a:r>
          </a:p>
          <a:p>
            <a:pPr marL="0" indent="0">
              <a:buNone/>
            </a:pPr>
            <a:r>
              <a:rPr lang="en-US" sz="1400" noProof="1">
                <a:solidFill>
                  <a:srgbClr val="D4D4D4"/>
                </a:solidFill>
                <a:latin typeface="Consolas" panose="020B0609020204030204" pitchFamily="49" charset="0"/>
              </a:rPr>
              <a:t>  </a:t>
            </a:r>
            <a:r>
              <a:rPr lang="en-US" sz="1400" b="0" noProof="1">
                <a:solidFill>
                  <a:srgbClr val="D4D4D4"/>
                </a:solidFill>
                <a:effectLst/>
                <a:latin typeface="Consolas" panose="020B0609020204030204" pitchFamily="49" charset="0"/>
              </a:rPr>
              <a:t>{</a:t>
            </a:r>
          </a:p>
          <a:p>
            <a:pPr marL="0" indent="0">
              <a:buNone/>
            </a:pPr>
            <a:r>
              <a:rPr lang="en-US" sz="1400" b="0" noProof="1">
                <a:solidFill>
                  <a:srgbClr val="9CDCFE"/>
                </a:solidFill>
                <a:effectLst/>
                <a:latin typeface="Consolas" panose="020B0609020204030204" pitchFamily="49" charset="0"/>
              </a:rPr>
              <a:t>    ami:</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"ami-0c55b159cbfafe1f0"</a:t>
            </a:r>
            <a:r>
              <a:rPr lang="en-US" sz="1400" b="0" noProof="1">
                <a:solidFill>
                  <a:srgbClr val="D4D4D4"/>
                </a:solidFill>
                <a:effectLst/>
                <a:latin typeface="Consolas" panose="020B0609020204030204" pitchFamily="49" charset="0"/>
              </a:rPr>
              <a:t>,</a:t>
            </a:r>
          </a:p>
          <a:p>
            <a:pPr marL="0" indent="0">
              <a:buNone/>
            </a:pPr>
            <a:r>
              <a:rPr lang="en-US" sz="1400" b="0" noProof="1">
                <a:solidFill>
                  <a:srgbClr val="9CDCFE"/>
                </a:solidFill>
                <a:effectLst/>
                <a:latin typeface="Consolas" panose="020B0609020204030204" pitchFamily="49" charset="0"/>
              </a:rPr>
              <a:t>    instanceType:</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"t2.micro"</a:t>
            </a:r>
            <a:r>
              <a:rPr lang="en-US" sz="1400" b="0" noProof="1">
                <a:solidFill>
                  <a:srgbClr val="D4D4D4"/>
                </a:solidFill>
                <a:effectLst/>
                <a:latin typeface="Consolas" panose="020B0609020204030204" pitchFamily="49" charset="0"/>
              </a:rPr>
              <a:t>,</a:t>
            </a:r>
          </a:p>
          <a:p>
            <a:pPr marL="0" indent="0">
              <a:buNone/>
            </a:pPr>
            <a:r>
              <a:rPr lang="en-US" sz="1400" b="0" noProof="1">
                <a:solidFill>
                  <a:srgbClr val="D4D4D4"/>
                </a:solidFill>
                <a:effectLst/>
                <a:latin typeface="Consolas" panose="020B0609020204030204" pitchFamily="49" charset="0"/>
              </a:rPr>
              <a:t>  }</a:t>
            </a:r>
          </a:p>
          <a:p>
            <a:pPr marL="0" indent="0">
              <a:buNone/>
            </a:pPr>
            <a:r>
              <a:rPr lang="en-US" sz="1400" b="0" noProof="1">
                <a:solidFill>
                  <a:srgbClr val="D4D4D4"/>
                </a:solidFill>
                <a:effectLst/>
                <a:latin typeface="Consolas" panose="020B0609020204030204" pitchFamily="49" charset="0"/>
              </a:rPr>
              <a:t>);</a:t>
            </a: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dirty="0" err="1"/>
              <a:t>Pulumi</a:t>
            </a:r>
            <a:r>
              <a:rPr lang="en-US" dirty="0"/>
              <a:t> allows users to define and manage infrastructure using code in various programming languages.</a:t>
            </a:r>
          </a:p>
          <a:p>
            <a:r>
              <a:rPr lang="en-US" dirty="0"/>
              <a:t>It provides a programmatic and multi-cloud approach to </a:t>
            </a:r>
            <a:r>
              <a:rPr lang="en-US" dirty="0" err="1"/>
              <a:t>IaC</a:t>
            </a:r>
            <a:r>
              <a:rPr lang="en-US" dirty="0"/>
              <a:t>, making it suitable for diverse infrastructure needs.</a:t>
            </a:r>
          </a:p>
          <a:p>
            <a:pPr marL="285750" indent="-285750">
              <a:buFont typeface="Arial" panose="020B0604020202020204" pitchFamily="34" charset="0"/>
              <a:buChar char="•"/>
            </a:pPr>
            <a:r>
              <a:rPr lang="en-US" dirty="0"/>
              <a:t>Multi-cloud</a:t>
            </a:r>
          </a:p>
          <a:p>
            <a:pPr marL="285750" indent="-285750">
              <a:buFont typeface="Arial" panose="020B0604020202020204" pitchFamily="34" charset="0"/>
              <a:buChar char="•"/>
            </a:pPr>
            <a:r>
              <a:rPr lang="en-US" dirty="0"/>
              <a:t>Open-source alternative to Terraform</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err="1"/>
              <a:t>Pulumi</a:t>
            </a:r>
            <a:endParaRPr lang="en-US"/>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1483098" cy="369332"/>
          </a:xfrm>
          <a:prstGeom prst="rect">
            <a:avLst/>
          </a:prstGeom>
          <a:noFill/>
        </p:spPr>
        <p:txBody>
          <a:bodyPr wrap="none" rtlCol="0">
            <a:spAutoFit/>
          </a:bodyPr>
          <a:lstStyle/>
          <a:p>
            <a:r>
              <a:rPr lang="en-US">
                <a:latin typeface="Consolas" panose="020B0609020204030204" pitchFamily="49" charset="0"/>
              </a:rPr>
              <a:t>Typescript</a:t>
            </a:r>
          </a:p>
        </p:txBody>
      </p:sp>
    </p:spTree>
    <p:extLst>
      <p:ext uri="{BB962C8B-B14F-4D97-AF65-F5344CB8AC3E}">
        <p14:creationId xmlns:p14="http://schemas.microsoft.com/office/powerpoint/2010/main" val="8301114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F8EEFD9-1225-9C0B-FCCF-E8E32BA54618}"/>
              </a:ext>
            </a:extLst>
          </p:cNvPr>
          <p:cNvSpPr>
            <a:spLocks noGrp="1"/>
          </p:cNvSpPr>
          <p:nvPr>
            <p:ph idx="1"/>
          </p:nvPr>
        </p:nvSpPr>
        <p:spPr>
          <a:solidFill>
            <a:srgbClr val="3D2683"/>
          </a:solidFill>
        </p:spPr>
        <p:txBody>
          <a:bodyPr>
            <a:normAutofit/>
          </a:bodyPr>
          <a:lstStyle/>
          <a:p>
            <a:pPr marL="0" indent="0">
              <a:buNone/>
            </a:pPr>
            <a:r>
              <a:rPr lang="en-US" sz="1400" b="0" noProof="1">
                <a:solidFill>
                  <a:srgbClr val="569CD6"/>
                </a:solidFill>
                <a:effectLst/>
                <a:latin typeface="Consolas" panose="020B0609020204030204" pitchFamily="49" charset="0"/>
              </a:rPr>
              <a:t>service</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my-service</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569CD6"/>
                </a:solidFill>
                <a:effectLst/>
                <a:latin typeface="Consolas" panose="020B0609020204030204" pitchFamily="49" charset="0"/>
              </a:rPr>
              <a:t>provider</a:t>
            </a:r>
            <a:r>
              <a:rPr lang="en-US" sz="1400" b="0" noProof="1">
                <a:solidFill>
                  <a:srgbClr val="D4D4D4"/>
                </a:solidFill>
                <a:effectLst/>
                <a:latin typeface="Consolas" panose="020B0609020204030204" pitchFamily="49" charset="0"/>
              </a:rPr>
              <a:t>:</a:t>
            </a:r>
          </a:p>
          <a:p>
            <a:pPr marL="0" indent="0">
              <a:buNone/>
            </a:pPr>
            <a:r>
              <a:rPr lang="en-US" sz="1400" b="0" noProof="1">
                <a:solidFill>
                  <a:srgbClr val="569CD6"/>
                </a:solidFill>
                <a:effectLst/>
                <a:latin typeface="Consolas" panose="020B0609020204030204" pitchFamily="49" charset="0"/>
              </a:rPr>
              <a:t>  name</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aws</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569CD6"/>
                </a:solidFill>
                <a:effectLst/>
                <a:latin typeface="Consolas" panose="020B0609020204030204" pitchFamily="49" charset="0"/>
              </a:rPr>
              <a:t>  runtime</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nodejs14.x</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569CD6"/>
                </a:solidFill>
                <a:effectLst/>
                <a:latin typeface="Consolas" panose="020B0609020204030204" pitchFamily="49" charset="0"/>
              </a:rPr>
              <a:t>functions</a:t>
            </a:r>
            <a:r>
              <a:rPr lang="en-US" sz="1400" b="0" noProof="1">
                <a:solidFill>
                  <a:srgbClr val="D4D4D4"/>
                </a:solidFill>
                <a:effectLst/>
                <a:latin typeface="Consolas" panose="020B0609020204030204" pitchFamily="49" charset="0"/>
              </a:rPr>
              <a:t>:</a:t>
            </a:r>
          </a:p>
          <a:p>
            <a:pPr marL="0" indent="0">
              <a:buNone/>
            </a:pPr>
            <a:r>
              <a:rPr lang="en-US" sz="1400" b="0" noProof="1">
                <a:solidFill>
                  <a:srgbClr val="569CD6"/>
                </a:solidFill>
                <a:effectLst/>
                <a:latin typeface="Consolas" panose="020B0609020204030204" pitchFamily="49" charset="0"/>
              </a:rPr>
              <a:t>  hello</a:t>
            </a:r>
            <a:r>
              <a:rPr lang="en-US" sz="1400" b="0" noProof="1">
                <a:solidFill>
                  <a:srgbClr val="D4D4D4"/>
                </a:solidFill>
                <a:effectLst/>
                <a:latin typeface="Consolas" panose="020B0609020204030204" pitchFamily="49" charset="0"/>
              </a:rPr>
              <a:t>:</a:t>
            </a:r>
          </a:p>
          <a:p>
            <a:pPr marL="0" indent="0">
              <a:buNone/>
            </a:pPr>
            <a:r>
              <a:rPr lang="en-US" sz="1400" b="0" noProof="1">
                <a:solidFill>
                  <a:srgbClr val="569CD6"/>
                </a:solidFill>
                <a:effectLst/>
                <a:latin typeface="Consolas" panose="020B0609020204030204" pitchFamily="49" charset="0"/>
              </a:rPr>
              <a:t>    handler</a:t>
            </a:r>
            <a:r>
              <a:rPr lang="en-US" sz="1400" b="0" noProof="1">
                <a:solidFill>
                  <a:srgbClr val="D4D4D4"/>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handler.hello</a:t>
            </a:r>
            <a:endParaRPr lang="en-US" sz="1400" b="0" noProof="1">
              <a:solidFill>
                <a:srgbClr val="D4D4D4"/>
              </a:solidFill>
              <a:effectLst/>
              <a:latin typeface="Consolas" panose="020B0609020204030204" pitchFamily="49" charset="0"/>
            </a:endParaRPr>
          </a:p>
        </p:txBody>
      </p:sp>
      <p:sp>
        <p:nvSpPr>
          <p:cNvPr id="3" name="Espace réservé du texte 2">
            <a:extLst>
              <a:ext uri="{FF2B5EF4-FFF2-40B4-BE49-F238E27FC236}">
                <a16:creationId xmlns:a16="http://schemas.microsoft.com/office/drawing/2014/main" id="{59314E6E-E365-A483-3080-DBEF529FE2C7}"/>
              </a:ext>
            </a:extLst>
          </p:cNvPr>
          <p:cNvSpPr>
            <a:spLocks noGrp="1"/>
          </p:cNvSpPr>
          <p:nvPr>
            <p:ph type="body" sz="half" idx="2"/>
          </p:nvPr>
        </p:nvSpPr>
        <p:spPr/>
        <p:txBody>
          <a:bodyPr/>
          <a:lstStyle/>
          <a:p>
            <a:r>
              <a:rPr lang="en-US"/>
              <a:t>The Serverless Framework simplifies the deployment and management of serverless applications.</a:t>
            </a:r>
          </a:p>
          <a:p>
            <a:r>
              <a:rPr lang="en-US"/>
              <a:t>Using a declarative </a:t>
            </a:r>
            <a:r>
              <a:rPr lang="en-US" err="1"/>
              <a:t>serverless.yml</a:t>
            </a:r>
            <a:r>
              <a:rPr lang="en-US"/>
              <a:t> configuration file, it streamlines the process of defining serverless functions, APIs, and associated resources.</a:t>
            </a:r>
          </a:p>
          <a:p>
            <a:r>
              <a:rPr lang="en-US"/>
              <a:t>Its primary target is AWS, but other cloud providers are supported to some extent.</a:t>
            </a:r>
          </a:p>
          <a:p>
            <a:pPr marL="285750" indent="-285750">
              <a:buFont typeface="Arial" panose="020B0604020202020204" pitchFamily="34" charset="0"/>
              <a:buChar char="•"/>
            </a:pPr>
            <a:r>
              <a:rPr lang="en-US"/>
              <a:t>Serverless applications</a:t>
            </a:r>
          </a:p>
        </p:txBody>
      </p:sp>
      <p:sp>
        <p:nvSpPr>
          <p:cNvPr id="4" name="Espace réservé du texte 3">
            <a:extLst>
              <a:ext uri="{FF2B5EF4-FFF2-40B4-BE49-F238E27FC236}">
                <a16:creationId xmlns:a16="http://schemas.microsoft.com/office/drawing/2014/main" id="{9825BAE4-B02F-9CB7-6F42-6663A9F69D57}"/>
              </a:ext>
            </a:extLst>
          </p:cNvPr>
          <p:cNvSpPr>
            <a:spLocks noGrp="1"/>
          </p:cNvSpPr>
          <p:nvPr>
            <p:ph type="body" sz="quarter" idx="14"/>
          </p:nvPr>
        </p:nvSpPr>
        <p:spPr/>
        <p:txBody>
          <a:bodyPr/>
          <a:lstStyle/>
          <a:p>
            <a:r>
              <a:rPr lang="en-US" dirty="0"/>
              <a:t>4. Technology overview</a:t>
            </a:r>
          </a:p>
        </p:txBody>
      </p:sp>
      <p:sp>
        <p:nvSpPr>
          <p:cNvPr id="5" name="Espace réservé du texte 4">
            <a:extLst>
              <a:ext uri="{FF2B5EF4-FFF2-40B4-BE49-F238E27FC236}">
                <a16:creationId xmlns:a16="http://schemas.microsoft.com/office/drawing/2014/main" id="{E7D05FFC-F082-960F-2062-A99D409E3B9E}"/>
              </a:ext>
            </a:extLst>
          </p:cNvPr>
          <p:cNvSpPr>
            <a:spLocks noGrp="1"/>
          </p:cNvSpPr>
          <p:nvPr>
            <p:ph type="body" sz="quarter" idx="15"/>
          </p:nvPr>
        </p:nvSpPr>
        <p:spPr/>
        <p:txBody>
          <a:bodyPr/>
          <a:lstStyle/>
          <a:p>
            <a:r>
              <a:rPr lang="en-US"/>
              <a:t>Serverless Framework</a:t>
            </a:r>
          </a:p>
        </p:txBody>
      </p:sp>
      <p:sp>
        <p:nvSpPr>
          <p:cNvPr id="6" name="ZoneTexte 5">
            <a:extLst>
              <a:ext uri="{FF2B5EF4-FFF2-40B4-BE49-F238E27FC236}">
                <a16:creationId xmlns:a16="http://schemas.microsoft.com/office/drawing/2014/main" id="{4D0277EA-7D75-3298-A0BC-C0CC0E9660A9}"/>
              </a:ext>
            </a:extLst>
          </p:cNvPr>
          <p:cNvSpPr txBox="1"/>
          <p:nvPr/>
        </p:nvSpPr>
        <p:spPr>
          <a:xfrm>
            <a:off x="5183188" y="384352"/>
            <a:ext cx="704039" cy="369332"/>
          </a:xfrm>
          <a:prstGeom prst="rect">
            <a:avLst/>
          </a:prstGeom>
          <a:noFill/>
        </p:spPr>
        <p:txBody>
          <a:bodyPr wrap="none" rtlCol="0">
            <a:spAutoFit/>
          </a:bodyPr>
          <a:lstStyle/>
          <a:p>
            <a:r>
              <a:rPr lang="en-US">
                <a:latin typeface="Consolas" panose="020B0609020204030204" pitchFamily="49" charset="0"/>
              </a:rPr>
              <a:t>YAML</a:t>
            </a:r>
          </a:p>
        </p:txBody>
      </p:sp>
    </p:spTree>
    <p:extLst>
      <p:ext uri="{BB962C8B-B14F-4D97-AF65-F5344CB8AC3E}">
        <p14:creationId xmlns:p14="http://schemas.microsoft.com/office/powerpoint/2010/main" val="14697734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CD917FE-5992-6BE9-8621-44D97D7369BC}"/>
              </a:ext>
            </a:extLst>
          </p:cNvPr>
          <p:cNvSpPr>
            <a:spLocks noGrp="1"/>
          </p:cNvSpPr>
          <p:nvPr>
            <p:ph type="body" sz="quarter" idx="10"/>
          </p:nvPr>
        </p:nvSpPr>
        <p:spPr/>
        <p:txBody>
          <a:bodyPr/>
          <a:lstStyle/>
          <a:p>
            <a:pPr marL="0" indent="0">
              <a:buNone/>
            </a:pPr>
            <a:r>
              <a:rPr lang="en-US" dirty="0"/>
              <a:t>4. Technology overview</a:t>
            </a:r>
          </a:p>
        </p:txBody>
      </p:sp>
    </p:spTree>
    <p:extLst>
      <p:ext uri="{BB962C8B-B14F-4D97-AF65-F5344CB8AC3E}">
        <p14:creationId xmlns:p14="http://schemas.microsoft.com/office/powerpoint/2010/main" val="22653398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6839F16-08EC-C51F-945E-4293E5C0268A}"/>
              </a:ext>
            </a:extLst>
          </p:cNvPr>
          <p:cNvSpPr>
            <a:spLocks noGrp="1"/>
          </p:cNvSpPr>
          <p:nvPr>
            <p:ph type="body" sz="quarter" idx="10"/>
          </p:nvPr>
        </p:nvSpPr>
        <p:spPr/>
        <p:txBody>
          <a:bodyPr>
            <a:normAutofit/>
          </a:bodyPr>
          <a:lstStyle/>
          <a:p>
            <a:r>
              <a:rPr lang="en-US"/>
              <a:t>5. Terraform concepts</a:t>
            </a:r>
          </a:p>
        </p:txBody>
      </p:sp>
    </p:spTree>
    <p:extLst>
      <p:ext uri="{BB962C8B-B14F-4D97-AF65-F5344CB8AC3E}">
        <p14:creationId xmlns:p14="http://schemas.microsoft.com/office/powerpoint/2010/main" val="34725087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sz="half" idx="1"/>
          </p:nvPr>
        </p:nvSpPr>
        <p:spPr/>
        <p:txBody>
          <a:bodyPr/>
          <a:lstStyle/>
          <a:p>
            <a:r>
              <a:rPr lang="en-US"/>
              <a:t>Developed by </a:t>
            </a:r>
            <a:r>
              <a:rPr lang="en-US" err="1"/>
              <a:t>HashiCorp</a:t>
            </a:r>
            <a:endParaRPr lang="en-US"/>
          </a:p>
          <a:p>
            <a:r>
              <a:rPr lang="en-US"/>
              <a:t>Open source</a:t>
            </a:r>
          </a:p>
          <a:p>
            <a:r>
              <a:rPr lang="en-US"/>
              <a:t>Multi cloud support</a:t>
            </a:r>
          </a:p>
          <a:p>
            <a:r>
              <a:rPr lang="en-US"/>
              <a:t>Declarative infrastructure management</a:t>
            </a:r>
          </a:p>
          <a:p>
            <a:endParaRPr lang="en-US"/>
          </a:p>
        </p:txBody>
      </p:sp>
      <p:sp>
        <p:nvSpPr>
          <p:cNvPr id="2" name="Espace réservé du contenu 1">
            <a:extLst>
              <a:ext uri="{FF2B5EF4-FFF2-40B4-BE49-F238E27FC236}">
                <a16:creationId xmlns:a16="http://schemas.microsoft.com/office/drawing/2014/main" id="{4E986C7D-9FB7-A5F6-40BF-C0D974F8CDBA}"/>
              </a:ext>
            </a:extLst>
          </p:cNvPr>
          <p:cNvSpPr>
            <a:spLocks noGrp="1"/>
          </p:cNvSpPr>
          <p:nvPr>
            <p:ph sz="half" idx="2"/>
          </p:nvPr>
        </p:nvSpPr>
        <p:spPr/>
        <p:txBody>
          <a:bodyPr/>
          <a:lstStyle/>
          <a:p>
            <a:pPr marL="0" indent="0">
              <a:buNone/>
            </a:pPr>
            <a:r>
              <a:rPr lang="en-US" b="0" i="1">
                <a:solidFill>
                  <a:srgbClr val="3B3D45"/>
                </a:solidFill>
                <a:effectLst/>
                <a:latin typeface="-apple-system"/>
              </a:rPr>
              <a:t>Terraform is an infrastructure as code tool that lets you build, change, and version infrastructure safely and efficiently. This includes low-level components like compute instances, storage, and networking; and high-level components like DNS entries and SaaS features.</a:t>
            </a:r>
            <a:endParaRPr lang="en-US" i="1"/>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Overview</a:t>
            </a:r>
          </a:p>
        </p:txBody>
      </p:sp>
    </p:spTree>
    <p:extLst>
      <p:ext uri="{BB962C8B-B14F-4D97-AF65-F5344CB8AC3E}">
        <p14:creationId xmlns:p14="http://schemas.microsoft.com/office/powerpoint/2010/main" val="22921669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006FF6FA-59DA-05D3-1D7A-DA1AE50E17AB}"/>
              </a:ext>
            </a:extLst>
          </p:cNvPr>
          <p:cNvSpPr>
            <a:spLocks noGrp="1"/>
          </p:cNvSpPr>
          <p:nvPr>
            <p:ph idx="1"/>
          </p:nvPr>
        </p:nvSpPr>
        <p:spPr/>
        <p:txBody>
          <a:bodyPr>
            <a:normAutofit/>
          </a:bodyPr>
          <a:lstStyle/>
          <a:p>
            <a:pPr marL="0" indent="0">
              <a:buNone/>
            </a:pPr>
            <a:r>
              <a:rPr lang="en-US"/>
              <a:t>Terraform can manage </a:t>
            </a:r>
            <a:r>
              <a:rPr lang="en-US" i="1"/>
              <a:t>Resources</a:t>
            </a:r>
            <a:r>
              <a:rPr lang="en-US"/>
              <a:t> or query </a:t>
            </a:r>
            <a:r>
              <a:rPr lang="en-US" i="1"/>
              <a:t>Data Sources</a:t>
            </a:r>
            <a:r>
              <a:rPr lang="en-US"/>
              <a:t> from different </a:t>
            </a:r>
            <a:r>
              <a:rPr lang="en-US" b="1"/>
              <a:t>Providers</a:t>
            </a:r>
            <a:r>
              <a:rPr lang="en-US"/>
              <a:t>.</a:t>
            </a:r>
          </a:p>
          <a:p>
            <a:pPr marL="0" indent="0">
              <a:buNone/>
            </a:pPr>
            <a:r>
              <a:rPr lang="en-US"/>
              <a:t>Providers are accessed through plugins that facilitate interactions with specific cloud or infrastructure platforms</a:t>
            </a:r>
          </a:p>
          <a:p>
            <a:pPr marL="0" indent="0">
              <a:buNone/>
            </a:pPr>
            <a:r>
              <a:rPr lang="en-US"/>
              <a:t>These can be:</a:t>
            </a:r>
          </a:p>
          <a:p>
            <a:r>
              <a:rPr lang="en-US"/>
              <a:t>General Services Providers: AWS, Azure, Google Cloud</a:t>
            </a:r>
          </a:p>
          <a:p>
            <a:r>
              <a:rPr lang="en-US"/>
              <a:t>Service-specific Providers: </a:t>
            </a:r>
            <a:r>
              <a:rPr lang="en-US" err="1"/>
              <a:t>MongoDb</a:t>
            </a:r>
            <a:r>
              <a:rPr lang="en-US"/>
              <a:t> Atlas, GitHub, Datadog</a:t>
            </a:r>
          </a:p>
          <a:p>
            <a:r>
              <a:rPr lang="en-US"/>
              <a:t>Technology-specific Providers: Docker, Kubernetes, Redis</a:t>
            </a:r>
          </a:p>
        </p:txBody>
      </p:sp>
      <p:sp>
        <p:nvSpPr>
          <p:cNvPr id="3" name="Espace réservé du texte 2">
            <a:extLst>
              <a:ext uri="{FF2B5EF4-FFF2-40B4-BE49-F238E27FC236}">
                <a16:creationId xmlns:a16="http://schemas.microsoft.com/office/drawing/2014/main" id="{69381D8A-DB91-C09C-773E-F7CB058D9975}"/>
              </a:ext>
            </a:extLst>
          </p:cNvPr>
          <p:cNvSpPr>
            <a:spLocks noGrp="1"/>
          </p:cNvSpPr>
          <p:nvPr>
            <p:ph type="body" sz="quarter" idx="14"/>
          </p:nvPr>
        </p:nvSpPr>
        <p:spPr/>
        <p:txBody>
          <a:bodyPr/>
          <a:lstStyle/>
          <a:p>
            <a:r>
              <a:rPr lang="en-US"/>
              <a:t>5. Terraform concepts</a:t>
            </a:r>
          </a:p>
        </p:txBody>
      </p:sp>
      <p:sp>
        <p:nvSpPr>
          <p:cNvPr id="4" name="Espace réservé du texte 3">
            <a:extLst>
              <a:ext uri="{FF2B5EF4-FFF2-40B4-BE49-F238E27FC236}">
                <a16:creationId xmlns:a16="http://schemas.microsoft.com/office/drawing/2014/main" id="{6D8118FB-09AB-C4CC-F0C6-8E50CD427D56}"/>
              </a:ext>
            </a:extLst>
          </p:cNvPr>
          <p:cNvSpPr>
            <a:spLocks noGrp="1"/>
          </p:cNvSpPr>
          <p:nvPr>
            <p:ph type="body" sz="quarter" idx="15"/>
          </p:nvPr>
        </p:nvSpPr>
        <p:spPr/>
        <p:txBody>
          <a:bodyPr/>
          <a:lstStyle/>
          <a:p>
            <a:r>
              <a:rPr lang="en-US"/>
              <a:t>Providers</a:t>
            </a:r>
          </a:p>
        </p:txBody>
      </p:sp>
    </p:spTree>
    <p:extLst>
      <p:ext uri="{BB962C8B-B14F-4D97-AF65-F5344CB8AC3E}">
        <p14:creationId xmlns:p14="http://schemas.microsoft.com/office/powerpoint/2010/main" val="2910928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pPr marL="0" indent="0">
              <a:buNone/>
            </a:pPr>
            <a:r>
              <a:rPr lang="en-US"/>
              <a:t>Resources are the fundamental building blocks of infrastructure in Terraform</a:t>
            </a:r>
          </a:p>
          <a:p>
            <a:r>
              <a:rPr lang="en-US"/>
              <a:t>Compute resources, Virtual machines</a:t>
            </a:r>
          </a:p>
          <a:p>
            <a:r>
              <a:rPr lang="en-US"/>
              <a:t>Networking, VPC (Virtual private cloud), DNS</a:t>
            </a:r>
          </a:p>
          <a:p>
            <a:r>
              <a:rPr lang="en-US"/>
              <a:t>Databases, Storage</a:t>
            </a:r>
          </a:p>
          <a:p>
            <a:r>
              <a:rPr lang="en-US"/>
              <a:t>Monitoring</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Resources</a:t>
            </a:r>
          </a:p>
        </p:txBody>
      </p:sp>
    </p:spTree>
    <p:extLst>
      <p:ext uri="{BB962C8B-B14F-4D97-AF65-F5344CB8AC3E}">
        <p14:creationId xmlns:p14="http://schemas.microsoft.com/office/powerpoint/2010/main" val="18674879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pPr marL="0" indent="0">
              <a:buNone/>
            </a:pPr>
            <a:r>
              <a:rPr lang="en-US"/>
              <a:t>In addition to managing resources, Terraform provides a powerful feature known as Data Sources.</a:t>
            </a:r>
          </a:p>
          <a:p>
            <a:pPr marL="0" indent="0">
              <a:buNone/>
            </a:pPr>
            <a:r>
              <a:rPr lang="en-US"/>
              <a:t>Data Sources enable Terraform to query and retrieve information from existing infrastructure components or external systems.</a:t>
            </a:r>
          </a:p>
          <a:p>
            <a:pPr marL="0" indent="0">
              <a:buNone/>
            </a:pPr>
            <a:r>
              <a:rPr lang="en-US"/>
              <a:t>Data sources are primarily used for:</a:t>
            </a:r>
          </a:p>
          <a:p>
            <a:r>
              <a:rPr lang="en-US"/>
              <a:t>Data Population</a:t>
            </a:r>
          </a:p>
          <a:p>
            <a:r>
              <a:rPr lang="en-US"/>
              <a:t>Dynamic Configuration</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Data Sources</a:t>
            </a:r>
          </a:p>
        </p:txBody>
      </p:sp>
    </p:spTree>
    <p:extLst>
      <p:ext uri="{BB962C8B-B14F-4D97-AF65-F5344CB8AC3E}">
        <p14:creationId xmlns:p14="http://schemas.microsoft.com/office/powerpoint/2010/main" val="23731456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Workflow</a:t>
            </a:r>
          </a:p>
        </p:txBody>
      </p:sp>
      <p:sp>
        <p:nvSpPr>
          <p:cNvPr id="10" name="Rectangle : coins arrondis 9">
            <a:extLst>
              <a:ext uri="{FF2B5EF4-FFF2-40B4-BE49-F238E27FC236}">
                <a16:creationId xmlns:a16="http://schemas.microsoft.com/office/drawing/2014/main" id="{F0739223-B0F2-93A2-B998-062C8EC668D4}"/>
              </a:ext>
            </a:extLst>
          </p:cNvPr>
          <p:cNvSpPr/>
          <p:nvPr/>
        </p:nvSpPr>
        <p:spPr>
          <a:xfrm>
            <a:off x="1398374" y="2801493"/>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init</a:t>
            </a:r>
            <a:endParaRPr lang="en-US"/>
          </a:p>
        </p:txBody>
      </p:sp>
      <p:sp>
        <p:nvSpPr>
          <p:cNvPr id="11" name="Rectangle : coins arrondis 10">
            <a:extLst>
              <a:ext uri="{FF2B5EF4-FFF2-40B4-BE49-F238E27FC236}">
                <a16:creationId xmlns:a16="http://schemas.microsoft.com/office/drawing/2014/main" id="{A572A57B-33FD-7C35-C12E-62F7CC4D1776}"/>
              </a:ext>
            </a:extLst>
          </p:cNvPr>
          <p:cNvSpPr/>
          <p:nvPr/>
        </p:nvSpPr>
        <p:spPr>
          <a:xfrm>
            <a:off x="3626450" y="4034687"/>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plan</a:t>
            </a:r>
          </a:p>
        </p:txBody>
      </p:sp>
      <p:sp>
        <p:nvSpPr>
          <p:cNvPr id="12" name="Rectangle : coins arrondis 11">
            <a:extLst>
              <a:ext uri="{FF2B5EF4-FFF2-40B4-BE49-F238E27FC236}">
                <a16:creationId xmlns:a16="http://schemas.microsoft.com/office/drawing/2014/main" id="{F15FA9AE-4B52-A8E9-A727-35F018E1F0E2}"/>
              </a:ext>
            </a:extLst>
          </p:cNvPr>
          <p:cNvSpPr/>
          <p:nvPr/>
        </p:nvSpPr>
        <p:spPr>
          <a:xfrm>
            <a:off x="7930736" y="3992892"/>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apply</a:t>
            </a:r>
          </a:p>
        </p:txBody>
      </p:sp>
      <p:sp>
        <p:nvSpPr>
          <p:cNvPr id="13" name="Rectangle : coins arrondis 12">
            <a:extLst>
              <a:ext uri="{FF2B5EF4-FFF2-40B4-BE49-F238E27FC236}">
                <a16:creationId xmlns:a16="http://schemas.microsoft.com/office/drawing/2014/main" id="{3818ABD5-156F-1F32-3C5E-2130FA6B53AA}"/>
              </a:ext>
            </a:extLst>
          </p:cNvPr>
          <p:cNvSpPr/>
          <p:nvPr/>
        </p:nvSpPr>
        <p:spPr>
          <a:xfrm>
            <a:off x="9936669" y="5341744"/>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destroy</a:t>
            </a:r>
          </a:p>
        </p:txBody>
      </p:sp>
      <p:cxnSp>
        <p:nvCxnSpPr>
          <p:cNvPr id="24" name="Connecteur en arc 23">
            <a:extLst>
              <a:ext uri="{FF2B5EF4-FFF2-40B4-BE49-F238E27FC236}">
                <a16:creationId xmlns:a16="http://schemas.microsoft.com/office/drawing/2014/main" id="{16CF29C6-A39C-4A77-3044-BC2D0BFE9458}"/>
              </a:ext>
            </a:extLst>
          </p:cNvPr>
          <p:cNvCxnSpPr>
            <a:stCxn id="11" idx="0"/>
            <a:endCxn id="12" idx="0"/>
          </p:cNvCxnSpPr>
          <p:nvPr/>
        </p:nvCxnSpPr>
        <p:spPr>
          <a:xfrm rot="5400000" flipH="1" flipV="1">
            <a:off x="6513834" y="1861647"/>
            <a:ext cx="41795" cy="4304286"/>
          </a:xfrm>
          <a:prstGeom prst="curvedConnector3">
            <a:avLst>
              <a:gd name="adj1" fmla="val 3700290"/>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en arc 24">
            <a:extLst>
              <a:ext uri="{FF2B5EF4-FFF2-40B4-BE49-F238E27FC236}">
                <a16:creationId xmlns:a16="http://schemas.microsoft.com/office/drawing/2014/main" id="{103B824D-C53D-5612-ACCB-C8520CE2826E}"/>
              </a:ext>
            </a:extLst>
          </p:cNvPr>
          <p:cNvCxnSpPr>
            <a:cxnSpLocks/>
            <a:stCxn id="12" idx="2"/>
            <a:endCxn id="11" idx="2"/>
          </p:cNvCxnSpPr>
          <p:nvPr/>
        </p:nvCxnSpPr>
        <p:spPr>
          <a:xfrm rot="5400000">
            <a:off x="6513834" y="2524838"/>
            <a:ext cx="41795" cy="4304286"/>
          </a:xfrm>
          <a:prstGeom prst="curvedConnector3">
            <a:avLst>
              <a:gd name="adj1" fmla="val 3700290"/>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 coins arrondis 14">
            <a:extLst>
              <a:ext uri="{FF2B5EF4-FFF2-40B4-BE49-F238E27FC236}">
                <a16:creationId xmlns:a16="http://schemas.microsoft.com/office/drawing/2014/main" id="{7F89D484-7715-EB70-9818-EE76D9777AAA}"/>
              </a:ext>
            </a:extLst>
          </p:cNvPr>
          <p:cNvSpPr/>
          <p:nvPr/>
        </p:nvSpPr>
        <p:spPr>
          <a:xfrm>
            <a:off x="5778593" y="3661296"/>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3D2683"/>
                </a:solidFill>
              </a:rPr>
              <a:t>state management</a:t>
            </a:r>
          </a:p>
        </p:txBody>
      </p:sp>
      <p:sp>
        <p:nvSpPr>
          <p:cNvPr id="17" name="Rectangle : coins arrondis 16">
            <a:extLst>
              <a:ext uri="{FF2B5EF4-FFF2-40B4-BE49-F238E27FC236}">
                <a16:creationId xmlns:a16="http://schemas.microsoft.com/office/drawing/2014/main" id="{B2F44D08-2FB5-0A15-FED0-F76CE03793A6}"/>
              </a:ext>
            </a:extLst>
          </p:cNvPr>
          <p:cNvSpPr/>
          <p:nvPr/>
        </p:nvSpPr>
        <p:spPr>
          <a:xfrm>
            <a:off x="5778593" y="4466568"/>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3D2683"/>
                </a:solidFill>
              </a:rPr>
              <a:t>execution plan</a:t>
            </a:r>
          </a:p>
        </p:txBody>
      </p:sp>
      <p:sp>
        <p:nvSpPr>
          <p:cNvPr id="33" name="Rectangle : coins arrondis 32">
            <a:extLst>
              <a:ext uri="{FF2B5EF4-FFF2-40B4-BE49-F238E27FC236}">
                <a16:creationId xmlns:a16="http://schemas.microsoft.com/office/drawing/2014/main" id="{255F2507-5B18-9465-BE08-8EA59EEBC2AE}"/>
              </a:ext>
            </a:extLst>
          </p:cNvPr>
          <p:cNvSpPr/>
          <p:nvPr/>
        </p:nvSpPr>
        <p:spPr>
          <a:xfrm>
            <a:off x="2367224" y="2305720"/>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3D2683"/>
                </a:solidFill>
              </a:rPr>
              <a:t>install providers</a:t>
            </a:r>
          </a:p>
        </p:txBody>
      </p:sp>
      <p:cxnSp>
        <p:nvCxnSpPr>
          <p:cNvPr id="40" name="Connecteur en arc 39">
            <a:extLst>
              <a:ext uri="{FF2B5EF4-FFF2-40B4-BE49-F238E27FC236}">
                <a16:creationId xmlns:a16="http://schemas.microsoft.com/office/drawing/2014/main" id="{02E6E0C3-F879-8CB0-9ECE-C12D62033DCD}"/>
              </a:ext>
            </a:extLst>
          </p:cNvPr>
          <p:cNvCxnSpPr>
            <a:cxnSpLocks/>
            <a:stCxn id="10" idx="2"/>
            <a:endCxn id="11" idx="1"/>
          </p:cNvCxnSpPr>
          <p:nvPr/>
        </p:nvCxnSpPr>
        <p:spPr>
          <a:xfrm rot="16200000" flipH="1">
            <a:off x="2439682" y="3179515"/>
            <a:ext cx="901598" cy="1471938"/>
          </a:xfrm>
          <a:prstGeom prst="curvedConnector2">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en arc 44">
            <a:extLst>
              <a:ext uri="{FF2B5EF4-FFF2-40B4-BE49-F238E27FC236}">
                <a16:creationId xmlns:a16="http://schemas.microsoft.com/office/drawing/2014/main" id="{90EE50DF-EF50-976D-927B-4BFD0E6E3D38}"/>
              </a:ext>
            </a:extLst>
          </p:cNvPr>
          <p:cNvCxnSpPr>
            <a:cxnSpLocks/>
            <a:stCxn id="12" idx="3"/>
            <a:endCxn id="13" idx="0"/>
          </p:cNvCxnSpPr>
          <p:nvPr/>
        </p:nvCxnSpPr>
        <p:spPr>
          <a:xfrm>
            <a:off x="9443012" y="4324488"/>
            <a:ext cx="1249795" cy="1017256"/>
          </a:xfrm>
          <a:prstGeom prst="curvedConnector2">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 coins arrondis 49">
            <a:extLst>
              <a:ext uri="{FF2B5EF4-FFF2-40B4-BE49-F238E27FC236}">
                <a16:creationId xmlns:a16="http://schemas.microsoft.com/office/drawing/2014/main" id="{FFBC2035-C90F-D642-2DE7-97EDC008A128}"/>
              </a:ext>
            </a:extLst>
          </p:cNvPr>
          <p:cNvSpPr/>
          <p:nvPr/>
        </p:nvSpPr>
        <p:spPr>
          <a:xfrm>
            <a:off x="9443012" y="5883746"/>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3D2683"/>
                </a:solidFill>
              </a:rPr>
              <a:t>free resources</a:t>
            </a:r>
          </a:p>
        </p:txBody>
      </p:sp>
    </p:spTree>
    <p:extLst>
      <p:ext uri="{BB962C8B-B14F-4D97-AF65-F5344CB8AC3E}">
        <p14:creationId xmlns:p14="http://schemas.microsoft.com/office/powerpoint/2010/main" val="19101788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contenu 16">
            <a:extLst>
              <a:ext uri="{FF2B5EF4-FFF2-40B4-BE49-F238E27FC236}">
                <a16:creationId xmlns:a16="http://schemas.microsoft.com/office/drawing/2014/main" id="{EEF44D4A-C4A4-A61F-A868-8818853EF82C}"/>
              </a:ext>
            </a:extLst>
          </p:cNvPr>
          <p:cNvSpPr>
            <a:spLocks noGrp="1"/>
          </p:cNvSpPr>
          <p:nvPr>
            <p:ph sz="half" idx="1"/>
          </p:nvPr>
        </p:nvSpPr>
        <p:spPr/>
        <p:txBody>
          <a:bodyPr/>
          <a:lstStyle/>
          <a:p>
            <a:pPr marL="0" indent="0">
              <a:buNone/>
            </a:pPr>
            <a:r>
              <a:rPr lang="en-US"/>
              <a:t>Required to initialize a Terraform project.</a:t>
            </a:r>
          </a:p>
          <a:p>
            <a:pPr marL="0" indent="0">
              <a:buNone/>
            </a:pPr>
            <a:r>
              <a:rPr lang="en-US"/>
              <a:t>It installs providers plugins required by the configuration.</a:t>
            </a:r>
          </a:p>
          <a:p>
            <a:r>
              <a:rPr lang="en-US"/>
              <a:t>To be executed once when you start working with a new project,</a:t>
            </a:r>
          </a:p>
          <a:p>
            <a:r>
              <a:rPr lang="en-US"/>
              <a:t>Or when provider configurations are updated.</a:t>
            </a:r>
          </a:p>
        </p:txBody>
      </p:sp>
      <p:sp>
        <p:nvSpPr>
          <p:cNvPr id="19" name="Espace réservé du texte 18">
            <a:extLst>
              <a:ext uri="{FF2B5EF4-FFF2-40B4-BE49-F238E27FC236}">
                <a16:creationId xmlns:a16="http://schemas.microsoft.com/office/drawing/2014/main" id="{1CA1C816-4F9A-CF1F-8BAC-D9509D3C093E}"/>
              </a:ext>
            </a:extLst>
          </p:cNvPr>
          <p:cNvSpPr>
            <a:spLocks noGrp="1"/>
          </p:cNvSpPr>
          <p:nvPr>
            <p:ph type="body" sz="quarter" idx="14"/>
          </p:nvPr>
        </p:nvSpPr>
        <p:spPr/>
        <p:txBody>
          <a:bodyPr/>
          <a:lstStyle/>
          <a:p>
            <a:r>
              <a:rPr lang="en-US"/>
              <a:t>5. Terraform concepts</a:t>
            </a:r>
          </a:p>
        </p:txBody>
      </p:sp>
      <p:sp>
        <p:nvSpPr>
          <p:cNvPr id="20" name="Espace réservé du texte 19">
            <a:extLst>
              <a:ext uri="{FF2B5EF4-FFF2-40B4-BE49-F238E27FC236}">
                <a16:creationId xmlns:a16="http://schemas.microsoft.com/office/drawing/2014/main" id="{647DE159-F44A-509E-E118-17E74A45AA77}"/>
              </a:ext>
            </a:extLst>
          </p:cNvPr>
          <p:cNvSpPr>
            <a:spLocks noGrp="1"/>
          </p:cNvSpPr>
          <p:nvPr>
            <p:ph type="body" sz="quarter" idx="15"/>
          </p:nvPr>
        </p:nvSpPr>
        <p:spPr>
          <a:xfrm>
            <a:off x="838200" y="1352782"/>
            <a:ext cx="10441597" cy="433965"/>
          </a:xfrm>
        </p:spPr>
        <p:txBody>
          <a:bodyPr/>
          <a:lstStyle/>
          <a:p>
            <a:r>
              <a:rPr lang="en-US"/>
              <a:t>Workflow: </a:t>
            </a:r>
            <a:r>
              <a:rPr lang="en-US" b="0">
                <a:latin typeface="Consolas" panose="020B0609020204030204" pitchFamily="49" charset="0"/>
                <a:cs typeface="Consolas" panose="020B0609020204030204" pitchFamily="49" charset="0"/>
              </a:rPr>
              <a:t>terraform </a:t>
            </a:r>
            <a:r>
              <a:rPr lang="en-US" b="0" err="1">
                <a:latin typeface="Consolas" panose="020B0609020204030204" pitchFamily="49" charset="0"/>
                <a:cs typeface="Consolas" panose="020B0609020204030204" pitchFamily="49" charset="0"/>
              </a:rPr>
              <a:t>init</a:t>
            </a:r>
            <a:r>
              <a:rPr lang="en-US" b="0">
                <a:latin typeface="Consolas" panose="020B0609020204030204" pitchFamily="49" charset="0"/>
                <a:cs typeface="Consolas" panose="020B0609020204030204" pitchFamily="49" charset="0"/>
              </a:rPr>
              <a:t> </a:t>
            </a:r>
          </a:p>
        </p:txBody>
      </p:sp>
      <p:grpSp>
        <p:nvGrpSpPr>
          <p:cNvPr id="21" name="Groupe 20">
            <a:extLst>
              <a:ext uri="{FF2B5EF4-FFF2-40B4-BE49-F238E27FC236}">
                <a16:creationId xmlns:a16="http://schemas.microsoft.com/office/drawing/2014/main" id="{B151C6F5-5F51-B7B8-DAD0-9C74722B2D23}"/>
              </a:ext>
            </a:extLst>
          </p:cNvPr>
          <p:cNvGrpSpPr/>
          <p:nvPr/>
        </p:nvGrpSpPr>
        <p:grpSpPr>
          <a:xfrm>
            <a:off x="5708671" y="2757896"/>
            <a:ext cx="6108658" cy="2248354"/>
            <a:chOff x="1398374" y="2305720"/>
            <a:chExt cx="10050571" cy="3699216"/>
          </a:xfrm>
        </p:grpSpPr>
        <p:sp>
          <p:nvSpPr>
            <p:cNvPr id="5" name="Rectangle : coins arrondis 4">
              <a:extLst>
                <a:ext uri="{FF2B5EF4-FFF2-40B4-BE49-F238E27FC236}">
                  <a16:creationId xmlns:a16="http://schemas.microsoft.com/office/drawing/2014/main" id="{21034FD7-5E38-3AA7-B418-62B989D70B21}"/>
                </a:ext>
              </a:extLst>
            </p:cNvPr>
            <p:cNvSpPr/>
            <p:nvPr/>
          </p:nvSpPr>
          <p:spPr>
            <a:xfrm>
              <a:off x="1398374" y="2801493"/>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err="1"/>
                <a:t>init</a:t>
              </a:r>
              <a:endParaRPr lang="en-US" sz="1000"/>
            </a:p>
          </p:txBody>
        </p:sp>
        <p:sp>
          <p:nvSpPr>
            <p:cNvPr id="6" name="Rectangle : coins arrondis 5">
              <a:extLst>
                <a:ext uri="{FF2B5EF4-FFF2-40B4-BE49-F238E27FC236}">
                  <a16:creationId xmlns:a16="http://schemas.microsoft.com/office/drawing/2014/main" id="{DA4303EF-3637-6E89-2420-8CC20FBC0F9E}"/>
                </a:ext>
              </a:extLst>
            </p:cNvPr>
            <p:cNvSpPr/>
            <p:nvPr/>
          </p:nvSpPr>
          <p:spPr>
            <a:xfrm>
              <a:off x="3626450" y="4034687"/>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n>
                    <a:solidFill>
                      <a:schemeClr val="tx2"/>
                    </a:solidFill>
                  </a:ln>
                </a:rPr>
                <a:t>plan</a:t>
              </a:r>
            </a:p>
          </p:txBody>
        </p:sp>
        <p:sp>
          <p:nvSpPr>
            <p:cNvPr id="7" name="Rectangle : coins arrondis 6">
              <a:extLst>
                <a:ext uri="{FF2B5EF4-FFF2-40B4-BE49-F238E27FC236}">
                  <a16:creationId xmlns:a16="http://schemas.microsoft.com/office/drawing/2014/main" id="{6F4BB5B4-A8BF-2B19-D346-A8748F452D0D}"/>
                </a:ext>
              </a:extLst>
            </p:cNvPr>
            <p:cNvSpPr/>
            <p:nvPr/>
          </p:nvSpPr>
          <p:spPr>
            <a:xfrm>
              <a:off x="7930736" y="3992892"/>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n>
                    <a:solidFill>
                      <a:schemeClr val="tx2"/>
                    </a:solidFill>
                  </a:ln>
                </a:rPr>
                <a:t>apply</a:t>
              </a:r>
            </a:p>
          </p:txBody>
        </p:sp>
        <p:sp>
          <p:nvSpPr>
            <p:cNvPr id="8" name="Rectangle : coins arrondis 7">
              <a:extLst>
                <a:ext uri="{FF2B5EF4-FFF2-40B4-BE49-F238E27FC236}">
                  <a16:creationId xmlns:a16="http://schemas.microsoft.com/office/drawing/2014/main" id="{0F361AF7-2AAE-FB8E-AB47-4E80E18EAE99}"/>
                </a:ext>
              </a:extLst>
            </p:cNvPr>
            <p:cNvSpPr/>
            <p:nvPr/>
          </p:nvSpPr>
          <p:spPr>
            <a:xfrm>
              <a:off x="9936669" y="5341744"/>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ln>
                    <a:solidFill>
                      <a:schemeClr val="tx2"/>
                    </a:solidFill>
                  </a:ln>
                </a:rPr>
                <a:t>destroy</a:t>
              </a:r>
            </a:p>
          </p:txBody>
        </p:sp>
        <p:cxnSp>
          <p:nvCxnSpPr>
            <p:cNvPr id="9" name="Connecteur en arc 8">
              <a:extLst>
                <a:ext uri="{FF2B5EF4-FFF2-40B4-BE49-F238E27FC236}">
                  <a16:creationId xmlns:a16="http://schemas.microsoft.com/office/drawing/2014/main" id="{110FE860-FB0D-3D7B-FDBE-21398CADA50C}"/>
                </a:ext>
              </a:extLst>
            </p:cNvPr>
            <p:cNvCxnSpPr>
              <a:cxnSpLocks/>
              <a:stCxn id="6" idx="0"/>
              <a:endCxn id="7" idx="0"/>
            </p:cNvCxnSpPr>
            <p:nvPr/>
          </p:nvCxnSpPr>
          <p:spPr>
            <a:xfrm rot="5400000" flipH="1" flipV="1">
              <a:off x="6513834" y="1861647"/>
              <a:ext cx="41795" cy="4304286"/>
            </a:xfrm>
            <a:prstGeom prst="curvedConnector3">
              <a:avLst>
                <a:gd name="adj1" fmla="val 3700290"/>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en arc 9">
              <a:extLst>
                <a:ext uri="{FF2B5EF4-FFF2-40B4-BE49-F238E27FC236}">
                  <a16:creationId xmlns:a16="http://schemas.microsoft.com/office/drawing/2014/main" id="{4BF59262-BCD2-33DD-C615-0EE78268B70C}"/>
                </a:ext>
              </a:extLst>
            </p:cNvPr>
            <p:cNvCxnSpPr>
              <a:cxnSpLocks/>
              <a:stCxn id="7" idx="2"/>
              <a:endCxn id="6" idx="2"/>
            </p:cNvCxnSpPr>
            <p:nvPr/>
          </p:nvCxnSpPr>
          <p:spPr>
            <a:xfrm rot="5400000">
              <a:off x="6513834" y="2524838"/>
              <a:ext cx="41795" cy="4304286"/>
            </a:xfrm>
            <a:prstGeom prst="curvedConnector3">
              <a:avLst>
                <a:gd name="adj1" fmla="val 3700290"/>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 coins arrondis 12">
              <a:extLst>
                <a:ext uri="{FF2B5EF4-FFF2-40B4-BE49-F238E27FC236}">
                  <a16:creationId xmlns:a16="http://schemas.microsoft.com/office/drawing/2014/main" id="{7AA2E1A0-254C-F8FB-386D-C7227BF41173}"/>
                </a:ext>
              </a:extLst>
            </p:cNvPr>
            <p:cNvSpPr/>
            <p:nvPr/>
          </p:nvSpPr>
          <p:spPr>
            <a:xfrm>
              <a:off x="2367224" y="2305720"/>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3D2683"/>
                  </a:solidFill>
                </a:rPr>
                <a:t>install providers</a:t>
              </a:r>
            </a:p>
          </p:txBody>
        </p:sp>
        <p:cxnSp>
          <p:nvCxnSpPr>
            <p:cNvPr id="14" name="Connecteur en arc 13">
              <a:extLst>
                <a:ext uri="{FF2B5EF4-FFF2-40B4-BE49-F238E27FC236}">
                  <a16:creationId xmlns:a16="http://schemas.microsoft.com/office/drawing/2014/main" id="{CF211066-8887-14BF-B6ED-DE8AC911E84D}"/>
                </a:ext>
              </a:extLst>
            </p:cNvPr>
            <p:cNvCxnSpPr>
              <a:cxnSpLocks/>
              <a:stCxn id="5" idx="2"/>
              <a:endCxn id="6" idx="1"/>
            </p:cNvCxnSpPr>
            <p:nvPr/>
          </p:nvCxnSpPr>
          <p:spPr>
            <a:xfrm rot="16200000" flipH="1">
              <a:off x="2439682" y="3179515"/>
              <a:ext cx="901598" cy="1471938"/>
            </a:xfrm>
            <a:prstGeom prst="curvedConnector2">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en arc 14">
              <a:extLst>
                <a:ext uri="{FF2B5EF4-FFF2-40B4-BE49-F238E27FC236}">
                  <a16:creationId xmlns:a16="http://schemas.microsoft.com/office/drawing/2014/main" id="{5D427260-A1A6-771B-0488-E7C3379034FB}"/>
                </a:ext>
              </a:extLst>
            </p:cNvPr>
            <p:cNvCxnSpPr>
              <a:cxnSpLocks/>
              <a:stCxn id="7" idx="3"/>
              <a:endCxn id="8" idx="0"/>
            </p:cNvCxnSpPr>
            <p:nvPr/>
          </p:nvCxnSpPr>
          <p:spPr>
            <a:xfrm>
              <a:off x="9443012" y="4324488"/>
              <a:ext cx="1249795" cy="1017256"/>
            </a:xfrm>
            <a:prstGeom prst="curvedConnector2">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111533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contenu 16">
            <a:extLst>
              <a:ext uri="{FF2B5EF4-FFF2-40B4-BE49-F238E27FC236}">
                <a16:creationId xmlns:a16="http://schemas.microsoft.com/office/drawing/2014/main" id="{EEF44D4A-C4A4-A61F-A868-8818853EF82C}"/>
              </a:ext>
            </a:extLst>
          </p:cNvPr>
          <p:cNvSpPr>
            <a:spLocks noGrp="1"/>
          </p:cNvSpPr>
          <p:nvPr>
            <p:ph sz="half" idx="1"/>
          </p:nvPr>
        </p:nvSpPr>
        <p:spPr/>
        <p:txBody>
          <a:bodyPr>
            <a:normAutofit/>
          </a:bodyPr>
          <a:lstStyle/>
          <a:p>
            <a:pPr marL="0" indent="0">
              <a:buNone/>
            </a:pPr>
            <a:r>
              <a:rPr lang="en-US"/>
              <a:t>When configuration changes, decide the actions required to align the infrastructure with the desired state.</a:t>
            </a:r>
          </a:p>
          <a:p>
            <a:r>
              <a:rPr lang="en-US"/>
              <a:t>Compares current v/s desired infrastructure state,</a:t>
            </a:r>
          </a:p>
          <a:p>
            <a:r>
              <a:rPr lang="en-US"/>
              <a:t>Generates execution plan,</a:t>
            </a:r>
          </a:p>
          <a:p>
            <a:r>
              <a:rPr lang="en-US"/>
              <a:t>Displays execution plan to the user for validation.</a:t>
            </a:r>
          </a:p>
          <a:p>
            <a:endParaRPr lang="en-US"/>
          </a:p>
        </p:txBody>
      </p:sp>
      <p:sp>
        <p:nvSpPr>
          <p:cNvPr id="19" name="Espace réservé du texte 18">
            <a:extLst>
              <a:ext uri="{FF2B5EF4-FFF2-40B4-BE49-F238E27FC236}">
                <a16:creationId xmlns:a16="http://schemas.microsoft.com/office/drawing/2014/main" id="{1CA1C816-4F9A-CF1F-8BAC-D9509D3C093E}"/>
              </a:ext>
            </a:extLst>
          </p:cNvPr>
          <p:cNvSpPr>
            <a:spLocks noGrp="1"/>
          </p:cNvSpPr>
          <p:nvPr>
            <p:ph type="body" sz="quarter" idx="14"/>
          </p:nvPr>
        </p:nvSpPr>
        <p:spPr/>
        <p:txBody>
          <a:bodyPr/>
          <a:lstStyle/>
          <a:p>
            <a:r>
              <a:rPr lang="en-US"/>
              <a:t>5. Terraform concepts</a:t>
            </a:r>
          </a:p>
        </p:txBody>
      </p:sp>
      <p:sp>
        <p:nvSpPr>
          <p:cNvPr id="20" name="Espace réservé du texte 19">
            <a:extLst>
              <a:ext uri="{FF2B5EF4-FFF2-40B4-BE49-F238E27FC236}">
                <a16:creationId xmlns:a16="http://schemas.microsoft.com/office/drawing/2014/main" id="{647DE159-F44A-509E-E118-17E74A45AA77}"/>
              </a:ext>
            </a:extLst>
          </p:cNvPr>
          <p:cNvSpPr>
            <a:spLocks noGrp="1"/>
          </p:cNvSpPr>
          <p:nvPr>
            <p:ph type="body" sz="quarter" idx="15"/>
          </p:nvPr>
        </p:nvSpPr>
        <p:spPr>
          <a:xfrm>
            <a:off x="838200" y="1352782"/>
            <a:ext cx="10441597" cy="433965"/>
          </a:xfrm>
        </p:spPr>
        <p:txBody>
          <a:bodyPr/>
          <a:lstStyle/>
          <a:p>
            <a:r>
              <a:rPr lang="en-US"/>
              <a:t>Workflow: </a:t>
            </a:r>
            <a:r>
              <a:rPr lang="en-US" b="0">
                <a:latin typeface="Consolas" panose="020B0609020204030204" pitchFamily="49" charset="0"/>
                <a:cs typeface="Consolas" panose="020B0609020204030204" pitchFamily="49" charset="0"/>
              </a:rPr>
              <a:t>terraform plan </a:t>
            </a:r>
          </a:p>
        </p:txBody>
      </p:sp>
      <p:grpSp>
        <p:nvGrpSpPr>
          <p:cNvPr id="21" name="Groupe 20">
            <a:extLst>
              <a:ext uri="{FF2B5EF4-FFF2-40B4-BE49-F238E27FC236}">
                <a16:creationId xmlns:a16="http://schemas.microsoft.com/office/drawing/2014/main" id="{B151C6F5-5F51-B7B8-DAD0-9C74722B2D23}"/>
              </a:ext>
            </a:extLst>
          </p:cNvPr>
          <p:cNvGrpSpPr/>
          <p:nvPr/>
        </p:nvGrpSpPr>
        <p:grpSpPr>
          <a:xfrm>
            <a:off x="5708671" y="3059223"/>
            <a:ext cx="6108658" cy="1947027"/>
            <a:chOff x="1398374" y="2801493"/>
            <a:chExt cx="10050571" cy="3203443"/>
          </a:xfrm>
        </p:grpSpPr>
        <p:sp>
          <p:nvSpPr>
            <p:cNvPr id="5" name="Rectangle : coins arrondis 4">
              <a:extLst>
                <a:ext uri="{FF2B5EF4-FFF2-40B4-BE49-F238E27FC236}">
                  <a16:creationId xmlns:a16="http://schemas.microsoft.com/office/drawing/2014/main" id="{21034FD7-5E38-3AA7-B418-62B989D70B21}"/>
                </a:ext>
              </a:extLst>
            </p:cNvPr>
            <p:cNvSpPr/>
            <p:nvPr/>
          </p:nvSpPr>
          <p:spPr>
            <a:xfrm>
              <a:off x="1398374" y="2801493"/>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err="1">
                  <a:solidFill>
                    <a:schemeClr val="tx2"/>
                  </a:solidFill>
                </a:rPr>
                <a:t>init</a:t>
              </a:r>
              <a:endParaRPr lang="en-US" sz="1000">
                <a:solidFill>
                  <a:schemeClr val="tx2"/>
                </a:solidFill>
              </a:endParaRPr>
            </a:p>
          </p:txBody>
        </p:sp>
        <p:sp>
          <p:nvSpPr>
            <p:cNvPr id="6" name="Rectangle : coins arrondis 5">
              <a:extLst>
                <a:ext uri="{FF2B5EF4-FFF2-40B4-BE49-F238E27FC236}">
                  <a16:creationId xmlns:a16="http://schemas.microsoft.com/office/drawing/2014/main" id="{DA4303EF-3637-6E89-2420-8CC20FBC0F9E}"/>
                </a:ext>
              </a:extLst>
            </p:cNvPr>
            <p:cNvSpPr/>
            <p:nvPr/>
          </p:nvSpPr>
          <p:spPr>
            <a:xfrm>
              <a:off x="3626450" y="4034687"/>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plan</a:t>
              </a:r>
            </a:p>
          </p:txBody>
        </p:sp>
        <p:sp>
          <p:nvSpPr>
            <p:cNvPr id="7" name="Rectangle : coins arrondis 6">
              <a:extLst>
                <a:ext uri="{FF2B5EF4-FFF2-40B4-BE49-F238E27FC236}">
                  <a16:creationId xmlns:a16="http://schemas.microsoft.com/office/drawing/2014/main" id="{6F4BB5B4-A8BF-2B19-D346-A8748F452D0D}"/>
                </a:ext>
              </a:extLst>
            </p:cNvPr>
            <p:cNvSpPr/>
            <p:nvPr/>
          </p:nvSpPr>
          <p:spPr>
            <a:xfrm>
              <a:off x="7930736" y="3992892"/>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2"/>
                  </a:solidFill>
                </a:rPr>
                <a:t>apply</a:t>
              </a:r>
            </a:p>
          </p:txBody>
        </p:sp>
        <p:sp>
          <p:nvSpPr>
            <p:cNvPr id="8" name="Rectangle : coins arrondis 7">
              <a:extLst>
                <a:ext uri="{FF2B5EF4-FFF2-40B4-BE49-F238E27FC236}">
                  <a16:creationId xmlns:a16="http://schemas.microsoft.com/office/drawing/2014/main" id="{0F361AF7-2AAE-FB8E-AB47-4E80E18EAE99}"/>
                </a:ext>
              </a:extLst>
            </p:cNvPr>
            <p:cNvSpPr/>
            <p:nvPr/>
          </p:nvSpPr>
          <p:spPr>
            <a:xfrm>
              <a:off x="9936669" y="5341744"/>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2"/>
                  </a:solidFill>
                </a:rPr>
                <a:t>destroy</a:t>
              </a:r>
            </a:p>
          </p:txBody>
        </p:sp>
        <p:cxnSp>
          <p:nvCxnSpPr>
            <p:cNvPr id="9" name="Connecteur en arc 8">
              <a:extLst>
                <a:ext uri="{FF2B5EF4-FFF2-40B4-BE49-F238E27FC236}">
                  <a16:creationId xmlns:a16="http://schemas.microsoft.com/office/drawing/2014/main" id="{110FE860-FB0D-3D7B-FDBE-21398CADA50C}"/>
                </a:ext>
              </a:extLst>
            </p:cNvPr>
            <p:cNvCxnSpPr>
              <a:stCxn id="6" idx="0"/>
              <a:endCxn id="7" idx="0"/>
            </p:cNvCxnSpPr>
            <p:nvPr/>
          </p:nvCxnSpPr>
          <p:spPr>
            <a:xfrm rot="5400000" flipH="1" flipV="1">
              <a:off x="6513834" y="1861647"/>
              <a:ext cx="41795" cy="4304286"/>
            </a:xfrm>
            <a:prstGeom prst="curvedConnector3">
              <a:avLst>
                <a:gd name="adj1" fmla="val 3700290"/>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en arc 9">
              <a:extLst>
                <a:ext uri="{FF2B5EF4-FFF2-40B4-BE49-F238E27FC236}">
                  <a16:creationId xmlns:a16="http://schemas.microsoft.com/office/drawing/2014/main" id="{4BF59262-BCD2-33DD-C615-0EE78268B70C}"/>
                </a:ext>
              </a:extLst>
            </p:cNvPr>
            <p:cNvCxnSpPr>
              <a:cxnSpLocks/>
              <a:stCxn id="7" idx="2"/>
              <a:endCxn id="6" idx="2"/>
            </p:cNvCxnSpPr>
            <p:nvPr/>
          </p:nvCxnSpPr>
          <p:spPr>
            <a:xfrm rot="5400000">
              <a:off x="6513834" y="2524838"/>
              <a:ext cx="41795" cy="4304286"/>
            </a:xfrm>
            <a:prstGeom prst="curvedConnector3">
              <a:avLst>
                <a:gd name="adj1" fmla="val 3700290"/>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 coins arrondis 10">
              <a:extLst>
                <a:ext uri="{FF2B5EF4-FFF2-40B4-BE49-F238E27FC236}">
                  <a16:creationId xmlns:a16="http://schemas.microsoft.com/office/drawing/2014/main" id="{F2DB77B0-85D0-3501-35E7-4C7E07A2F027}"/>
                </a:ext>
              </a:extLst>
            </p:cNvPr>
            <p:cNvSpPr/>
            <p:nvPr/>
          </p:nvSpPr>
          <p:spPr>
            <a:xfrm>
              <a:off x="5778593" y="3661296"/>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3D2683"/>
                  </a:solidFill>
                </a:rPr>
                <a:t>state management</a:t>
              </a:r>
            </a:p>
          </p:txBody>
        </p:sp>
        <p:sp>
          <p:nvSpPr>
            <p:cNvPr id="12" name="Rectangle : coins arrondis 11">
              <a:extLst>
                <a:ext uri="{FF2B5EF4-FFF2-40B4-BE49-F238E27FC236}">
                  <a16:creationId xmlns:a16="http://schemas.microsoft.com/office/drawing/2014/main" id="{7BA8BA32-2DCB-7126-7D8C-F8A5F227E06F}"/>
                </a:ext>
              </a:extLst>
            </p:cNvPr>
            <p:cNvSpPr/>
            <p:nvPr/>
          </p:nvSpPr>
          <p:spPr>
            <a:xfrm>
              <a:off x="5778593" y="4466568"/>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3D2683"/>
                  </a:solidFill>
                </a:rPr>
                <a:t>execution plan</a:t>
              </a:r>
            </a:p>
          </p:txBody>
        </p:sp>
        <p:cxnSp>
          <p:nvCxnSpPr>
            <p:cNvPr id="14" name="Connecteur en arc 13">
              <a:extLst>
                <a:ext uri="{FF2B5EF4-FFF2-40B4-BE49-F238E27FC236}">
                  <a16:creationId xmlns:a16="http://schemas.microsoft.com/office/drawing/2014/main" id="{CF211066-8887-14BF-B6ED-DE8AC911E84D}"/>
                </a:ext>
              </a:extLst>
            </p:cNvPr>
            <p:cNvCxnSpPr>
              <a:cxnSpLocks/>
              <a:stCxn id="5" idx="2"/>
              <a:endCxn id="6" idx="1"/>
            </p:cNvCxnSpPr>
            <p:nvPr/>
          </p:nvCxnSpPr>
          <p:spPr>
            <a:xfrm rot="16200000" flipH="1">
              <a:off x="2439682" y="3179515"/>
              <a:ext cx="901598" cy="1471938"/>
            </a:xfrm>
            <a:prstGeom prst="curvedConnector2">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en arc 14">
              <a:extLst>
                <a:ext uri="{FF2B5EF4-FFF2-40B4-BE49-F238E27FC236}">
                  <a16:creationId xmlns:a16="http://schemas.microsoft.com/office/drawing/2014/main" id="{5D427260-A1A6-771B-0488-E7C3379034FB}"/>
                </a:ext>
              </a:extLst>
            </p:cNvPr>
            <p:cNvCxnSpPr>
              <a:cxnSpLocks/>
              <a:stCxn id="7" idx="3"/>
              <a:endCxn id="8" idx="0"/>
            </p:cNvCxnSpPr>
            <p:nvPr/>
          </p:nvCxnSpPr>
          <p:spPr>
            <a:xfrm>
              <a:off x="9443012" y="4324488"/>
              <a:ext cx="1249795" cy="1017256"/>
            </a:xfrm>
            <a:prstGeom prst="curvedConnector2">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881349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contenu 16">
            <a:extLst>
              <a:ext uri="{FF2B5EF4-FFF2-40B4-BE49-F238E27FC236}">
                <a16:creationId xmlns:a16="http://schemas.microsoft.com/office/drawing/2014/main" id="{EEF44D4A-C4A4-A61F-A868-8818853EF82C}"/>
              </a:ext>
            </a:extLst>
          </p:cNvPr>
          <p:cNvSpPr>
            <a:spLocks noGrp="1"/>
          </p:cNvSpPr>
          <p:nvPr>
            <p:ph sz="half" idx="1"/>
          </p:nvPr>
        </p:nvSpPr>
        <p:spPr/>
        <p:txBody>
          <a:bodyPr>
            <a:normAutofit/>
          </a:bodyPr>
          <a:lstStyle/>
          <a:p>
            <a:pPr marL="0" indent="0">
              <a:buNone/>
            </a:pPr>
            <a:r>
              <a:rPr lang="en-US"/>
              <a:t>Terraform executes the planned actions to modify the infrastructure according to the desired state.</a:t>
            </a:r>
          </a:p>
          <a:p>
            <a:r>
              <a:rPr lang="en-US"/>
              <a:t>Applies changes on resources (create, update, destroy)</a:t>
            </a:r>
          </a:p>
          <a:p>
            <a:r>
              <a:rPr lang="en-US"/>
              <a:t>By interacting with the infrastructure providers,</a:t>
            </a:r>
          </a:p>
          <a:p>
            <a:r>
              <a:rPr lang="en-US"/>
              <a:t>Updates the infrastructure state.</a:t>
            </a:r>
          </a:p>
        </p:txBody>
      </p:sp>
      <p:sp>
        <p:nvSpPr>
          <p:cNvPr id="19" name="Espace réservé du texte 18">
            <a:extLst>
              <a:ext uri="{FF2B5EF4-FFF2-40B4-BE49-F238E27FC236}">
                <a16:creationId xmlns:a16="http://schemas.microsoft.com/office/drawing/2014/main" id="{1CA1C816-4F9A-CF1F-8BAC-D9509D3C093E}"/>
              </a:ext>
            </a:extLst>
          </p:cNvPr>
          <p:cNvSpPr>
            <a:spLocks noGrp="1"/>
          </p:cNvSpPr>
          <p:nvPr>
            <p:ph type="body" sz="quarter" idx="14"/>
          </p:nvPr>
        </p:nvSpPr>
        <p:spPr/>
        <p:txBody>
          <a:bodyPr/>
          <a:lstStyle/>
          <a:p>
            <a:r>
              <a:rPr lang="en-US"/>
              <a:t>5. Terraform concepts</a:t>
            </a:r>
          </a:p>
        </p:txBody>
      </p:sp>
      <p:sp>
        <p:nvSpPr>
          <p:cNvPr id="20" name="Espace réservé du texte 19">
            <a:extLst>
              <a:ext uri="{FF2B5EF4-FFF2-40B4-BE49-F238E27FC236}">
                <a16:creationId xmlns:a16="http://schemas.microsoft.com/office/drawing/2014/main" id="{647DE159-F44A-509E-E118-17E74A45AA77}"/>
              </a:ext>
            </a:extLst>
          </p:cNvPr>
          <p:cNvSpPr>
            <a:spLocks noGrp="1"/>
          </p:cNvSpPr>
          <p:nvPr>
            <p:ph type="body" sz="quarter" idx="15"/>
          </p:nvPr>
        </p:nvSpPr>
        <p:spPr>
          <a:xfrm>
            <a:off x="838200" y="1352782"/>
            <a:ext cx="10441597" cy="433965"/>
          </a:xfrm>
        </p:spPr>
        <p:txBody>
          <a:bodyPr/>
          <a:lstStyle/>
          <a:p>
            <a:r>
              <a:rPr lang="en-US"/>
              <a:t>Workflow: </a:t>
            </a:r>
            <a:r>
              <a:rPr lang="en-US" b="0">
                <a:latin typeface="Consolas" panose="020B0609020204030204" pitchFamily="49" charset="0"/>
                <a:cs typeface="Consolas" panose="020B0609020204030204" pitchFamily="49" charset="0"/>
              </a:rPr>
              <a:t>terraform apply </a:t>
            </a:r>
          </a:p>
        </p:txBody>
      </p:sp>
      <p:grpSp>
        <p:nvGrpSpPr>
          <p:cNvPr id="21" name="Groupe 20">
            <a:extLst>
              <a:ext uri="{FF2B5EF4-FFF2-40B4-BE49-F238E27FC236}">
                <a16:creationId xmlns:a16="http://schemas.microsoft.com/office/drawing/2014/main" id="{B151C6F5-5F51-B7B8-DAD0-9C74722B2D23}"/>
              </a:ext>
            </a:extLst>
          </p:cNvPr>
          <p:cNvGrpSpPr/>
          <p:nvPr/>
        </p:nvGrpSpPr>
        <p:grpSpPr>
          <a:xfrm>
            <a:off x="5708671" y="3059223"/>
            <a:ext cx="6108658" cy="1947027"/>
            <a:chOff x="1398374" y="2801493"/>
            <a:chExt cx="10050571" cy="3203443"/>
          </a:xfrm>
        </p:grpSpPr>
        <p:sp>
          <p:nvSpPr>
            <p:cNvPr id="5" name="Rectangle : coins arrondis 4">
              <a:extLst>
                <a:ext uri="{FF2B5EF4-FFF2-40B4-BE49-F238E27FC236}">
                  <a16:creationId xmlns:a16="http://schemas.microsoft.com/office/drawing/2014/main" id="{21034FD7-5E38-3AA7-B418-62B989D70B21}"/>
                </a:ext>
              </a:extLst>
            </p:cNvPr>
            <p:cNvSpPr/>
            <p:nvPr/>
          </p:nvSpPr>
          <p:spPr>
            <a:xfrm>
              <a:off x="1398374" y="2801493"/>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err="1">
                  <a:solidFill>
                    <a:schemeClr val="tx2"/>
                  </a:solidFill>
                </a:rPr>
                <a:t>init</a:t>
              </a:r>
              <a:endParaRPr lang="en-US" sz="1000">
                <a:solidFill>
                  <a:schemeClr val="tx2"/>
                </a:solidFill>
              </a:endParaRPr>
            </a:p>
          </p:txBody>
        </p:sp>
        <p:sp>
          <p:nvSpPr>
            <p:cNvPr id="6" name="Rectangle : coins arrondis 5">
              <a:extLst>
                <a:ext uri="{FF2B5EF4-FFF2-40B4-BE49-F238E27FC236}">
                  <a16:creationId xmlns:a16="http://schemas.microsoft.com/office/drawing/2014/main" id="{DA4303EF-3637-6E89-2420-8CC20FBC0F9E}"/>
                </a:ext>
              </a:extLst>
            </p:cNvPr>
            <p:cNvSpPr/>
            <p:nvPr/>
          </p:nvSpPr>
          <p:spPr>
            <a:xfrm>
              <a:off x="3626450" y="4034687"/>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2"/>
                  </a:solidFill>
                </a:rPr>
                <a:t>plan</a:t>
              </a:r>
            </a:p>
          </p:txBody>
        </p:sp>
        <p:sp>
          <p:nvSpPr>
            <p:cNvPr id="7" name="Rectangle : coins arrondis 6">
              <a:extLst>
                <a:ext uri="{FF2B5EF4-FFF2-40B4-BE49-F238E27FC236}">
                  <a16:creationId xmlns:a16="http://schemas.microsoft.com/office/drawing/2014/main" id="{6F4BB5B4-A8BF-2B19-D346-A8748F452D0D}"/>
                </a:ext>
              </a:extLst>
            </p:cNvPr>
            <p:cNvSpPr/>
            <p:nvPr/>
          </p:nvSpPr>
          <p:spPr>
            <a:xfrm>
              <a:off x="7930736" y="3992892"/>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apply</a:t>
              </a:r>
            </a:p>
          </p:txBody>
        </p:sp>
        <p:sp>
          <p:nvSpPr>
            <p:cNvPr id="8" name="Rectangle : coins arrondis 7">
              <a:extLst>
                <a:ext uri="{FF2B5EF4-FFF2-40B4-BE49-F238E27FC236}">
                  <a16:creationId xmlns:a16="http://schemas.microsoft.com/office/drawing/2014/main" id="{0F361AF7-2AAE-FB8E-AB47-4E80E18EAE99}"/>
                </a:ext>
              </a:extLst>
            </p:cNvPr>
            <p:cNvSpPr/>
            <p:nvPr/>
          </p:nvSpPr>
          <p:spPr>
            <a:xfrm>
              <a:off x="9936669" y="5341744"/>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2"/>
                  </a:solidFill>
                </a:rPr>
                <a:t>destroy</a:t>
              </a:r>
            </a:p>
          </p:txBody>
        </p:sp>
        <p:cxnSp>
          <p:nvCxnSpPr>
            <p:cNvPr id="9" name="Connecteur en arc 8">
              <a:extLst>
                <a:ext uri="{FF2B5EF4-FFF2-40B4-BE49-F238E27FC236}">
                  <a16:creationId xmlns:a16="http://schemas.microsoft.com/office/drawing/2014/main" id="{110FE860-FB0D-3D7B-FDBE-21398CADA50C}"/>
                </a:ext>
              </a:extLst>
            </p:cNvPr>
            <p:cNvCxnSpPr>
              <a:stCxn id="6" idx="0"/>
              <a:endCxn id="7" idx="0"/>
            </p:cNvCxnSpPr>
            <p:nvPr/>
          </p:nvCxnSpPr>
          <p:spPr>
            <a:xfrm rot="5400000" flipH="1" flipV="1">
              <a:off x="6513834" y="1861647"/>
              <a:ext cx="41795" cy="4304286"/>
            </a:xfrm>
            <a:prstGeom prst="curvedConnector3">
              <a:avLst>
                <a:gd name="adj1" fmla="val 3700290"/>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en arc 9">
              <a:extLst>
                <a:ext uri="{FF2B5EF4-FFF2-40B4-BE49-F238E27FC236}">
                  <a16:creationId xmlns:a16="http://schemas.microsoft.com/office/drawing/2014/main" id="{4BF59262-BCD2-33DD-C615-0EE78268B70C}"/>
                </a:ext>
              </a:extLst>
            </p:cNvPr>
            <p:cNvCxnSpPr>
              <a:cxnSpLocks/>
              <a:stCxn id="7" idx="2"/>
              <a:endCxn id="6" idx="2"/>
            </p:cNvCxnSpPr>
            <p:nvPr/>
          </p:nvCxnSpPr>
          <p:spPr>
            <a:xfrm rot="5400000">
              <a:off x="6513834" y="2524838"/>
              <a:ext cx="41795" cy="4304286"/>
            </a:xfrm>
            <a:prstGeom prst="curvedConnector3">
              <a:avLst>
                <a:gd name="adj1" fmla="val 3700290"/>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 coins arrondis 10">
              <a:extLst>
                <a:ext uri="{FF2B5EF4-FFF2-40B4-BE49-F238E27FC236}">
                  <a16:creationId xmlns:a16="http://schemas.microsoft.com/office/drawing/2014/main" id="{F2DB77B0-85D0-3501-35E7-4C7E07A2F027}"/>
                </a:ext>
              </a:extLst>
            </p:cNvPr>
            <p:cNvSpPr/>
            <p:nvPr/>
          </p:nvSpPr>
          <p:spPr>
            <a:xfrm>
              <a:off x="5778593" y="3661296"/>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3D2683"/>
                  </a:solidFill>
                </a:rPr>
                <a:t>state management</a:t>
              </a:r>
            </a:p>
          </p:txBody>
        </p:sp>
        <p:sp>
          <p:nvSpPr>
            <p:cNvPr id="12" name="Rectangle : coins arrondis 11">
              <a:extLst>
                <a:ext uri="{FF2B5EF4-FFF2-40B4-BE49-F238E27FC236}">
                  <a16:creationId xmlns:a16="http://schemas.microsoft.com/office/drawing/2014/main" id="{7BA8BA32-2DCB-7126-7D8C-F8A5F227E06F}"/>
                </a:ext>
              </a:extLst>
            </p:cNvPr>
            <p:cNvSpPr/>
            <p:nvPr/>
          </p:nvSpPr>
          <p:spPr>
            <a:xfrm>
              <a:off x="5778593" y="4466568"/>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3D2683"/>
                  </a:solidFill>
                </a:rPr>
                <a:t>execution plan</a:t>
              </a:r>
            </a:p>
          </p:txBody>
        </p:sp>
        <p:cxnSp>
          <p:nvCxnSpPr>
            <p:cNvPr id="14" name="Connecteur en arc 13">
              <a:extLst>
                <a:ext uri="{FF2B5EF4-FFF2-40B4-BE49-F238E27FC236}">
                  <a16:creationId xmlns:a16="http://schemas.microsoft.com/office/drawing/2014/main" id="{CF211066-8887-14BF-B6ED-DE8AC911E84D}"/>
                </a:ext>
              </a:extLst>
            </p:cNvPr>
            <p:cNvCxnSpPr>
              <a:cxnSpLocks/>
              <a:stCxn id="5" idx="2"/>
              <a:endCxn id="6" idx="1"/>
            </p:cNvCxnSpPr>
            <p:nvPr/>
          </p:nvCxnSpPr>
          <p:spPr>
            <a:xfrm rot="16200000" flipH="1">
              <a:off x="2439682" y="3179515"/>
              <a:ext cx="901598" cy="1471938"/>
            </a:xfrm>
            <a:prstGeom prst="curvedConnector2">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en arc 14">
              <a:extLst>
                <a:ext uri="{FF2B5EF4-FFF2-40B4-BE49-F238E27FC236}">
                  <a16:creationId xmlns:a16="http://schemas.microsoft.com/office/drawing/2014/main" id="{5D427260-A1A6-771B-0488-E7C3379034FB}"/>
                </a:ext>
              </a:extLst>
            </p:cNvPr>
            <p:cNvCxnSpPr>
              <a:cxnSpLocks/>
              <a:stCxn id="7" idx="3"/>
              <a:endCxn id="8" idx="0"/>
            </p:cNvCxnSpPr>
            <p:nvPr/>
          </p:nvCxnSpPr>
          <p:spPr>
            <a:xfrm>
              <a:off x="9443012" y="4324488"/>
              <a:ext cx="1249795" cy="1017256"/>
            </a:xfrm>
            <a:prstGeom prst="curvedConnector2">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78327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contenu 16">
            <a:extLst>
              <a:ext uri="{FF2B5EF4-FFF2-40B4-BE49-F238E27FC236}">
                <a16:creationId xmlns:a16="http://schemas.microsoft.com/office/drawing/2014/main" id="{EEF44D4A-C4A4-A61F-A868-8818853EF82C}"/>
              </a:ext>
            </a:extLst>
          </p:cNvPr>
          <p:cNvSpPr>
            <a:spLocks noGrp="1"/>
          </p:cNvSpPr>
          <p:nvPr>
            <p:ph sz="half" idx="1"/>
          </p:nvPr>
        </p:nvSpPr>
        <p:spPr/>
        <p:txBody>
          <a:bodyPr/>
          <a:lstStyle/>
          <a:p>
            <a:pPr marL="0" indent="0">
              <a:buNone/>
            </a:pPr>
            <a:r>
              <a:rPr lang="en-US"/>
              <a:t>Tear down infrastructure managed by Terraform configuration.</a:t>
            </a:r>
          </a:p>
          <a:p>
            <a:r>
              <a:rPr lang="en-US"/>
              <a:t>Destroy execution plan is created,</a:t>
            </a:r>
          </a:p>
          <a:p>
            <a:r>
              <a:rPr lang="en-US"/>
              <a:t>After review, proceeds to resource deletion,</a:t>
            </a:r>
          </a:p>
          <a:p>
            <a:r>
              <a:rPr lang="en-US"/>
              <a:t>Destruction is performed respecting dependencies order.</a:t>
            </a:r>
          </a:p>
        </p:txBody>
      </p:sp>
      <p:sp>
        <p:nvSpPr>
          <p:cNvPr id="19" name="Espace réservé du texte 18">
            <a:extLst>
              <a:ext uri="{FF2B5EF4-FFF2-40B4-BE49-F238E27FC236}">
                <a16:creationId xmlns:a16="http://schemas.microsoft.com/office/drawing/2014/main" id="{1CA1C816-4F9A-CF1F-8BAC-D9509D3C093E}"/>
              </a:ext>
            </a:extLst>
          </p:cNvPr>
          <p:cNvSpPr>
            <a:spLocks noGrp="1"/>
          </p:cNvSpPr>
          <p:nvPr>
            <p:ph type="body" sz="quarter" idx="14"/>
          </p:nvPr>
        </p:nvSpPr>
        <p:spPr/>
        <p:txBody>
          <a:bodyPr/>
          <a:lstStyle/>
          <a:p>
            <a:r>
              <a:rPr lang="en-US"/>
              <a:t>5. Terraform concepts</a:t>
            </a:r>
          </a:p>
        </p:txBody>
      </p:sp>
      <p:sp>
        <p:nvSpPr>
          <p:cNvPr id="20" name="Espace réservé du texte 19">
            <a:extLst>
              <a:ext uri="{FF2B5EF4-FFF2-40B4-BE49-F238E27FC236}">
                <a16:creationId xmlns:a16="http://schemas.microsoft.com/office/drawing/2014/main" id="{647DE159-F44A-509E-E118-17E74A45AA77}"/>
              </a:ext>
            </a:extLst>
          </p:cNvPr>
          <p:cNvSpPr>
            <a:spLocks noGrp="1"/>
          </p:cNvSpPr>
          <p:nvPr>
            <p:ph type="body" sz="quarter" idx="15"/>
          </p:nvPr>
        </p:nvSpPr>
        <p:spPr>
          <a:xfrm>
            <a:off x="838200" y="1352782"/>
            <a:ext cx="10441597" cy="433965"/>
          </a:xfrm>
        </p:spPr>
        <p:txBody>
          <a:bodyPr/>
          <a:lstStyle/>
          <a:p>
            <a:r>
              <a:rPr lang="en-US"/>
              <a:t>Workflow: </a:t>
            </a:r>
            <a:r>
              <a:rPr lang="en-US" b="0">
                <a:latin typeface="Consolas" panose="020B0609020204030204" pitchFamily="49" charset="0"/>
                <a:cs typeface="Consolas" panose="020B0609020204030204" pitchFamily="49" charset="0"/>
              </a:rPr>
              <a:t>terraform destroy </a:t>
            </a:r>
          </a:p>
        </p:txBody>
      </p:sp>
      <p:grpSp>
        <p:nvGrpSpPr>
          <p:cNvPr id="21" name="Groupe 20">
            <a:extLst>
              <a:ext uri="{FF2B5EF4-FFF2-40B4-BE49-F238E27FC236}">
                <a16:creationId xmlns:a16="http://schemas.microsoft.com/office/drawing/2014/main" id="{B151C6F5-5F51-B7B8-DAD0-9C74722B2D23}"/>
              </a:ext>
            </a:extLst>
          </p:cNvPr>
          <p:cNvGrpSpPr/>
          <p:nvPr/>
        </p:nvGrpSpPr>
        <p:grpSpPr>
          <a:xfrm>
            <a:off x="5708671" y="3059223"/>
            <a:ext cx="6108658" cy="2276451"/>
            <a:chOff x="1398374" y="2801493"/>
            <a:chExt cx="10050571" cy="3745445"/>
          </a:xfrm>
        </p:grpSpPr>
        <p:sp>
          <p:nvSpPr>
            <p:cNvPr id="5" name="Rectangle : coins arrondis 4">
              <a:extLst>
                <a:ext uri="{FF2B5EF4-FFF2-40B4-BE49-F238E27FC236}">
                  <a16:creationId xmlns:a16="http://schemas.microsoft.com/office/drawing/2014/main" id="{21034FD7-5E38-3AA7-B418-62B989D70B21}"/>
                </a:ext>
              </a:extLst>
            </p:cNvPr>
            <p:cNvSpPr/>
            <p:nvPr/>
          </p:nvSpPr>
          <p:spPr>
            <a:xfrm>
              <a:off x="1398374" y="2801493"/>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err="1">
                  <a:solidFill>
                    <a:schemeClr val="tx2"/>
                  </a:solidFill>
                </a:rPr>
                <a:t>init</a:t>
              </a:r>
              <a:endParaRPr lang="en-US" sz="1000">
                <a:solidFill>
                  <a:schemeClr val="tx2"/>
                </a:solidFill>
              </a:endParaRPr>
            </a:p>
          </p:txBody>
        </p:sp>
        <p:sp>
          <p:nvSpPr>
            <p:cNvPr id="6" name="Rectangle : coins arrondis 5">
              <a:extLst>
                <a:ext uri="{FF2B5EF4-FFF2-40B4-BE49-F238E27FC236}">
                  <a16:creationId xmlns:a16="http://schemas.microsoft.com/office/drawing/2014/main" id="{DA4303EF-3637-6E89-2420-8CC20FBC0F9E}"/>
                </a:ext>
              </a:extLst>
            </p:cNvPr>
            <p:cNvSpPr/>
            <p:nvPr/>
          </p:nvSpPr>
          <p:spPr>
            <a:xfrm>
              <a:off x="3626450" y="4034687"/>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2"/>
                  </a:solidFill>
                </a:rPr>
                <a:t>plan</a:t>
              </a:r>
            </a:p>
          </p:txBody>
        </p:sp>
        <p:sp>
          <p:nvSpPr>
            <p:cNvPr id="7" name="Rectangle : coins arrondis 6">
              <a:extLst>
                <a:ext uri="{FF2B5EF4-FFF2-40B4-BE49-F238E27FC236}">
                  <a16:creationId xmlns:a16="http://schemas.microsoft.com/office/drawing/2014/main" id="{6F4BB5B4-A8BF-2B19-D346-A8748F452D0D}"/>
                </a:ext>
              </a:extLst>
            </p:cNvPr>
            <p:cNvSpPr/>
            <p:nvPr/>
          </p:nvSpPr>
          <p:spPr>
            <a:xfrm>
              <a:off x="7930736" y="3992892"/>
              <a:ext cx="1512276" cy="663192"/>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2"/>
                  </a:solidFill>
                </a:rPr>
                <a:t>apply</a:t>
              </a:r>
            </a:p>
          </p:txBody>
        </p:sp>
        <p:sp>
          <p:nvSpPr>
            <p:cNvPr id="8" name="Rectangle : coins arrondis 7">
              <a:extLst>
                <a:ext uri="{FF2B5EF4-FFF2-40B4-BE49-F238E27FC236}">
                  <a16:creationId xmlns:a16="http://schemas.microsoft.com/office/drawing/2014/main" id="{0F361AF7-2AAE-FB8E-AB47-4E80E18EAE99}"/>
                </a:ext>
              </a:extLst>
            </p:cNvPr>
            <p:cNvSpPr/>
            <p:nvPr/>
          </p:nvSpPr>
          <p:spPr>
            <a:xfrm>
              <a:off x="9936669" y="5341744"/>
              <a:ext cx="1512276" cy="663192"/>
            </a:xfrm>
            <a:prstGeom prst="roundRect">
              <a:avLst/>
            </a:prstGeom>
            <a:solidFill>
              <a:srgbClr val="3D2683"/>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destroy</a:t>
              </a:r>
            </a:p>
          </p:txBody>
        </p:sp>
        <p:cxnSp>
          <p:nvCxnSpPr>
            <p:cNvPr id="9" name="Connecteur en arc 8">
              <a:extLst>
                <a:ext uri="{FF2B5EF4-FFF2-40B4-BE49-F238E27FC236}">
                  <a16:creationId xmlns:a16="http://schemas.microsoft.com/office/drawing/2014/main" id="{110FE860-FB0D-3D7B-FDBE-21398CADA50C}"/>
                </a:ext>
              </a:extLst>
            </p:cNvPr>
            <p:cNvCxnSpPr>
              <a:cxnSpLocks/>
              <a:stCxn id="6" idx="0"/>
              <a:endCxn id="7" idx="0"/>
            </p:cNvCxnSpPr>
            <p:nvPr/>
          </p:nvCxnSpPr>
          <p:spPr>
            <a:xfrm rot="5400000" flipH="1" flipV="1">
              <a:off x="6513834" y="1861647"/>
              <a:ext cx="41795" cy="4304286"/>
            </a:xfrm>
            <a:prstGeom prst="curvedConnector3">
              <a:avLst>
                <a:gd name="adj1" fmla="val 3700290"/>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en arc 9">
              <a:extLst>
                <a:ext uri="{FF2B5EF4-FFF2-40B4-BE49-F238E27FC236}">
                  <a16:creationId xmlns:a16="http://schemas.microsoft.com/office/drawing/2014/main" id="{4BF59262-BCD2-33DD-C615-0EE78268B70C}"/>
                </a:ext>
              </a:extLst>
            </p:cNvPr>
            <p:cNvCxnSpPr>
              <a:cxnSpLocks/>
              <a:stCxn id="7" idx="2"/>
              <a:endCxn id="6" idx="2"/>
            </p:cNvCxnSpPr>
            <p:nvPr/>
          </p:nvCxnSpPr>
          <p:spPr>
            <a:xfrm rot="5400000">
              <a:off x="6513834" y="2524838"/>
              <a:ext cx="41795" cy="4304286"/>
            </a:xfrm>
            <a:prstGeom prst="curvedConnector3">
              <a:avLst>
                <a:gd name="adj1" fmla="val 3700290"/>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en arc 13">
              <a:extLst>
                <a:ext uri="{FF2B5EF4-FFF2-40B4-BE49-F238E27FC236}">
                  <a16:creationId xmlns:a16="http://schemas.microsoft.com/office/drawing/2014/main" id="{CF211066-8887-14BF-B6ED-DE8AC911E84D}"/>
                </a:ext>
              </a:extLst>
            </p:cNvPr>
            <p:cNvCxnSpPr>
              <a:cxnSpLocks/>
              <a:stCxn id="5" idx="2"/>
              <a:endCxn id="6" idx="1"/>
            </p:cNvCxnSpPr>
            <p:nvPr/>
          </p:nvCxnSpPr>
          <p:spPr>
            <a:xfrm rot="16200000" flipH="1">
              <a:off x="2439682" y="3179515"/>
              <a:ext cx="901598" cy="1471938"/>
            </a:xfrm>
            <a:prstGeom prst="curvedConnector2">
              <a:avLst/>
            </a:prstGeom>
            <a:solidFill>
              <a:schemeClr val="bg2"/>
            </a:solidFill>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en arc 14">
              <a:extLst>
                <a:ext uri="{FF2B5EF4-FFF2-40B4-BE49-F238E27FC236}">
                  <a16:creationId xmlns:a16="http://schemas.microsoft.com/office/drawing/2014/main" id="{5D427260-A1A6-771B-0488-E7C3379034FB}"/>
                </a:ext>
              </a:extLst>
            </p:cNvPr>
            <p:cNvCxnSpPr>
              <a:cxnSpLocks/>
              <a:stCxn id="7" idx="3"/>
              <a:endCxn id="8" idx="0"/>
            </p:cNvCxnSpPr>
            <p:nvPr/>
          </p:nvCxnSpPr>
          <p:spPr>
            <a:xfrm>
              <a:off x="9443012" y="4324488"/>
              <a:ext cx="1249795" cy="1017256"/>
            </a:xfrm>
            <a:prstGeom prst="curvedConnector2">
              <a:avLst/>
            </a:prstGeom>
            <a:ln w="57150">
              <a:solidFill>
                <a:srgbClr val="3D2683"/>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 coins arrondis 15">
              <a:extLst>
                <a:ext uri="{FF2B5EF4-FFF2-40B4-BE49-F238E27FC236}">
                  <a16:creationId xmlns:a16="http://schemas.microsoft.com/office/drawing/2014/main" id="{76D8E4F4-D446-B6BC-E292-2C59B16B56D8}"/>
                </a:ext>
              </a:extLst>
            </p:cNvPr>
            <p:cNvSpPr/>
            <p:nvPr/>
          </p:nvSpPr>
          <p:spPr>
            <a:xfrm>
              <a:off x="9443012" y="5883746"/>
              <a:ext cx="1512276" cy="663192"/>
            </a:xfrm>
            <a:prstGeom prst="roundRect">
              <a:avLst/>
            </a:prstGeom>
            <a:solidFill>
              <a:schemeClr val="bg1"/>
            </a:solidFill>
            <a:ln>
              <a:solidFill>
                <a:srgbClr val="3D26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3D2683"/>
                  </a:solidFill>
                </a:rPr>
                <a:t>free resources</a:t>
              </a:r>
            </a:p>
          </p:txBody>
        </p:sp>
      </p:grpSp>
    </p:spTree>
    <p:extLst>
      <p:ext uri="{BB962C8B-B14F-4D97-AF65-F5344CB8AC3E}">
        <p14:creationId xmlns:p14="http://schemas.microsoft.com/office/powerpoint/2010/main" val="31246764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pPr marL="0" indent="0">
              <a:buNone/>
            </a:pPr>
            <a:r>
              <a:rPr lang="en-US"/>
              <a:t>Use Terraform to provision a web application infrastructure in a cloud environment. The infrastructure includes the following components:</a:t>
            </a:r>
          </a:p>
          <a:p>
            <a:pPr marL="0" indent="0">
              <a:buNone/>
            </a:pPr>
            <a:endParaRPr lang="en-US"/>
          </a:p>
          <a:p>
            <a:pPr marL="0" indent="0">
              <a:buNone/>
            </a:pPr>
            <a:r>
              <a:rPr lang="en-US"/>
              <a:t>1. An AWS EC2 instance to host the web application.</a:t>
            </a:r>
          </a:p>
          <a:p>
            <a:pPr marL="0" indent="0">
              <a:buNone/>
            </a:pPr>
            <a:r>
              <a:rPr lang="en-US"/>
              <a:t>2. An RDS database instance for storing application data.</a:t>
            </a:r>
          </a:p>
          <a:p>
            <a:pPr marL="0" indent="0">
              <a:buNone/>
            </a:pPr>
            <a:r>
              <a:rPr lang="en-US"/>
              <a:t>3. A security group to control incoming traffic to the EC2 instance.</a:t>
            </a:r>
          </a:p>
          <a:p>
            <a:pPr marL="0" indent="0">
              <a:buNone/>
            </a:pPr>
            <a:endParaRPr lang="en-US"/>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Example: Simple web application</a:t>
            </a:r>
          </a:p>
        </p:txBody>
      </p:sp>
    </p:spTree>
    <p:extLst>
      <p:ext uri="{BB962C8B-B14F-4D97-AF65-F5344CB8AC3E}">
        <p14:creationId xmlns:p14="http://schemas.microsoft.com/office/powerpoint/2010/main" val="39649634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0F94B477-1376-FF84-9652-1BAD83114299}"/>
              </a:ext>
            </a:extLst>
          </p:cNvPr>
          <p:cNvSpPr>
            <a:spLocks noGrp="1"/>
          </p:cNvSpPr>
          <p:nvPr>
            <p:ph sz="half" idx="1"/>
          </p:nvPr>
        </p:nvSpPr>
        <p:spPr>
          <a:solidFill>
            <a:srgbClr val="3D2683"/>
          </a:solidFill>
          <a:ln>
            <a:solidFill>
              <a:schemeClr val="bg2"/>
            </a:solidFill>
          </a:ln>
        </p:spPr>
        <p:txBody>
          <a:bodyPr>
            <a:normAutofit/>
          </a:bodyPr>
          <a:lstStyle/>
          <a:p>
            <a:pPr marL="0" indent="0">
              <a:buNone/>
            </a:pPr>
            <a:r>
              <a:rPr lang="en-US" sz="1400" b="0" noProof="1">
                <a:solidFill>
                  <a:srgbClr val="6A9955"/>
                </a:solidFill>
                <a:effectLst/>
                <a:latin typeface="Consolas" panose="020B0609020204030204" pitchFamily="49" charset="0"/>
              </a:rPr>
              <a:t># Initialize the AWS provider</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4EC9B0"/>
                </a:solidFill>
                <a:effectLst/>
                <a:latin typeface="Consolas" panose="020B0609020204030204" pitchFamily="49" charset="0"/>
              </a:rPr>
              <a:t>provider</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"aws"</a:t>
            </a:r>
            <a:r>
              <a:rPr lang="en-US" sz="1400" b="0" noProof="1">
                <a:solidFill>
                  <a:srgbClr val="D4D4D4"/>
                </a:solidFill>
                <a:effectLst/>
                <a:latin typeface="Consolas" panose="020B0609020204030204" pitchFamily="49" charset="0"/>
              </a:rPr>
              <a:t> {</a:t>
            </a:r>
          </a:p>
          <a:p>
            <a:pPr marL="0" indent="0">
              <a:buNone/>
            </a:pPr>
            <a:r>
              <a:rPr lang="en-US" sz="1400" b="0" noProof="1">
                <a:solidFill>
                  <a:srgbClr val="9CDCFE"/>
                </a:solidFill>
                <a:effectLst/>
                <a:latin typeface="Consolas" panose="020B0609020204030204" pitchFamily="49" charset="0"/>
              </a:rPr>
              <a:t>  region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"us-east-1"</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D4D4D4"/>
                </a:solidFill>
                <a:effectLst/>
                <a:latin typeface="Consolas" panose="020B0609020204030204" pitchFamily="49" charset="0"/>
              </a:rPr>
              <a:t>}</a:t>
            </a:r>
          </a:p>
        </p:txBody>
      </p:sp>
      <p:sp>
        <p:nvSpPr>
          <p:cNvPr id="6" name="Espace réservé du contenu 5">
            <a:extLst>
              <a:ext uri="{FF2B5EF4-FFF2-40B4-BE49-F238E27FC236}">
                <a16:creationId xmlns:a16="http://schemas.microsoft.com/office/drawing/2014/main" id="{F7AD3119-B54B-2092-A87A-A41B75DB6737}"/>
              </a:ext>
            </a:extLst>
          </p:cNvPr>
          <p:cNvSpPr>
            <a:spLocks noGrp="1"/>
          </p:cNvSpPr>
          <p:nvPr>
            <p:ph sz="half" idx="2"/>
          </p:nvPr>
        </p:nvSpPr>
        <p:spPr>
          <a:solidFill>
            <a:srgbClr val="3D2683"/>
          </a:solidFill>
          <a:ln>
            <a:solidFill>
              <a:schemeClr val="bg2"/>
            </a:solidFill>
          </a:ln>
        </p:spPr>
        <p:txBody>
          <a:bodyPr>
            <a:noAutofit/>
          </a:bodyPr>
          <a:lstStyle/>
          <a:p>
            <a:pPr marL="0" indent="0">
              <a:buNone/>
            </a:pPr>
            <a:r>
              <a:rPr lang="en-US" sz="1400" b="0" noProof="1">
                <a:solidFill>
                  <a:srgbClr val="6A9955"/>
                </a:solidFill>
                <a:effectLst/>
                <a:latin typeface="Consolas" panose="020B0609020204030204" pitchFamily="49" charset="0"/>
              </a:rPr>
              <a:t># Create an EC2 instance</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4EC9B0"/>
                </a:solidFill>
                <a:effectLst/>
                <a:latin typeface="Consolas" panose="020B0609020204030204" pitchFamily="49" charset="0"/>
              </a:rPr>
              <a:t>resource</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"aws_instance” "ex</a:t>
            </a:r>
            <a:r>
              <a:rPr lang="en-US" sz="1400" b="0" noProof="1">
                <a:solidFill>
                  <a:srgbClr val="D4D4D4"/>
                </a:solidFill>
                <a:effectLst/>
                <a:latin typeface="Consolas" panose="020B0609020204030204" pitchFamily="49" charset="0"/>
              </a:rPr>
              <a:t>ample_instance” {</a:t>
            </a:r>
          </a:p>
          <a:p>
            <a:pPr marL="0" indent="0">
              <a:buNone/>
            </a:pPr>
            <a:r>
              <a:rPr lang="en-US" sz="1400" b="0" noProof="1">
                <a:solidFill>
                  <a:srgbClr val="9CDCFE"/>
                </a:solidFill>
                <a:effectLst/>
                <a:latin typeface="Consolas" panose="020B0609020204030204" pitchFamily="49" charset="0"/>
              </a:rPr>
              <a:t>  ami</a:t>
            </a:r>
            <a:r>
              <a:rPr lang="en-US" sz="1400" b="0" noProof="1">
                <a:solidFill>
                  <a:srgbClr val="D4D4D4"/>
                </a:solidFill>
                <a:effectLst/>
                <a:latin typeface="Consolas" panose="020B0609020204030204" pitchFamily="49" charset="0"/>
              </a:rPr>
              <a:t> = </a:t>
            </a:r>
            <a:r>
              <a:rPr lang="en-US" sz="1400" b="0" noProof="1">
                <a:solidFill>
                  <a:srgbClr val="CE9178"/>
                </a:solidFill>
                <a:effectLst/>
                <a:latin typeface="Consolas" panose="020B0609020204030204" pitchFamily="49" charset="0"/>
              </a:rPr>
              <a:t>"ami-0c55b159cbfafe1f0"</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instance_type</a:t>
            </a:r>
            <a:r>
              <a:rPr lang="en-US" sz="1400" b="0" noProof="1">
                <a:solidFill>
                  <a:srgbClr val="D4D4D4"/>
                </a:solidFill>
                <a:effectLst/>
                <a:latin typeface="Consolas" panose="020B0609020204030204" pitchFamily="49" charset="0"/>
              </a:rPr>
              <a:t> = </a:t>
            </a:r>
            <a:r>
              <a:rPr lang="en-US" sz="1400" b="0" noProof="1">
                <a:solidFill>
                  <a:srgbClr val="CE9178"/>
                </a:solidFill>
                <a:effectLst/>
                <a:latin typeface="Consolas" panose="020B0609020204030204" pitchFamily="49" charset="0"/>
              </a:rPr>
              <a:t>"t2.micro"</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6A9955"/>
                </a:solidFill>
                <a:effectLst/>
                <a:latin typeface="Consolas" panose="020B0609020204030204" pitchFamily="49" charset="0"/>
              </a:rPr>
              <a:t>  # Associate an Elastic IP address</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associate_public_ip_address</a:t>
            </a:r>
            <a:r>
              <a:rPr lang="en-US" sz="1400" b="0" noProof="1">
                <a:solidFill>
                  <a:srgbClr val="D4D4D4"/>
                </a:solidFill>
                <a:effectLst/>
                <a:latin typeface="Consolas" panose="020B0609020204030204" pitchFamily="49" charset="0"/>
              </a:rPr>
              <a:t> = </a:t>
            </a:r>
            <a:r>
              <a:rPr lang="en-US" sz="1400" b="0" noProof="1">
                <a:solidFill>
                  <a:srgbClr val="569CD6"/>
                </a:solidFill>
                <a:effectLst/>
                <a:latin typeface="Consolas" panose="020B0609020204030204" pitchFamily="49" charset="0"/>
              </a:rPr>
              <a:t>true</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6A9955"/>
                </a:solidFill>
                <a:effectLst/>
                <a:latin typeface="Consolas" panose="020B0609020204030204" pitchFamily="49" charset="0"/>
              </a:rPr>
              <a:t>  # Configure the security group</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security_groups</a:t>
            </a:r>
            <a:r>
              <a:rPr lang="en-US" sz="1400" b="0" noProof="1">
                <a:solidFill>
                  <a:srgbClr val="D4D4D4"/>
                </a:solidFill>
                <a:effectLst/>
                <a:latin typeface="Consolas" panose="020B0609020204030204" pitchFamily="49" charset="0"/>
              </a:rPr>
              <a:t> =[</a:t>
            </a:r>
          </a:p>
          <a:p>
            <a:pPr marL="0" indent="0">
              <a:buNone/>
            </a:pPr>
            <a:r>
              <a:rPr lang="en-US" sz="1400" noProof="1">
                <a:solidFill>
                  <a:srgbClr val="D4D4D4"/>
                </a:solidFill>
                <a:latin typeface="Consolas" panose="020B0609020204030204" pitchFamily="49" charset="0"/>
              </a:rPr>
              <a:t>    </a:t>
            </a:r>
            <a:r>
              <a:rPr lang="en-US" sz="1400" b="0" noProof="1">
                <a:solidFill>
                  <a:srgbClr val="D4D4D4"/>
                </a:solidFill>
                <a:effectLst/>
                <a:latin typeface="Consolas" panose="020B0609020204030204" pitchFamily="49" charset="0"/>
              </a:rPr>
              <a:t>aws_security_group.example_sg.name</a:t>
            </a:r>
          </a:p>
          <a:p>
            <a:pPr marL="0" indent="0">
              <a:buNone/>
            </a:pPr>
            <a:r>
              <a:rPr lang="en-US" sz="1400" noProof="1">
                <a:solidFill>
                  <a:srgbClr val="D4D4D4"/>
                </a:solidFill>
                <a:latin typeface="Consolas" panose="020B0609020204030204" pitchFamily="49" charset="0"/>
              </a:rPr>
              <a:t>  </a:t>
            </a:r>
            <a:r>
              <a:rPr lang="en-US" sz="1400" b="0" noProof="1">
                <a:solidFill>
                  <a:srgbClr val="D4D4D4"/>
                </a:solidFill>
                <a:effectLst/>
                <a:latin typeface="Consolas" panose="020B0609020204030204" pitchFamily="49" charset="0"/>
              </a:rPr>
              <a:t>]</a:t>
            </a:r>
          </a:p>
          <a:p>
            <a:pPr marL="0" indent="0">
              <a:buNone/>
            </a:pPr>
            <a:r>
              <a:rPr lang="en-US" sz="1400" b="0" noProof="1">
                <a:solidFill>
                  <a:srgbClr val="D4D4D4"/>
                </a:solidFill>
                <a:effectLst/>
                <a:latin typeface="Consolas" panose="020B0609020204030204" pitchFamily="49" charset="0"/>
              </a:rPr>
              <a:t>}</a:t>
            </a:r>
          </a:p>
        </p:txBody>
      </p:sp>
      <p:sp>
        <p:nvSpPr>
          <p:cNvPr id="7" name="Espace réservé du texte 6">
            <a:extLst>
              <a:ext uri="{FF2B5EF4-FFF2-40B4-BE49-F238E27FC236}">
                <a16:creationId xmlns:a16="http://schemas.microsoft.com/office/drawing/2014/main" id="{4E3AB641-ADC8-86D2-D513-C812898C41B3}"/>
              </a:ext>
            </a:extLst>
          </p:cNvPr>
          <p:cNvSpPr>
            <a:spLocks noGrp="1"/>
          </p:cNvSpPr>
          <p:nvPr>
            <p:ph type="body" sz="quarter" idx="14"/>
          </p:nvPr>
        </p:nvSpPr>
        <p:spPr/>
        <p:txBody>
          <a:bodyPr/>
          <a:lstStyle/>
          <a:p>
            <a:r>
              <a:rPr lang="en-US"/>
              <a:t>5. Terraform concepts</a:t>
            </a:r>
          </a:p>
        </p:txBody>
      </p:sp>
      <p:sp>
        <p:nvSpPr>
          <p:cNvPr id="8" name="Espace réservé du texte 7">
            <a:extLst>
              <a:ext uri="{FF2B5EF4-FFF2-40B4-BE49-F238E27FC236}">
                <a16:creationId xmlns:a16="http://schemas.microsoft.com/office/drawing/2014/main" id="{4DA51889-B39B-D947-BB97-5801514FF351}"/>
              </a:ext>
            </a:extLst>
          </p:cNvPr>
          <p:cNvSpPr>
            <a:spLocks noGrp="1"/>
          </p:cNvSpPr>
          <p:nvPr>
            <p:ph type="body" sz="quarter" idx="15"/>
          </p:nvPr>
        </p:nvSpPr>
        <p:spPr/>
        <p:txBody>
          <a:bodyPr/>
          <a:lstStyle/>
          <a:p>
            <a:r>
              <a:rPr lang="en-US"/>
              <a:t>Example: Simple web application – Code snippets</a:t>
            </a:r>
          </a:p>
        </p:txBody>
      </p:sp>
    </p:spTree>
    <p:extLst>
      <p:ext uri="{BB962C8B-B14F-4D97-AF65-F5344CB8AC3E}">
        <p14:creationId xmlns:p14="http://schemas.microsoft.com/office/powerpoint/2010/main" val="2315199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0F94B477-1376-FF84-9652-1BAD83114299}"/>
              </a:ext>
            </a:extLst>
          </p:cNvPr>
          <p:cNvSpPr>
            <a:spLocks noGrp="1"/>
          </p:cNvSpPr>
          <p:nvPr>
            <p:ph sz="half" idx="1"/>
          </p:nvPr>
        </p:nvSpPr>
        <p:spPr>
          <a:solidFill>
            <a:srgbClr val="3D2683"/>
          </a:solidFill>
          <a:ln>
            <a:solidFill>
              <a:schemeClr val="bg2"/>
            </a:solidFill>
          </a:ln>
        </p:spPr>
        <p:txBody>
          <a:bodyPr>
            <a:normAutofit/>
          </a:bodyPr>
          <a:lstStyle/>
          <a:p>
            <a:pPr marL="0" indent="0">
              <a:buNone/>
            </a:pPr>
            <a:r>
              <a:rPr lang="en-US" sz="1400" b="0" noProof="1">
                <a:solidFill>
                  <a:srgbClr val="6A9955"/>
                </a:solidFill>
                <a:effectLst/>
                <a:latin typeface="Consolas" panose="020B0609020204030204" pitchFamily="49" charset="0"/>
              </a:rPr>
              <a:t># Create an RDS database</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4EC9B0"/>
                </a:solidFill>
                <a:effectLst/>
                <a:latin typeface="Consolas" panose="020B0609020204030204" pitchFamily="49" charset="0"/>
              </a:rPr>
              <a:t>resource</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"aws_db_instance"</a:t>
            </a:r>
            <a:r>
              <a:rPr lang="en-US" sz="1400" b="0" noProof="1">
                <a:solidFill>
                  <a:srgbClr val="D4D4D4"/>
                </a:solidFill>
                <a:effectLst/>
                <a:latin typeface="Consolas" panose="020B0609020204030204" pitchFamily="49" charset="0"/>
              </a:rPr>
              <a:t> </a:t>
            </a:r>
            <a:r>
              <a:rPr lang="en-US" sz="1400" b="0" noProof="1">
                <a:solidFill>
                  <a:srgbClr val="4FC1FF"/>
                </a:solidFill>
                <a:effectLst/>
                <a:latin typeface="Consolas" panose="020B0609020204030204" pitchFamily="49" charset="0"/>
              </a:rPr>
              <a:t>"example_db"</a:t>
            </a:r>
            <a:r>
              <a:rPr lang="en-US" sz="1400" b="0" noProof="1">
                <a:solidFill>
                  <a:srgbClr val="D4D4D4"/>
                </a:solidFill>
                <a:effectLst/>
                <a:latin typeface="Consolas" panose="020B0609020204030204" pitchFamily="49" charset="0"/>
              </a:rPr>
              <a:t> {</a:t>
            </a:r>
          </a:p>
          <a:p>
            <a:pPr marL="0" indent="0">
              <a:buNone/>
            </a:pPr>
            <a:r>
              <a:rPr lang="en-US" sz="1400" b="0" noProof="1">
                <a:solidFill>
                  <a:srgbClr val="9CDCFE"/>
                </a:solidFill>
                <a:effectLst/>
                <a:latin typeface="Consolas" panose="020B0609020204030204" pitchFamily="49" charset="0"/>
              </a:rPr>
              <a:t>  allocated_storage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B5CEA8"/>
                </a:solidFill>
                <a:effectLst/>
                <a:latin typeface="Consolas" panose="020B0609020204030204" pitchFamily="49" charset="0"/>
              </a:rPr>
              <a:t>20</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storage_type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"gp2"</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engine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"mysql"</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engine_version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"5.7"</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instance_class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"db.t2.micro"</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username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"dbuser"</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9CDCFE"/>
                </a:solidFill>
                <a:effectLst/>
                <a:latin typeface="Consolas" panose="020B0609020204030204" pitchFamily="49" charset="0"/>
              </a:rPr>
              <a:t>  password </a:t>
            </a:r>
            <a:r>
              <a:rPr lang="en-US" sz="1400" b="0" noProof="1">
                <a:solidFill>
                  <a:srgbClr val="D4D4D4"/>
                </a:solidFill>
                <a:effectLst/>
                <a:latin typeface="Consolas" panose="020B0609020204030204" pitchFamily="49" charset="0"/>
              </a:rPr>
              <a:t>=</a:t>
            </a:r>
            <a:r>
              <a:rPr lang="en-US" sz="1400" b="0" noProof="1">
                <a:solidFill>
                  <a:srgbClr val="9CDCFE"/>
                </a:solidFill>
                <a:effectLst/>
                <a:latin typeface="Consolas" panose="020B0609020204030204" pitchFamily="49" charset="0"/>
              </a:rPr>
              <a:t> </a:t>
            </a:r>
            <a:r>
              <a:rPr lang="en-US" sz="1400" b="0" noProof="1">
                <a:solidFill>
                  <a:srgbClr val="CE9178"/>
                </a:solidFill>
                <a:effectLst/>
                <a:latin typeface="Consolas" panose="020B0609020204030204" pitchFamily="49" charset="0"/>
              </a:rPr>
              <a:t>"supersecret"</a:t>
            </a:r>
            <a:endParaRPr lang="en-US" sz="1400" b="0" noProof="1">
              <a:solidFill>
                <a:srgbClr val="D4D4D4"/>
              </a:solidFill>
              <a:effectLst/>
              <a:latin typeface="Consolas" panose="020B0609020204030204" pitchFamily="49" charset="0"/>
            </a:endParaRPr>
          </a:p>
          <a:p>
            <a:pPr marL="0" indent="0">
              <a:buNone/>
            </a:pPr>
            <a:r>
              <a:rPr lang="en-US" sz="1400" b="0" noProof="1">
                <a:solidFill>
                  <a:srgbClr val="D4D4D4"/>
                </a:solidFill>
                <a:effectLst/>
                <a:latin typeface="Consolas" panose="020B0609020204030204" pitchFamily="49" charset="0"/>
              </a:rPr>
              <a:t>}</a:t>
            </a:r>
          </a:p>
        </p:txBody>
      </p:sp>
      <p:sp>
        <p:nvSpPr>
          <p:cNvPr id="6" name="Espace réservé du contenu 5">
            <a:extLst>
              <a:ext uri="{FF2B5EF4-FFF2-40B4-BE49-F238E27FC236}">
                <a16:creationId xmlns:a16="http://schemas.microsoft.com/office/drawing/2014/main" id="{F7AD3119-B54B-2092-A87A-A41B75DB6737}"/>
              </a:ext>
            </a:extLst>
          </p:cNvPr>
          <p:cNvSpPr>
            <a:spLocks noGrp="1"/>
          </p:cNvSpPr>
          <p:nvPr>
            <p:ph sz="half" idx="2"/>
          </p:nvPr>
        </p:nvSpPr>
        <p:spPr>
          <a:solidFill>
            <a:srgbClr val="3D2683"/>
          </a:solidFill>
          <a:ln>
            <a:solidFill>
              <a:schemeClr val="bg2"/>
            </a:solidFill>
          </a:ln>
        </p:spPr>
        <p:txBody>
          <a:bodyPr>
            <a:normAutofit/>
          </a:bodyPr>
          <a:lstStyle/>
          <a:p>
            <a:pPr marL="0" indent="0">
              <a:buNone/>
            </a:pPr>
            <a:r>
              <a:rPr lang="en-US" sz="1200" b="0" noProof="1">
                <a:solidFill>
                  <a:srgbClr val="6A9955"/>
                </a:solidFill>
                <a:effectLst/>
                <a:latin typeface="Consolas" panose="020B0609020204030204" pitchFamily="49" charset="0"/>
              </a:rPr>
              <a:t># Create a security group</a:t>
            </a:r>
            <a:endParaRPr lang="en-US" sz="1200" b="0" noProof="1">
              <a:solidFill>
                <a:srgbClr val="D4D4D4"/>
              </a:solidFill>
              <a:effectLst/>
              <a:latin typeface="Consolas" panose="020B0609020204030204" pitchFamily="49" charset="0"/>
            </a:endParaRPr>
          </a:p>
          <a:p>
            <a:pPr marL="0" indent="0">
              <a:buNone/>
            </a:pPr>
            <a:r>
              <a:rPr lang="en-US" sz="1200" b="0" noProof="1">
                <a:solidFill>
                  <a:srgbClr val="4EC9B0"/>
                </a:solidFill>
                <a:effectLst/>
                <a:latin typeface="Consolas" panose="020B0609020204030204" pitchFamily="49" charset="0"/>
              </a:rPr>
              <a:t>resource</a:t>
            </a:r>
            <a:r>
              <a:rPr lang="en-US" sz="1200" b="0" noProof="1">
                <a:solidFill>
                  <a:srgbClr val="D4D4D4"/>
                </a:solidFill>
                <a:effectLst/>
                <a:latin typeface="Consolas" panose="020B0609020204030204" pitchFamily="49" charset="0"/>
              </a:rPr>
              <a:t> </a:t>
            </a:r>
            <a:r>
              <a:rPr lang="en-US" sz="1200" b="0" noProof="1">
                <a:solidFill>
                  <a:srgbClr val="4FC1FF"/>
                </a:solidFill>
                <a:effectLst/>
                <a:latin typeface="Consolas" panose="020B0609020204030204" pitchFamily="49" charset="0"/>
              </a:rPr>
              <a:t>"aws_security_group"</a:t>
            </a:r>
            <a:r>
              <a:rPr lang="en-US" sz="1200" b="0" noProof="1">
                <a:solidFill>
                  <a:srgbClr val="D4D4D4"/>
                </a:solidFill>
                <a:effectLst/>
                <a:latin typeface="Consolas" panose="020B0609020204030204" pitchFamily="49" charset="0"/>
              </a:rPr>
              <a:t> </a:t>
            </a:r>
            <a:r>
              <a:rPr lang="en-US" sz="1200" b="0" noProof="1">
                <a:solidFill>
                  <a:srgbClr val="4FC1FF"/>
                </a:solidFill>
                <a:effectLst/>
                <a:latin typeface="Consolas" panose="020B0609020204030204" pitchFamily="49" charset="0"/>
              </a:rPr>
              <a:t>"example_sg"</a:t>
            </a:r>
            <a:r>
              <a:rPr lang="en-US" sz="1200" b="0" noProof="1">
                <a:solidFill>
                  <a:srgbClr val="D4D4D4"/>
                </a:solidFill>
                <a:effectLst/>
                <a:latin typeface="Consolas" panose="020B0609020204030204" pitchFamily="49" charset="0"/>
              </a:rPr>
              <a:t> {</a:t>
            </a:r>
          </a:p>
          <a:p>
            <a:pPr marL="0" indent="0">
              <a:buNone/>
            </a:pPr>
            <a:r>
              <a:rPr lang="en-US" sz="1200" b="0" noProof="1">
                <a:solidFill>
                  <a:srgbClr val="9CDCFE"/>
                </a:solidFill>
                <a:effectLst/>
                <a:latin typeface="Consolas" panose="020B0609020204030204" pitchFamily="49" charset="0"/>
              </a:rPr>
              <a:t>  name_prefix </a:t>
            </a:r>
            <a:r>
              <a:rPr lang="en-US" sz="1200" b="0" noProof="1">
                <a:solidFill>
                  <a:srgbClr val="D4D4D4"/>
                </a:solidFill>
                <a:effectLst/>
                <a:latin typeface="Consolas" panose="020B0609020204030204" pitchFamily="49" charset="0"/>
              </a:rPr>
              <a:t>=</a:t>
            </a:r>
            <a:r>
              <a:rPr lang="en-US" sz="1200" b="0" noProof="1">
                <a:solidFill>
                  <a:srgbClr val="9CDCFE"/>
                </a:solidFill>
                <a:effectLst/>
                <a:latin typeface="Consolas" panose="020B0609020204030204" pitchFamily="49" charset="0"/>
              </a:rPr>
              <a:t> </a:t>
            </a:r>
            <a:r>
              <a:rPr lang="en-US" sz="1200" b="0" noProof="1">
                <a:solidFill>
                  <a:srgbClr val="CE9178"/>
                </a:solidFill>
                <a:effectLst/>
                <a:latin typeface="Consolas" panose="020B0609020204030204" pitchFamily="49" charset="0"/>
              </a:rPr>
              <a:t>"example-sg-"</a:t>
            </a:r>
            <a:endParaRPr lang="en-US" sz="1200" b="0" noProof="1">
              <a:solidFill>
                <a:srgbClr val="D4D4D4"/>
              </a:solidFill>
              <a:effectLst/>
              <a:latin typeface="Consolas" panose="020B0609020204030204" pitchFamily="49" charset="0"/>
            </a:endParaRPr>
          </a:p>
          <a:p>
            <a:pPr marL="0" indent="0">
              <a:buNone/>
            </a:pPr>
            <a:r>
              <a:rPr lang="en-US" sz="1200" b="0" noProof="1">
                <a:solidFill>
                  <a:srgbClr val="6A9955"/>
                </a:solidFill>
                <a:effectLst/>
                <a:latin typeface="Consolas" panose="020B0609020204030204" pitchFamily="49" charset="0"/>
              </a:rPr>
              <a:t>  # Define inbound rules for HTTP</a:t>
            </a:r>
            <a:endParaRPr lang="en-US" sz="1200" b="0" noProof="1">
              <a:solidFill>
                <a:srgbClr val="D4D4D4"/>
              </a:solidFill>
              <a:effectLst/>
              <a:latin typeface="Consolas" panose="020B0609020204030204" pitchFamily="49" charset="0"/>
            </a:endParaRPr>
          </a:p>
          <a:p>
            <a:pPr marL="0" indent="0">
              <a:buNone/>
            </a:pPr>
            <a:r>
              <a:rPr lang="en-US" sz="1200" b="0" noProof="1">
                <a:solidFill>
                  <a:srgbClr val="4EC9B0"/>
                </a:solidFill>
                <a:effectLst/>
                <a:latin typeface="Consolas" panose="020B0609020204030204" pitchFamily="49" charset="0"/>
              </a:rPr>
              <a:t>  ingress</a:t>
            </a:r>
            <a:r>
              <a:rPr lang="en-US" sz="1200" b="0" noProof="1">
                <a:solidFill>
                  <a:srgbClr val="D4D4D4"/>
                </a:solidFill>
                <a:effectLst/>
                <a:latin typeface="Consolas" panose="020B0609020204030204" pitchFamily="49" charset="0"/>
              </a:rPr>
              <a:t> {</a:t>
            </a:r>
          </a:p>
          <a:p>
            <a:pPr marL="0" indent="0">
              <a:buNone/>
            </a:pPr>
            <a:r>
              <a:rPr lang="en-US" sz="1200" b="0" noProof="1">
                <a:solidFill>
                  <a:srgbClr val="9CDCFE"/>
                </a:solidFill>
                <a:effectLst/>
                <a:latin typeface="Consolas" panose="020B0609020204030204" pitchFamily="49" charset="0"/>
              </a:rPr>
              <a:t>    from_port </a:t>
            </a:r>
            <a:r>
              <a:rPr lang="en-US" sz="1200" b="0" noProof="1">
                <a:solidFill>
                  <a:srgbClr val="D4D4D4"/>
                </a:solidFill>
                <a:effectLst/>
                <a:latin typeface="Consolas" panose="020B0609020204030204" pitchFamily="49" charset="0"/>
              </a:rPr>
              <a:t>=</a:t>
            </a:r>
            <a:r>
              <a:rPr lang="en-US" sz="1200" b="0" noProof="1">
                <a:solidFill>
                  <a:srgbClr val="9CDCFE"/>
                </a:solidFill>
                <a:effectLst/>
                <a:latin typeface="Consolas" panose="020B0609020204030204" pitchFamily="49" charset="0"/>
              </a:rPr>
              <a:t> </a:t>
            </a:r>
            <a:r>
              <a:rPr lang="en-US" sz="1200" b="0" noProof="1">
                <a:solidFill>
                  <a:srgbClr val="B5CEA8"/>
                </a:solidFill>
                <a:effectLst/>
                <a:latin typeface="Consolas" panose="020B0609020204030204" pitchFamily="49" charset="0"/>
              </a:rPr>
              <a:t>80</a:t>
            </a:r>
            <a:endParaRPr lang="en-US" sz="1200" b="0" noProof="1">
              <a:solidFill>
                <a:srgbClr val="D4D4D4"/>
              </a:solidFill>
              <a:effectLst/>
              <a:latin typeface="Consolas" panose="020B0609020204030204" pitchFamily="49" charset="0"/>
            </a:endParaRPr>
          </a:p>
          <a:p>
            <a:pPr marL="0" indent="0">
              <a:buNone/>
            </a:pPr>
            <a:r>
              <a:rPr lang="en-US" sz="1200" b="0" noProof="1">
                <a:solidFill>
                  <a:srgbClr val="9CDCFE"/>
                </a:solidFill>
                <a:effectLst/>
                <a:latin typeface="Consolas" panose="020B0609020204030204" pitchFamily="49" charset="0"/>
              </a:rPr>
              <a:t>    to_port </a:t>
            </a:r>
            <a:r>
              <a:rPr lang="en-US" sz="1200" b="0" noProof="1">
                <a:solidFill>
                  <a:srgbClr val="D4D4D4"/>
                </a:solidFill>
                <a:effectLst/>
                <a:latin typeface="Consolas" panose="020B0609020204030204" pitchFamily="49" charset="0"/>
              </a:rPr>
              <a:t>=</a:t>
            </a:r>
            <a:r>
              <a:rPr lang="en-US" sz="1200" b="0" noProof="1">
                <a:solidFill>
                  <a:srgbClr val="9CDCFE"/>
                </a:solidFill>
                <a:effectLst/>
                <a:latin typeface="Consolas" panose="020B0609020204030204" pitchFamily="49" charset="0"/>
              </a:rPr>
              <a:t> </a:t>
            </a:r>
            <a:r>
              <a:rPr lang="en-US" sz="1200" b="0" noProof="1">
                <a:solidFill>
                  <a:srgbClr val="B5CEA8"/>
                </a:solidFill>
                <a:effectLst/>
                <a:latin typeface="Consolas" panose="020B0609020204030204" pitchFamily="49" charset="0"/>
              </a:rPr>
              <a:t>80</a:t>
            </a:r>
            <a:endParaRPr lang="en-US" sz="1200" b="0" noProof="1">
              <a:solidFill>
                <a:srgbClr val="D4D4D4"/>
              </a:solidFill>
              <a:effectLst/>
              <a:latin typeface="Consolas" panose="020B0609020204030204" pitchFamily="49" charset="0"/>
            </a:endParaRPr>
          </a:p>
          <a:p>
            <a:pPr marL="0" indent="0">
              <a:buNone/>
            </a:pPr>
            <a:r>
              <a:rPr lang="en-US" sz="1200" b="0" noProof="1">
                <a:solidFill>
                  <a:srgbClr val="9CDCFE"/>
                </a:solidFill>
                <a:effectLst/>
                <a:latin typeface="Consolas" panose="020B0609020204030204" pitchFamily="49" charset="0"/>
              </a:rPr>
              <a:t>    protocol </a:t>
            </a:r>
            <a:r>
              <a:rPr lang="en-US" sz="1200" b="0" noProof="1">
                <a:solidFill>
                  <a:srgbClr val="D4D4D4"/>
                </a:solidFill>
                <a:effectLst/>
                <a:latin typeface="Consolas" panose="020B0609020204030204" pitchFamily="49" charset="0"/>
              </a:rPr>
              <a:t>=</a:t>
            </a:r>
            <a:r>
              <a:rPr lang="en-US" sz="1200" b="0" noProof="1">
                <a:solidFill>
                  <a:srgbClr val="9CDCFE"/>
                </a:solidFill>
                <a:effectLst/>
                <a:latin typeface="Consolas" panose="020B0609020204030204" pitchFamily="49" charset="0"/>
              </a:rPr>
              <a:t> </a:t>
            </a:r>
            <a:r>
              <a:rPr lang="en-US" sz="1200" b="0" noProof="1">
                <a:solidFill>
                  <a:srgbClr val="CE9178"/>
                </a:solidFill>
                <a:effectLst/>
                <a:latin typeface="Consolas" panose="020B0609020204030204" pitchFamily="49" charset="0"/>
              </a:rPr>
              <a:t>"tcp"</a:t>
            </a:r>
            <a:endParaRPr lang="en-US" sz="1200" b="0" noProof="1">
              <a:solidFill>
                <a:srgbClr val="D4D4D4"/>
              </a:solidFill>
              <a:effectLst/>
              <a:latin typeface="Consolas" panose="020B0609020204030204" pitchFamily="49" charset="0"/>
            </a:endParaRPr>
          </a:p>
          <a:p>
            <a:pPr marL="0" indent="0">
              <a:buNone/>
            </a:pPr>
            <a:r>
              <a:rPr lang="en-US" sz="1200" b="0" noProof="1">
                <a:solidFill>
                  <a:srgbClr val="9CDCFE"/>
                </a:solidFill>
                <a:effectLst/>
                <a:latin typeface="Consolas" panose="020B0609020204030204" pitchFamily="49" charset="0"/>
              </a:rPr>
              <a:t>    cidr_blocks </a:t>
            </a:r>
            <a:r>
              <a:rPr lang="en-US" sz="1200" b="0" noProof="1">
                <a:solidFill>
                  <a:srgbClr val="D4D4D4"/>
                </a:solidFill>
                <a:effectLst/>
                <a:latin typeface="Consolas" panose="020B0609020204030204" pitchFamily="49" charset="0"/>
              </a:rPr>
              <a:t>=</a:t>
            </a:r>
            <a:r>
              <a:rPr lang="en-US" sz="1200" b="0" noProof="1">
                <a:solidFill>
                  <a:srgbClr val="9CDCFE"/>
                </a:solidFill>
                <a:effectLst/>
                <a:latin typeface="Consolas" panose="020B0609020204030204" pitchFamily="49" charset="0"/>
              </a:rPr>
              <a:t> </a:t>
            </a:r>
            <a:r>
              <a:rPr lang="en-US" sz="1200" b="0" noProof="1">
                <a:solidFill>
                  <a:srgbClr val="D4D4D4"/>
                </a:solidFill>
                <a:effectLst/>
                <a:latin typeface="Consolas" panose="020B0609020204030204" pitchFamily="49" charset="0"/>
              </a:rPr>
              <a:t>[</a:t>
            </a:r>
            <a:r>
              <a:rPr lang="en-US" sz="1200" b="0" noProof="1">
                <a:solidFill>
                  <a:srgbClr val="CE9178"/>
                </a:solidFill>
                <a:effectLst/>
                <a:latin typeface="Consolas" panose="020B0609020204030204" pitchFamily="49" charset="0"/>
              </a:rPr>
              <a:t>"0.0.0.0/0"</a:t>
            </a:r>
            <a:r>
              <a:rPr lang="en-US" sz="1200" b="0" noProof="1">
                <a:solidFill>
                  <a:srgbClr val="D4D4D4"/>
                </a:solidFill>
                <a:effectLst/>
                <a:latin typeface="Consolas" panose="020B0609020204030204" pitchFamily="49" charset="0"/>
              </a:rPr>
              <a:t>]</a:t>
            </a:r>
          </a:p>
          <a:p>
            <a:pPr marL="0" indent="0">
              <a:buNone/>
            </a:pPr>
            <a:r>
              <a:rPr lang="en-US" sz="1200" b="0" noProof="1">
                <a:solidFill>
                  <a:srgbClr val="D4D4D4"/>
                </a:solidFill>
                <a:effectLst/>
                <a:latin typeface="Consolas" panose="020B0609020204030204" pitchFamily="49" charset="0"/>
              </a:rPr>
              <a:t>  }</a:t>
            </a:r>
          </a:p>
          <a:p>
            <a:pPr marL="0" indent="0">
              <a:buNone/>
            </a:pPr>
            <a:r>
              <a:rPr lang="en-US" sz="1200" b="0" noProof="1">
                <a:solidFill>
                  <a:srgbClr val="D4D4D4"/>
                </a:solidFill>
                <a:effectLst/>
                <a:latin typeface="Consolas" panose="020B0609020204030204" pitchFamily="49" charset="0"/>
              </a:rPr>
              <a:t>}</a:t>
            </a:r>
          </a:p>
        </p:txBody>
      </p:sp>
      <p:sp>
        <p:nvSpPr>
          <p:cNvPr id="7" name="Espace réservé du texte 6">
            <a:extLst>
              <a:ext uri="{FF2B5EF4-FFF2-40B4-BE49-F238E27FC236}">
                <a16:creationId xmlns:a16="http://schemas.microsoft.com/office/drawing/2014/main" id="{4E3AB641-ADC8-86D2-D513-C812898C41B3}"/>
              </a:ext>
            </a:extLst>
          </p:cNvPr>
          <p:cNvSpPr>
            <a:spLocks noGrp="1"/>
          </p:cNvSpPr>
          <p:nvPr>
            <p:ph type="body" sz="quarter" idx="14"/>
          </p:nvPr>
        </p:nvSpPr>
        <p:spPr/>
        <p:txBody>
          <a:bodyPr/>
          <a:lstStyle/>
          <a:p>
            <a:r>
              <a:rPr lang="en-US"/>
              <a:t>5. Terraform concepts</a:t>
            </a:r>
          </a:p>
        </p:txBody>
      </p:sp>
      <p:sp>
        <p:nvSpPr>
          <p:cNvPr id="8" name="Espace réservé du texte 7">
            <a:extLst>
              <a:ext uri="{FF2B5EF4-FFF2-40B4-BE49-F238E27FC236}">
                <a16:creationId xmlns:a16="http://schemas.microsoft.com/office/drawing/2014/main" id="{4DA51889-B39B-D947-BB97-5801514FF351}"/>
              </a:ext>
            </a:extLst>
          </p:cNvPr>
          <p:cNvSpPr>
            <a:spLocks noGrp="1"/>
          </p:cNvSpPr>
          <p:nvPr>
            <p:ph type="body" sz="quarter" idx="15"/>
          </p:nvPr>
        </p:nvSpPr>
        <p:spPr/>
        <p:txBody>
          <a:bodyPr/>
          <a:lstStyle/>
          <a:p>
            <a:r>
              <a:rPr lang="en-US"/>
              <a:t>Example: Simple web application – Code snippets</a:t>
            </a:r>
          </a:p>
        </p:txBody>
      </p:sp>
    </p:spTree>
    <p:extLst>
      <p:ext uri="{BB962C8B-B14F-4D97-AF65-F5344CB8AC3E}">
        <p14:creationId xmlns:p14="http://schemas.microsoft.com/office/powerpoint/2010/main" val="34576211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normAutofit fontScale="92500"/>
          </a:bodyPr>
          <a:lstStyle/>
          <a:p>
            <a:pPr marL="0" indent="0">
              <a:buNone/>
            </a:pPr>
            <a:r>
              <a:rPr lang="en-US">
                <a:latin typeface="Consolas" panose="020B0609020204030204" pitchFamily="49" charset="0"/>
                <a:cs typeface="Consolas" panose="020B0609020204030204" pitchFamily="49" charset="0"/>
              </a:rPr>
              <a:t>terraform </a:t>
            </a:r>
            <a:r>
              <a:rPr lang="en-US" err="1">
                <a:latin typeface="Consolas" panose="020B0609020204030204" pitchFamily="49" charset="0"/>
                <a:cs typeface="Consolas" panose="020B0609020204030204" pitchFamily="49" charset="0"/>
              </a:rPr>
              <a:t>init</a:t>
            </a:r>
            <a:r>
              <a:rPr lang="en-US"/>
              <a:t>:</a:t>
            </a:r>
          </a:p>
          <a:p>
            <a:r>
              <a:rPr lang="en-US"/>
              <a:t>Downloads and Installs the AWS plugin</a:t>
            </a:r>
          </a:p>
          <a:p>
            <a:pPr marL="0" indent="0">
              <a:buNone/>
            </a:pPr>
            <a:r>
              <a:rPr lang="en-US">
                <a:latin typeface="Consolas" panose="020B0609020204030204" pitchFamily="49" charset="0"/>
                <a:cs typeface="Consolas" panose="020B0609020204030204" pitchFamily="49" charset="0"/>
              </a:rPr>
              <a:t>terraform plan</a:t>
            </a:r>
            <a:r>
              <a:rPr lang="en-US"/>
              <a:t>:</a:t>
            </a:r>
          </a:p>
          <a:p>
            <a:r>
              <a:rPr lang="en-US"/>
              <a:t>Initially the state file is empty as there are not yet provisioned resources.</a:t>
            </a:r>
          </a:p>
          <a:p>
            <a:r>
              <a:rPr lang="en-US"/>
              <a:t>The generated plan consist roughly in:</a:t>
            </a:r>
          </a:p>
          <a:p>
            <a:pPr lvl="1"/>
            <a:r>
              <a:rPr lang="en-US"/>
              <a:t>Create an EC2 instance with specific configuration (e.g., instance type, AMI).</a:t>
            </a:r>
          </a:p>
          <a:p>
            <a:pPr lvl="1"/>
            <a:r>
              <a:rPr lang="en-US"/>
              <a:t>Create an RDS database instance with specific settings (e.g., engine type, storage).</a:t>
            </a:r>
          </a:p>
          <a:p>
            <a:pPr lvl="1"/>
            <a:r>
              <a:rPr lang="en-US"/>
              <a:t>Create a security group and associates it with the EC2 instance.</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Example: Simple web application – Execution overview</a:t>
            </a:r>
          </a:p>
        </p:txBody>
      </p:sp>
    </p:spTree>
    <p:extLst>
      <p:ext uri="{BB962C8B-B14F-4D97-AF65-F5344CB8AC3E}">
        <p14:creationId xmlns:p14="http://schemas.microsoft.com/office/powerpoint/2010/main" val="31394324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normAutofit/>
          </a:bodyPr>
          <a:lstStyle/>
          <a:p>
            <a:pPr marL="0" indent="0">
              <a:buNone/>
            </a:pPr>
            <a:r>
              <a:rPr lang="en-US">
                <a:latin typeface="Consolas" panose="020B0609020204030204" pitchFamily="49" charset="0"/>
                <a:cs typeface="Consolas" panose="020B0609020204030204" pitchFamily="49" charset="0"/>
              </a:rPr>
              <a:t>terraform apply</a:t>
            </a:r>
            <a:r>
              <a:rPr lang="en-US"/>
              <a:t>:</a:t>
            </a:r>
          </a:p>
          <a:p>
            <a:r>
              <a:rPr lang="en-US"/>
              <a:t>Applies the previous plan, after this step, the new state consists of:</a:t>
            </a:r>
          </a:p>
          <a:p>
            <a:pPr lvl="1"/>
            <a:r>
              <a:rPr lang="en-US"/>
              <a:t> An EC2 instance is running with the defined configuration.</a:t>
            </a:r>
          </a:p>
          <a:p>
            <a:pPr lvl="1"/>
            <a:r>
              <a:rPr lang="en-US"/>
              <a:t> An RDS database instance is provisioned with the specified settings.</a:t>
            </a:r>
          </a:p>
          <a:p>
            <a:pPr lvl="1"/>
            <a:r>
              <a:rPr lang="en-US"/>
              <a:t> A security group is created and linked to the EC2 instance.</a:t>
            </a:r>
          </a:p>
          <a:p>
            <a:r>
              <a:rPr lang="en-US"/>
              <a:t>The state file now also has the IDs of each created resource for future tracking.</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Example: Simple web application – Execution overview</a:t>
            </a:r>
          </a:p>
        </p:txBody>
      </p:sp>
    </p:spTree>
    <p:extLst>
      <p:ext uri="{BB962C8B-B14F-4D97-AF65-F5344CB8AC3E}">
        <p14:creationId xmlns:p14="http://schemas.microsoft.com/office/powerpoint/2010/main" val="2007467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normAutofit/>
          </a:bodyPr>
          <a:lstStyle/>
          <a:p>
            <a:pPr marL="0" indent="0">
              <a:buNone/>
            </a:pPr>
            <a:r>
              <a:rPr lang="en-US">
                <a:latin typeface="Consolas" panose="020B0609020204030204" pitchFamily="49" charset="0"/>
                <a:cs typeface="Consolas" panose="020B0609020204030204" pitchFamily="49" charset="0"/>
              </a:rPr>
              <a:t>terraform destroy</a:t>
            </a:r>
            <a:r>
              <a:rPr lang="en-US"/>
              <a:t>:</a:t>
            </a:r>
          </a:p>
          <a:p>
            <a:r>
              <a:rPr lang="en-US"/>
              <a:t>The execution plan reflects the removal of the EC2 instance, RDS database, and security group.</a:t>
            </a:r>
          </a:p>
          <a:p>
            <a:r>
              <a:rPr lang="en-US"/>
              <a:t>Final State (Destroy):</a:t>
            </a:r>
          </a:p>
          <a:p>
            <a:pPr lvl="1"/>
            <a:r>
              <a:rPr lang="en-US"/>
              <a:t>All provisioned AWS resources are removed,</a:t>
            </a:r>
          </a:p>
          <a:p>
            <a:pPr lvl="1"/>
            <a:r>
              <a:rPr lang="en-US"/>
              <a:t>The Terraform state file becomes empty again.</a:t>
            </a:r>
          </a:p>
          <a:p>
            <a:endParaRPr lang="en-US"/>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a:xfrm>
            <a:off x="838200" y="1352782"/>
            <a:ext cx="10441597" cy="424732"/>
          </a:xfrm>
        </p:spPr>
        <p:txBody>
          <a:bodyPr/>
          <a:lstStyle/>
          <a:p>
            <a:r>
              <a:rPr lang="en-US"/>
              <a:t>Example: Simple web application – Execution overview</a:t>
            </a:r>
          </a:p>
        </p:txBody>
      </p:sp>
    </p:spTree>
    <p:extLst>
      <p:ext uri="{BB962C8B-B14F-4D97-AF65-F5344CB8AC3E}">
        <p14:creationId xmlns:p14="http://schemas.microsoft.com/office/powerpoint/2010/main" val="14613578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pPr marL="0" indent="0">
              <a:buNone/>
            </a:pPr>
            <a:r>
              <a:rPr lang="en-US"/>
              <a:t>Terraform maintains a state file that records the current state of the infrastructure it manages. But why State Files are Necessary ?</a:t>
            </a:r>
          </a:p>
          <a:p>
            <a:r>
              <a:rPr lang="en-US"/>
              <a:t>Resource Tracking</a:t>
            </a:r>
          </a:p>
          <a:p>
            <a:r>
              <a:rPr lang="en-US"/>
              <a:t>Dependency Resolution</a:t>
            </a:r>
          </a:p>
          <a:p>
            <a:r>
              <a:rPr lang="en-US"/>
              <a:t>Resource ID Mapping</a:t>
            </a:r>
          </a:p>
          <a:p>
            <a:r>
              <a:rPr lang="en-US"/>
              <a:t>Attribute Values</a:t>
            </a:r>
          </a:p>
          <a:p>
            <a:r>
              <a:rPr lang="en-US"/>
              <a:t>Output Values</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State management</a:t>
            </a:r>
          </a:p>
        </p:txBody>
      </p:sp>
    </p:spTree>
    <p:extLst>
      <p:ext uri="{BB962C8B-B14F-4D97-AF65-F5344CB8AC3E}">
        <p14:creationId xmlns:p14="http://schemas.microsoft.com/office/powerpoint/2010/main" val="1502756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sz="half" idx="1"/>
          </p:nvPr>
        </p:nvSpPr>
        <p:spPr/>
        <p:txBody>
          <a:bodyPr/>
          <a:lstStyle/>
          <a:p>
            <a:pPr marL="0" indent="0">
              <a:buNone/>
            </a:pPr>
            <a:r>
              <a:rPr lang="en-US"/>
              <a:t>The Execution Plan contains both:</a:t>
            </a:r>
          </a:p>
          <a:p>
            <a:r>
              <a:rPr lang="en-US"/>
              <a:t>The resources that will be modified: created, updated (if possible), deleted/re-created or simply deleted,</a:t>
            </a:r>
          </a:p>
          <a:p>
            <a:r>
              <a:rPr lang="en-US"/>
              <a:t>The order in which these changes are to be performed respecting the dependency among resources.</a:t>
            </a:r>
          </a:p>
        </p:txBody>
      </p:sp>
      <p:sp>
        <p:nvSpPr>
          <p:cNvPr id="2" name="Espace réservé du contenu 1">
            <a:extLst>
              <a:ext uri="{FF2B5EF4-FFF2-40B4-BE49-F238E27FC236}">
                <a16:creationId xmlns:a16="http://schemas.microsoft.com/office/drawing/2014/main" id="{38E21993-762E-E868-E2CD-B120F4E1AC48}"/>
              </a:ext>
            </a:extLst>
          </p:cNvPr>
          <p:cNvSpPr>
            <a:spLocks noGrp="1"/>
          </p:cNvSpPr>
          <p:nvPr>
            <p:ph sz="half" idx="2"/>
          </p:nvPr>
        </p:nvSpPr>
        <p:spPr/>
        <p:txBody>
          <a:bodyPr/>
          <a:lstStyle/>
          <a:p>
            <a:pPr marL="0" indent="0">
              <a:buNone/>
            </a:pPr>
            <a:r>
              <a:rPr lang="en-US"/>
              <a:t>Key Considerations:</a:t>
            </a:r>
          </a:p>
          <a:p>
            <a:r>
              <a:rPr lang="en-US"/>
              <a:t>Automatic Dependency Detection</a:t>
            </a:r>
          </a:p>
          <a:p>
            <a:r>
              <a:rPr lang="en-US"/>
              <a:t>Parallel Execution</a:t>
            </a:r>
          </a:p>
          <a:p>
            <a:r>
              <a:rPr lang="en-US"/>
              <a:t>Safety Checks</a:t>
            </a:r>
          </a:p>
          <a:p>
            <a:r>
              <a:rPr lang="en-US"/>
              <a:t>Resource Graph</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Execution Plan and Dependency resolution</a:t>
            </a:r>
          </a:p>
        </p:txBody>
      </p:sp>
    </p:spTree>
    <p:extLst>
      <p:ext uri="{BB962C8B-B14F-4D97-AF65-F5344CB8AC3E}">
        <p14:creationId xmlns:p14="http://schemas.microsoft.com/office/powerpoint/2010/main" val="16527851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normAutofit/>
          </a:bodyPr>
          <a:lstStyle/>
          <a:p>
            <a:r>
              <a:rPr lang="en-US"/>
              <a:t>The primary tool to interact with Terraform.</a:t>
            </a:r>
          </a:p>
          <a:p>
            <a:pPr lvl="1"/>
            <a:r>
              <a:rPr lang="en-US"/>
              <a:t>terraform </a:t>
            </a:r>
            <a:r>
              <a:rPr lang="en-US" err="1"/>
              <a:t>init</a:t>
            </a:r>
            <a:endParaRPr lang="en-US"/>
          </a:p>
          <a:p>
            <a:pPr lvl="1"/>
            <a:r>
              <a:rPr lang="en-US"/>
              <a:t>terraform plan</a:t>
            </a:r>
          </a:p>
          <a:p>
            <a:pPr lvl="1"/>
            <a:r>
              <a:rPr lang="en-US"/>
              <a:t>terraform apply</a:t>
            </a:r>
          </a:p>
          <a:p>
            <a:pPr lvl="1"/>
            <a:r>
              <a:rPr lang="en-US"/>
              <a:t>terraform destroy</a:t>
            </a:r>
          </a:p>
          <a:p>
            <a:r>
              <a:rPr lang="en-US"/>
              <a:t>(Optional) Can be used with Terraform Cloud or </a:t>
            </a:r>
            <a:br>
              <a:rPr lang="en-US"/>
            </a:br>
            <a:r>
              <a:rPr lang="en-US"/>
              <a:t>Terraform </a:t>
            </a:r>
            <a:r>
              <a:rPr lang="en-US" err="1"/>
              <a:t>Entreprise</a:t>
            </a:r>
            <a:r>
              <a:rPr lang="en-US"/>
              <a:t>.</a:t>
            </a:r>
          </a:p>
          <a:p>
            <a:r>
              <a:rPr lang="en-US"/>
              <a:t>Developed and maintained by </a:t>
            </a:r>
            <a:r>
              <a:rPr lang="en-US" err="1"/>
              <a:t>HashiCorp</a:t>
            </a:r>
            <a:r>
              <a:rPr lang="en-US"/>
              <a:t>.</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Tooling: CLI</a:t>
            </a:r>
          </a:p>
        </p:txBody>
      </p:sp>
      <p:pic>
        <p:nvPicPr>
          <p:cNvPr id="2" name="Espace réservé du contenu 5" descr="Terminal Cmd contour">
            <a:extLst>
              <a:ext uri="{FF2B5EF4-FFF2-40B4-BE49-F238E27FC236}">
                <a16:creationId xmlns:a16="http://schemas.microsoft.com/office/drawing/2014/main" id="{D75BF47F-0226-75A6-8DCC-BC54EA0433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2978" y="4766829"/>
            <a:ext cx="1706819" cy="1706819"/>
          </a:xfrm>
          <a:prstGeom prst="rect">
            <a:avLst/>
          </a:prstGeom>
        </p:spPr>
      </p:pic>
    </p:spTree>
    <p:extLst>
      <p:ext uri="{BB962C8B-B14F-4D97-AF65-F5344CB8AC3E}">
        <p14:creationId xmlns:p14="http://schemas.microsoft.com/office/powerpoint/2010/main" val="19781095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r>
              <a:rPr lang="en-US"/>
              <a:t>Domain-specific language developed by </a:t>
            </a:r>
            <a:r>
              <a:rPr lang="en-US" err="1"/>
              <a:t>HashiCorp</a:t>
            </a:r>
            <a:endParaRPr lang="en-US"/>
          </a:p>
          <a:p>
            <a:r>
              <a:rPr lang="en-US"/>
              <a:t>HCL is the primary language to describe infrastructure configuration</a:t>
            </a:r>
          </a:p>
          <a:p>
            <a:r>
              <a:rPr lang="en-US"/>
              <a:t>Extension: </a:t>
            </a:r>
            <a:r>
              <a:rPr lang="en-US">
                <a:latin typeface="Consolas" panose="020B0609020204030204" pitchFamily="49" charset="0"/>
                <a:cs typeface="Consolas" panose="020B0609020204030204" pitchFamily="49" charset="0"/>
              </a:rPr>
              <a:t>.</a:t>
            </a:r>
            <a:r>
              <a:rPr lang="en-US" err="1">
                <a:latin typeface="Consolas" panose="020B0609020204030204" pitchFamily="49" charset="0"/>
                <a:cs typeface="Consolas" panose="020B0609020204030204" pitchFamily="49" charset="0"/>
              </a:rPr>
              <a:t>tf</a:t>
            </a:r>
            <a:r>
              <a:rPr lang="en-US"/>
              <a:t> and/or </a:t>
            </a:r>
            <a:r>
              <a:rPr lang="en-US">
                <a:latin typeface="Consolas" panose="020B0609020204030204" pitchFamily="49" charset="0"/>
                <a:cs typeface="Consolas" panose="020B0609020204030204" pitchFamily="49" charset="0"/>
              </a:rPr>
              <a:t>.</a:t>
            </a:r>
            <a:r>
              <a:rPr lang="en-US" err="1">
                <a:latin typeface="Consolas" panose="020B0609020204030204" pitchFamily="49" charset="0"/>
                <a:cs typeface="Consolas" panose="020B0609020204030204" pitchFamily="49" charset="0"/>
              </a:rPr>
              <a:t>tf.json</a:t>
            </a:r>
            <a:endParaRPr lang="en-US">
              <a:latin typeface="Consolas" panose="020B0609020204030204" pitchFamily="49" charset="0"/>
              <a:cs typeface="Consolas" panose="020B0609020204030204" pitchFamily="49" charset="0"/>
            </a:endParaRPr>
          </a:p>
          <a:p>
            <a:r>
              <a:rPr lang="en-US">
                <a:cs typeface="Consolas" panose="020B0609020204030204" pitchFamily="49" charset="0"/>
              </a:rPr>
              <a:t>Extensible via plugins to interact with different infrastructure providers</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Tooling: </a:t>
            </a:r>
            <a:r>
              <a:rPr lang="en-US" err="1"/>
              <a:t>HashiCorp</a:t>
            </a:r>
            <a:r>
              <a:rPr lang="en-US"/>
              <a:t> Configuration Language (HCL)</a:t>
            </a:r>
          </a:p>
        </p:txBody>
      </p:sp>
      <p:pic>
        <p:nvPicPr>
          <p:cNvPr id="10" name="Graphique 9" descr="Document contour">
            <a:extLst>
              <a:ext uri="{FF2B5EF4-FFF2-40B4-BE49-F238E27FC236}">
                <a16:creationId xmlns:a16="http://schemas.microsoft.com/office/drawing/2014/main" id="{39524C24-02A3-2F69-F157-AC3A43E701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2978" y="4766829"/>
            <a:ext cx="1706819" cy="1706819"/>
          </a:xfrm>
          <a:prstGeom prst="rect">
            <a:avLst/>
          </a:prstGeom>
        </p:spPr>
      </p:pic>
    </p:spTree>
    <p:extLst>
      <p:ext uri="{BB962C8B-B14F-4D97-AF65-F5344CB8AC3E}">
        <p14:creationId xmlns:p14="http://schemas.microsoft.com/office/powerpoint/2010/main" val="20087984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r>
              <a:rPr lang="en-US"/>
              <a:t>Plugins that represent provider’s specific resources and</a:t>
            </a:r>
            <a:br>
              <a:rPr lang="en-US"/>
            </a:br>
            <a:r>
              <a:rPr lang="en-US"/>
              <a:t>data sources</a:t>
            </a:r>
          </a:p>
          <a:p>
            <a:r>
              <a:rPr lang="en-US"/>
              <a:t>Can be developed and maintained by:</a:t>
            </a:r>
          </a:p>
          <a:p>
            <a:pPr lvl="1"/>
            <a:r>
              <a:rPr lang="en-US" err="1"/>
              <a:t>HashiCorp</a:t>
            </a:r>
            <a:r>
              <a:rPr lang="en-US"/>
              <a:t> (Official),</a:t>
            </a:r>
          </a:p>
          <a:p>
            <a:pPr lvl="1"/>
            <a:r>
              <a:rPr lang="en-US"/>
              <a:t>Partners</a:t>
            </a:r>
          </a:p>
          <a:p>
            <a:pPr lvl="1"/>
            <a:r>
              <a:rPr lang="en-US"/>
              <a:t>Community</a:t>
            </a:r>
          </a:p>
          <a:p>
            <a:r>
              <a:rPr lang="en-US"/>
              <a:t>Available through the official registry (public):</a:t>
            </a:r>
          </a:p>
          <a:p>
            <a:pPr lvl="1"/>
            <a:r>
              <a:rPr lang="en-US">
                <a:hlinkClick r:id="rId3"/>
              </a:rPr>
              <a:t>https://registry.terraform.io/browse/providers</a:t>
            </a:r>
            <a:endParaRPr lang="en-US"/>
          </a:p>
          <a:p>
            <a:endParaRPr lang="en-US"/>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Tooling: Providers</a:t>
            </a:r>
          </a:p>
        </p:txBody>
      </p:sp>
      <p:pic>
        <p:nvPicPr>
          <p:cNvPr id="7" name="Graphique 6" descr="Branché débranché contour">
            <a:extLst>
              <a:ext uri="{FF2B5EF4-FFF2-40B4-BE49-F238E27FC236}">
                <a16:creationId xmlns:a16="http://schemas.microsoft.com/office/drawing/2014/main" id="{1913FA17-C745-5EDC-A3E1-EF1E2134D1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68011" y="2084981"/>
            <a:ext cx="915575" cy="915575"/>
          </a:xfrm>
          <a:prstGeom prst="rect">
            <a:avLst/>
          </a:prstGeom>
        </p:spPr>
      </p:pic>
      <p:pic>
        <p:nvPicPr>
          <p:cNvPr id="9" name="Graphique 8" descr="Magasin contour">
            <a:extLst>
              <a:ext uri="{FF2B5EF4-FFF2-40B4-BE49-F238E27FC236}">
                <a16:creationId xmlns:a16="http://schemas.microsoft.com/office/drawing/2014/main" id="{EBB3D7A3-2375-01D8-ACFC-1F9FCA5B7E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68011" y="4732973"/>
            <a:ext cx="914400" cy="914400"/>
          </a:xfrm>
          <a:prstGeom prst="rect">
            <a:avLst/>
          </a:prstGeom>
        </p:spPr>
      </p:pic>
    </p:spTree>
    <p:extLst>
      <p:ext uri="{BB962C8B-B14F-4D97-AF65-F5344CB8AC3E}">
        <p14:creationId xmlns:p14="http://schemas.microsoft.com/office/powerpoint/2010/main" val="39567181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r>
              <a:rPr lang="en-US"/>
              <a:t>Reusable configuration packages,</a:t>
            </a:r>
          </a:p>
          <a:p>
            <a:r>
              <a:rPr lang="en-US"/>
              <a:t>Typically developed and maintained within the organization,</a:t>
            </a:r>
          </a:p>
          <a:p>
            <a:r>
              <a:rPr lang="en-US"/>
              <a:t>Used to organize complex infrastructures by encapsulating scoped configurations.</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Tooling: Modules</a:t>
            </a:r>
          </a:p>
        </p:txBody>
      </p:sp>
      <p:pic>
        <p:nvPicPr>
          <p:cNvPr id="8" name="Graphique 7" descr="Boîte contour">
            <a:extLst>
              <a:ext uri="{FF2B5EF4-FFF2-40B4-BE49-F238E27FC236}">
                <a16:creationId xmlns:a16="http://schemas.microsoft.com/office/drawing/2014/main" id="{D03D563D-E891-48E3-91B3-1FD67D71FE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2978" y="4766829"/>
            <a:ext cx="1706819" cy="1706819"/>
          </a:xfrm>
          <a:prstGeom prst="rect">
            <a:avLst/>
          </a:prstGeom>
        </p:spPr>
      </p:pic>
    </p:spTree>
    <p:extLst>
      <p:ext uri="{BB962C8B-B14F-4D97-AF65-F5344CB8AC3E}">
        <p14:creationId xmlns:p14="http://schemas.microsoft.com/office/powerpoint/2010/main" val="37505944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normAutofit lnSpcReduction="10000"/>
          </a:bodyPr>
          <a:lstStyle/>
          <a:p>
            <a:r>
              <a:rPr lang="en-US"/>
              <a:t>Alternative to HCL for configuration definition,</a:t>
            </a:r>
          </a:p>
          <a:p>
            <a:r>
              <a:rPr lang="en-US"/>
              <a:t>Allows the use of familiar programming languages for infrastructure configuration:</a:t>
            </a:r>
          </a:p>
          <a:p>
            <a:pPr lvl="1"/>
            <a:r>
              <a:rPr lang="en-US"/>
              <a:t>Typescript</a:t>
            </a:r>
          </a:p>
          <a:p>
            <a:pPr lvl="1"/>
            <a:r>
              <a:rPr lang="en-US"/>
              <a:t>Python</a:t>
            </a:r>
          </a:p>
          <a:p>
            <a:pPr lvl="1"/>
            <a:r>
              <a:rPr lang="en-US"/>
              <a:t>Java</a:t>
            </a:r>
          </a:p>
          <a:p>
            <a:pPr lvl="1"/>
            <a:r>
              <a:rPr lang="en-US"/>
              <a:t>C#</a:t>
            </a:r>
          </a:p>
          <a:p>
            <a:pPr lvl="1"/>
            <a:r>
              <a:rPr lang="en-US"/>
              <a:t>Go</a:t>
            </a:r>
          </a:p>
          <a:p>
            <a:r>
              <a:rPr lang="en-US"/>
              <a:t>Facilitates automated tests and programmatic</a:t>
            </a:r>
            <a:br>
              <a:rPr lang="en-US"/>
            </a:br>
            <a:r>
              <a:rPr lang="en-US"/>
              <a:t>configuration.</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Tooling: Cloud Development Kit for Terraform (CDKTF)</a:t>
            </a:r>
          </a:p>
        </p:txBody>
      </p:sp>
      <p:pic>
        <p:nvPicPr>
          <p:cNvPr id="10" name="Graphique 9" descr="Programmatrice contour">
            <a:extLst>
              <a:ext uri="{FF2B5EF4-FFF2-40B4-BE49-F238E27FC236}">
                <a16:creationId xmlns:a16="http://schemas.microsoft.com/office/drawing/2014/main" id="{B825D6DD-090A-3AAF-9F40-71D14206D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2977" y="4766828"/>
            <a:ext cx="1706819" cy="1706819"/>
          </a:xfrm>
          <a:prstGeom prst="rect">
            <a:avLst/>
          </a:prstGeom>
        </p:spPr>
      </p:pic>
    </p:spTree>
    <p:extLst>
      <p:ext uri="{BB962C8B-B14F-4D97-AF65-F5344CB8AC3E}">
        <p14:creationId xmlns:p14="http://schemas.microsoft.com/office/powerpoint/2010/main" val="18726686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lstStyle/>
          <a:p>
            <a:r>
              <a:rPr lang="en-US"/>
              <a:t>Remote collaboration tool</a:t>
            </a:r>
          </a:p>
          <a:p>
            <a:r>
              <a:rPr lang="en-US"/>
              <a:t>Workspace management</a:t>
            </a:r>
          </a:p>
          <a:p>
            <a:r>
              <a:rPr lang="en-US"/>
              <a:t>Manages remote state</a:t>
            </a:r>
          </a:p>
          <a:p>
            <a:r>
              <a:rPr lang="en-US"/>
              <a:t>Used for Automated runs in CI/CD pipeline integrations</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Tooling: Terraform Cloud (Optional)</a:t>
            </a:r>
          </a:p>
        </p:txBody>
      </p:sp>
      <p:pic>
        <p:nvPicPr>
          <p:cNvPr id="6" name="Graphique 5" descr="Robot contour">
            <a:extLst>
              <a:ext uri="{FF2B5EF4-FFF2-40B4-BE49-F238E27FC236}">
                <a16:creationId xmlns:a16="http://schemas.microsoft.com/office/drawing/2014/main" id="{C287E2C3-A551-B97D-AB0A-989A89E81A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2977" y="4766828"/>
            <a:ext cx="1706819" cy="1706819"/>
          </a:xfrm>
          <a:prstGeom prst="rect">
            <a:avLst/>
          </a:prstGeom>
        </p:spPr>
      </p:pic>
    </p:spTree>
    <p:extLst>
      <p:ext uri="{BB962C8B-B14F-4D97-AF65-F5344CB8AC3E}">
        <p14:creationId xmlns:p14="http://schemas.microsoft.com/office/powerpoint/2010/main" val="24054391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44FC7EE-3013-935B-2AB3-7EBCC69E31DB}"/>
              </a:ext>
            </a:extLst>
          </p:cNvPr>
          <p:cNvSpPr>
            <a:spLocks noGrp="1"/>
          </p:cNvSpPr>
          <p:nvPr>
            <p:ph idx="1"/>
          </p:nvPr>
        </p:nvSpPr>
        <p:spPr/>
        <p:txBody>
          <a:bodyPr>
            <a:normAutofit fontScale="92500" lnSpcReduction="10000"/>
          </a:bodyPr>
          <a:lstStyle/>
          <a:p>
            <a:r>
              <a:rPr lang="en-US"/>
              <a:t>Cloud Provider Console (AWS, Azure, GCP, …)</a:t>
            </a:r>
          </a:p>
          <a:p>
            <a:pPr lvl="1"/>
            <a:r>
              <a:rPr lang="en-US"/>
              <a:t>Web or CLI based interface to monitor and fine manage cloud</a:t>
            </a:r>
            <a:br>
              <a:rPr lang="en-US"/>
            </a:br>
            <a:r>
              <a:rPr lang="en-US"/>
              <a:t>provider resources.</a:t>
            </a:r>
          </a:p>
          <a:p>
            <a:r>
              <a:rPr lang="en-US"/>
              <a:t>IDE Integration</a:t>
            </a:r>
          </a:p>
          <a:p>
            <a:pPr lvl="1"/>
            <a:r>
              <a:rPr lang="en-US"/>
              <a:t>Syntax Highlighting,</a:t>
            </a:r>
          </a:p>
          <a:p>
            <a:pPr lvl="1"/>
            <a:r>
              <a:rPr lang="en-US"/>
              <a:t>Autocompletion,</a:t>
            </a:r>
          </a:p>
          <a:p>
            <a:pPr lvl="1"/>
            <a:r>
              <a:rPr lang="en-US"/>
              <a:t>Linter.</a:t>
            </a:r>
          </a:p>
          <a:p>
            <a:r>
              <a:rPr lang="en-US"/>
              <a:t>Version Control System</a:t>
            </a:r>
          </a:p>
          <a:p>
            <a:pPr lvl="1"/>
            <a:r>
              <a:rPr lang="en-US"/>
              <a:t>Collaboration,</a:t>
            </a:r>
          </a:p>
          <a:p>
            <a:pPr lvl="1"/>
            <a:r>
              <a:rPr lang="en-US"/>
              <a:t>Change Tracking,</a:t>
            </a:r>
          </a:p>
          <a:p>
            <a:pPr lvl="1"/>
            <a:r>
              <a:rPr lang="en-US"/>
              <a:t>Rollbacks.</a:t>
            </a:r>
          </a:p>
        </p:txBody>
      </p:sp>
      <p:sp>
        <p:nvSpPr>
          <p:cNvPr id="4" name="Espace réservé du texte 3">
            <a:extLst>
              <a:ext uri="{FF2B5EF4-FFF2-40B4-BE49-F238E27FC236}">
                <a16:creationId xmlns:a16="http://schemas.microsoft.com/office/drawing/2014/main" id="{5FD223A5-8FB8-774D-51E1-108AA0B1915A}"/>
              </a:ext>
            </a:extLst>
          </p:cNvPr>
          <p:cNvSpPr>
            <a:spLocks noGrp="1"/>
          </p:cNvSpPr>
          <p:nvPr>
            <p:ph type="body" sz="quarter" idx="14"/>
          </p:nvPr>
        </p:nvSpPr>
        <p:spPr/>
        <p:txBody>
          <a:bodyPr/>
          <a:lstStyle/>
          <a:p>
            <a:r>
              <a:rPr lang="en-US" dirty="0"/>
              <a:t>5. Terraform concepts</a:t>
            </a:r>
          </a:p>
        </p:txBody>
      </p:sp>
      <p:sp>
        <p:nvSpPr>
          <p:cNvPr id="5" name="Espace réservé du texte 4">
            <a:extLst>
              <a:ext uri="{FF2B5EF4-FFF2-40B4-BE49-F238E27FC236}">
                <a16:creationId xmlns:a16="http://schemas.microsoft.com/office/drawing/2014/main" id="{AFF329F8-9157-7A54-57AE-1CFA40F6CDB7}"/>
              </a:ext>
            </a:extLst>
          </p:cNvPr>
          <p:cNvSpPr>
            <a:spLocks noGrp="1"/>
          </p:cNvSpPr>
          <p:nvPr>
            <p:ph type="body" sz="quarter" idx="15"/>
          </p:nvPr>
        </p:nvSpPr>
        <p:spPr/>
        <p:txBody>
          <a:bodyPr/>
          <a:lstStyle/>
          <a:p>
            <a:r>
              <a:rPr lang="en-US"/>
              <a:t>Tooling: General</a:t>
            </a:r>
          </a:p>
        </p:txBody>
      </p:sp>
      <p:pic>
        <p:nvPicPr>
          <p:cNvPr id="2" name="Graphique 1" descr="Informatique hébergé contour">
            <a:extLst>
              <a:ext uri="{FF2B5EF4-FFF2-40B4-BE49-F238E27FC236}">
                <a16:creationId xmlns:a16="http://schemas.microsoft.com/office/drawing/2014/main" id="{5AEA7C0B-8AC2-324E-3F9A-08B5E80C50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81067" y="2118065"/>
            <a:ext cx="914401" cy="914401"/>
          </a:xfrm>
          <a:prstGeom prst="rect">
            <a:avLst/>
          </a:prstGeom>
        </p:spPr>
      </p:pic>
      <p:pic>
        <p:nvPicPr>
          <p:cNvPr id="9" name="Graphique 8" descr="Acquisition contour">
            <a:extLst>
              <a:ext uri="{FF2B5EF4-FFF2-40B4-BE49-F238E27FC236}">
                <a16:creationId xmlns:a16="http://schemas.microsoft.com/office/drawing/2014/main" id="{C3699807-364F-0545-CAE9-4BEC56FE5D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1067" y="4617082"/>
            <a:ext cx="914400" cy="914400"/>
          </a:xfrm>
          <a:prstGeom prst="rect">
            <a:avLst/>
          </a:prstGeom>
        </p:spPr>
      </p:pic>
      <p:pic>
        <p:nvPicPr>
          <p:cNvPr id="13" name="Graphique 12" descr="Code Morse avec un remplissage uni">
            <a:extLst>
              <a:ext uri="{FF2B5EF4-FFF2-40B4-BE49-F238E27FC236}">
                <a16:creationId xmlns:a16="http://schemas.microsoft.com/office/drawing/2014/main" id="{D3ACF842-7613-3AB9-1489-5BD629E99CD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81067" y="3341108"/>
            <a:ext cx="914400" cy="914400"/>
          </a:xfrm>
          <a:prstGeom prst="rect">
            <a:avLst/>
          </a:prstGeom>
        </p:spPr>
      </p:pic>
    </p:spTree>
    <p:extLst>
      <p:ext uri="{BB962C8B-B14F-4D97-AF65-F5344CB8AC3E}">
        <p14:creationId xmlns:p14="http://schemas.microsoft.com/office/powerpoint/2010/main" val="11415710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CD917FE-5992-6BE9-8621-44D97D7369BC}"/>
              </a:ext>
            </a:extLst>
          </p:cNvPr>
          <p:cNvSpPr>
            <a:spLocks noGrp="1"/>
          </p:cNvSpPr>
          <p:nvPr>
            <p:ph type="body" sz="quarter" idx="10"/>
          </p:nvPr>
        </p:nvSpPr>
        <p:spPr/>
        <p:txBody>
          <a:bodyPr/>
          <a:lstStyle/>
          <a:p>
            <a:pPr marL="0" indent="0">
              <a:buNone/>
            </a:pPr>
            <a:r>
              <a:rPr lang="en-US" dirty="0"/>
              <a:t>5. Terraform concepts</a:t>
            </a:r>
          </a:p>
        </p:txBody>
      </p:sp>
    </p:spTree>
    <p:extLst>
      <p:ext uri="{BB962C8B-B14F-4D97-AF65-F5344CB8AC3E}">
        <p14:creationId xmlns:p14="http://schemas.microsoft.com/office/powerpoint/2010/main" val="32698177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72056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5962EC7E-FDEE-D84F-9BF9-F910FCF93787}" vid="{A8A75BDC-84E3-BB4E-B368-D9F6C207AC9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16743</TotalTime>
  <Words>9034</Words>
  <Application>Microsoft Office PowerPoint</Application>
  <PresentationFormat>Widescreen</PresentationFormat>
  <Paragraphs>930</Paragraphs>
  <Slides>83</Slides>
  <Notes>79</Notes>
  <HiddenSlides>0</HiddenSlides>
  <MMClips>0</MMClips>
  <ScaleCrop>false</ScaleCrop>
  <HeadingPairs>
    <vt:vector size="4" baseType="variant">
      <vt:variant>
        <vt:lpstr>Theme</vt:lpstr>
      </vt:variant>
      <vt:variant>
        <vt:i4>1</vt:i4>
      </vt:variant>
      <vt:variant>
        <vt:lpstr>Slide Titles</vt:lpstr>
      </vt:variant>
      <vt:variant>
        <vt:i4>83</vt:i4>
      </vt:variant>
    </vt:vector>
  </HeadingPairs>
  <TitlesOfParts>
    <vt:vector size="84" baseType="lpstr">
      <vt:lpstr>Thème Office</vt:lpstr>
      <vt:lpstr>Introduction to IaC and Terraform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Draltan Marin</dc:creator>
  <cp:lastModifiedBy>Draltan Marin</cp:lastModifiedBy>
  <cp:revision>141</cp:revision>
  <dcterms:created xsi:type="dcterms:W3CDTF">2023-09-21T14:17:13Z</dcterms:created>
  <dcterms:modified xsi:type="dcterms:W3CDTF">2026-08-17T04:39:28Z</dcterms:modified>
</cp:coreProperties>
</file>