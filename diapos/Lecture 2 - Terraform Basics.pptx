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9" r:id="rId2"/>
    <p:sldId id="271" r:id="rId3"/>
    <p:sldId id="263" r:id="rId4"/>
    <p:sldId id="266" r:id="rId5"/>
    <p:sldId id="262" r:id="rId6"/>
    <p:sldId id="274" r:id="rId7"/>
    <p:sldId id="275" r:id="rId8"/>
    <p:sldId id="277" r:id="rId9"/>
    <p:sldId id="276" r:id="rId10"/>
    <p:sldId id="278" r:id="rId11"/>
    <p:sldId id="281" r:id="rId12"/>
    <p:sldId id="273" r:id="rId13"/>
    <p:sldId id="312" r:id="rId14"/>
    <p:sldId id="282" r:id="rId15"/>
    <p:sldId id="283" r:id="rId16"/>
    <p:sldId id="300" r:id="rId17"/>
    <p:sldId id="301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313" r:id="rId27"/>
    <p:sldId id="284" r:id="rId28"/>
    <p:sldId id="285" r:id="rId29"/>
    <p:sldId id="299" r:id="rId30"/>
    <p:sldId id="298" r:id="rId31"/>
    <p:sldId id="314" r:id="rId32"/>
    <p:sldId id="316" r:id="rId33"/>
    <p:sldId id="317" r:id="rId34"/>
    <p:sldId id="318" r:id="rId35"/>
    <p:sldId id="272" r:id="rId36"/>
    <p:sldId id="319" r:id="rId37"/>
    <p:sldId id="264" r:id="rId3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26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CFD376-B567-1741-2274-49BCF97F46C1}" v="17" dt="2026-08-17T05:53:34.8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82"/>
    <p:restoredTop sz="90843"/>
  </p:normalViewPr>
  <p:slideViewPr>
    <p:cSldViewPr snapToGrid="0" snapToObjects="1">
      <p:cViewPr varScale="1">
        <p:scale>
          <a:sx n="142" d="100"/>
          <a:sy n="142" d="100"/>
        </p:scale>
        <p:origin x="10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oz Pay" userId="S::amoz1.pay@supinfo.com::4d2f8cb2-b070-4ae8-bcd7-1f67ea500ae8" providerId="AD" clId="Web-{295F7489-3DF4-DBD8-8F22-3EE1E2D38F8C}"/>
    <pc:docChg chg="addSld delSld modSld">
      <pc:chgData name="Amoz Pay" userId="S::amoz1.pay@supinfo.com::4d2f8cb2-b070-4ae8-bcd7-1f67ea500ae8" providerId="AD" clId="Web-{295F7489-3DF4-DBD8-8F22-3EE1E2D38F8C}" dt="2026-08-02T16:13:06.236" v="92"/>
      <pc:docMkLst>
        <pc:docMk/>
      </pc:docMkLst>
      <pc:sldChg chg="modSp">
        <pc:chgData name="Amoz Pay" userId="S::amoz1.pay@supinfo.com::4d2f8cb2-b070-4ae8-bcd7-1f67ea500ae8" providerId="AD" clId="Web-{295F7489-3DF4-DBD8-8F22-3EE1E2D38F8C}" dt="2026-08-02T14:33:09.032" v="4" actId="20577"/>
        <pc:sldMkLst>
          <pc:docMk/>
          <pc:sldMk cId="3619379987" sldId="259"/>
        </pc:sldMkLst>
        <pc:spChg chg="mod">
          <ac:chgData name="Amoz Pay" userId="S::amoz1.pay@supinfo.com::4d2f8cb2-b070-4ae8-bcd7-1f67ea500ae8" providerId="AD" clId="Web-{295F7489-3DF4-DBD8-8F22-3EE1E2D38F8C}" dt="2026-08-02T14:33:09.032" v="4" actId="20577"/>
          <ac:spMkLst>
            <pc:docMk/>
            <pc:sldMk cId="3619379987" sldId="259"/>
            <ac:spMk id="2" creationId="{43BC06DC-4D1A-B2CB-5A63-A1C912BA9509}"/>
          </ac:spMkLst>
        </pc:spChg>
      </pc:sldChg>
      <pc:sldChg chg="modSp">
        <pc:chgData name="Amoz Pay" userId="S::amoz1.pay@supinfo.com::4d2f8cb2-b070-4ae8-bcd7-1f67ea500ae8" providerId="AD" clId="Web-{295F7489-3DF4-DBD8-8F22-3EE1E2D38F8C}" dt="2026-08-02T14:48:58.597" v="66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295F7489-3DF4-DBD8-8F22-3EE1E2D38F8C}" dt="2026-08-02T14:48:58.597" v="66" actId="20577"/>
          <ac:spMkLst>
            <pc:docMk/>
            <pc:sldMk cId="3129097085" sldId="263"/>
            <ac:spMk id="3" creationId="{3C3DD7B0-B0A8-8FDB-52AB-3930D01F1718}"/>
          </ac:spMkLst>
        </pc:spChg>
      </pc:sldChg>
      <pc:sldChg chg="modSp">
        <pc:chgData name="Amoz Pay" userId="S::amoz1.pay@supinfo.com::4d2f8cb2-b070-4ae8-bcd7-1f67ea500ae8" providerId="AD" clId="Web-{295F7489-3DF4-DBD8-8F22-3EE1E2D38F8C}" dt="2026-08-02T15:12:25.419" v="90" actId="20577"/>
        <pc:sldMkLst>
          <pc:docMk/>
          <pc:sldMk cId="3611776961" sldId="271"/>
        </pc:sldMkLst>
        <pc:spChg chg="mod">
          <ac:chgData name="Amoz Pay" userId="S::amoz1.pay@supinfo.com::4d2f8cb2-b070-4ae8-bcd7-1f67ea500ae8" providerId="AD" clId="Web-{295F7489-3DF4-DBD8-8F22-3EE1E2D38F8C}" dt="2026-08-02T15:12:25.419" v="90" actId="20577"/>
          <ac:spMkLst>
            <pc:docMk/>
            <pc:sldMk cId="3611776961" sldId="271"/>
            <ac:spMk id="2" creationId="{177649D1-4E1D-5D9D-0C8D-8F96CAFDE057}"/>
          </ac:spMkLst>
        </pc:spChg>
        <pc:spChg chg="mod">
          <ac:chgData name="Amoz Pay" userId="S::amoz1.pay@supinfo.com::4d2f8cb2-b070-4ae8-bcd7-1f67ea500ae8" providerId="AD" clId="Web-{295F7489-3DF4-DBD8-8F22-3EE1E2D38F8C}" dt="2026-08-02T14:44:01.102" v="5" actId="20577"/>
          <ac:spMkLst>
            <pc:docMk/>
            <pc:sldMk cId="3611776961" sldId="271"/>
            <ac:spMk id="3" creationId="{18B94824-AC9C-1F69-CE01-033721EDBACC}"/>
          </ac:spMkLst>
        </pc:spChg>
      </pc:sldChg>
      <pc:sldChg chg="modSp add">
        <pc:chgData name="Amoz Pay" userId="S::amoz1.pay@supinfo.com::4d2f8cb2-b070-4ae8-bcd7-1f67ea500ae8" providerId="AD" clId="Web-{295F7489-3DF4-DBD8-8F22-3EE1E2D38F8C}" dt="2026-08-02T14:48:36.377" v="60" actId="20577"/>
        <pc:sldMkLst>
          <pc:docMk/>
          <pc:sldMk cId="2964719346" sldId="272"/>
        </pc:sldMkLst>
        <pc:spChg chg="mod">
          <ac:chgData name="Amoz Pay" userId="S::amoz1.pay@supinfo.com::4d2f8cb2-b070-4ae8-bcd7-1f67ea500ae8" providerId="AD" clId="Web-{295F7489-3DF4-DBD8-8F22-3EE1E2D38F8C}" dt="2026-08-02T14:48:36.377" v="60" actId="20577"/>
          <ac:spMkLst>
            <pc:docMk/>
            <pc:sldMk cId="2964719346" sldId="272"/>
            <ac:spMk id="4" creationId="{D05B843D-E297-A830-558E-4E153879E7DE}"/>
          </ac:spMkLst>
        </pc:spChg>
      </pc:sldChg>
      <pc:sldChg chg="addSp delSp modSp">
        <pc:chgData name="Amoz Pay" userId="S::amoz1.pay@supinfo.com::4d2f8cb2-b070-4ae8-bcd7-1f67ea500ae8" providerId="AD" clId="Web-{295F7489-3DF4-DBD8-8F22-3EE1E2D38F8C}" dt="2026-08-02T16:13:06.236" v="92"/>
        <pc:sldMkLst>
          <pc:docMk/>
          <pc:sldMk cId="3355946124" sldId="292"/>
        </pc:sldMkLst>
        <pc:spChg chg="add del">
          <ac:chgData name="Amoz Pay" userId="S::amoz1.pay@supinfo.com::4d2f8cb2-b070-4ae8-bcd7-1f67ea500ae8" providerId="AD" clId="Web-{295F7489-3DF4-DBD8-8F22-3EE1E2D38F8C}" dt="2026-08-02T16:13:06.236" v="92"/>
          <ac:spMkLst>
            <pc:docMk/>
            <pc:sldMk cId="3355946124" sldId="292"/>
            <ac:spMk id="3" creationId="{33D8EC56-B2E4-8535-5AFA-ADC7E699697E}"/>
          </ac:spMkLst>
        </pc:spChg>
      </pc:sldChg>
      <pc:sldChg chg="modSp add">
        <pc:chgData name="Amoz Pay" userId="S::amoz1.pay@supinfo.com::4d2f8cb2-b070-4ae8-bcd7-1f67ea500ae8" providerId="AD" clId="Web-{295F7489-3DF4-DBD8-8F22-3EE1E2D38F8C}" dt="2026-08-02T14:48:28.455" v="57" actId="20577"/>
        <pc:sldMkLst>
          <pc:docMk/>
          <pc:sldMk cId="558570355" sldId="316"/>
        </pc:sldMkLst>
        <pc:spChg chg="mod">
          <ac:chgData name="Amoz Pay" userId="S::amoz1.pay@supinfo.com::4d2f8cb2-b070-4ae8-bcd7-1f67ea500ae8" providerId="AD" clId="Web-{295F7489-3DF4-DBD8-8F22-3EE1E2D38F8C}" dt="2026-08-02T14:48:28.455" v="57" actId="20577"/>
          <ac:spMkLst>
            <pc:docMk/>
            <pc:sldMk cId="558570355" sldId="316"/>
            <ac:spMk id="2" creationId="{AB00CD53-20D5-44F6-55E0-0892C820DCE6}"/>
          </ac:spMkLst>
        </pc:spChg>
      </pc:sldChg>
      <pc:sldChg chg="modSp add">
        <pc:chgData name="Amoz Pay" userId="S::amoz1.pay@supinfo.com::4d2f8cb2-b070-4ae8-bcd7-1f67ea500ae8" providerId="AD" clId="Web-{295F7489-3DF4-DBD8-8F22-3EE1E2D38F8C}" dt="2026-08-02T14:48:31.080" v="58" actId="20577"/>
        <pc:sldMkLst>
          <pc:docMk/>
          <pc:sldMk cId="1308365133" sldId="317"/>
        </pc:sldMkLst>
        <pc:spChg chg="mod">
          <ac:chgData name="Amoz Pay" userId="S::amoz1.pay@supinfo.com::4d2f8cb2-b070-4ae8-bcd7-1f67ea500ae8" providerId="AD" clId="Web-{295F7489-3DF4-DBD8-8F22-3EE1E2D38F8C}" dt="2026-08-02T14:48:31.080" v="58" actId="20577"/>
          <ac:spMkLst>
            <pc:docMk/>
            <pc:sldMk cId="1308365133" sldId="317"/>
            <ac:spMk id="3" creationId="{1793914B-2F0C-8398-A6FC-6E174718244E}"/>
          </ac:spMkLst>
        </pc:spChg>
      </pc:sldChg>
      <pc:sldChg chg="modSp add">
        <pc:chgData name="Amoz Pay" userId="S::amoz1.pay@supinfo.com::4d2f8cb2-b070-4ae8-bcd7-1f67ea500ae8" providerId="AD" clId="Web-{295F7489-3DF4-DBD8-8F22-3EE1E2D38F8C}" dt="2026-08-02T14:48:33.565" v="59" actId="20577"/>
        <pc:sldMkLst>
          <pc:docMk/>
          <pc:sldMk cId="301792698" sldId="318"/>
        </pc:sldMkLst>
        <pc:spChg chg="mod">
          <ac:chgData name="Amoz Pay" userId="S::amoz1.pay@supinfo.com::4d2f8cb2-b070-4ae8-bcd7-1f67ea500ae8" providerId="AD" clId="Web-{295F7489-3DF4-DBD8-8F22-3EE1E2D38F8C}" dt="2026-08-02T14:48:33.565" v="59" actId="20577"/>
          <ac:spMkLst>
            <pc:docMk/>
            <pc:sldMk cId="301792698" sldId="318"/>
            <ac:spMk id="3" creationId="{6E424F5E-2C99-639C-7CFB-E26363F10972}"/>
          </ac:spMkLst>
        </pc:spChg>
      </pc:sldChg>
      <pc:sldChg chg="modSp add">
        <pc:chgData name="Amoz Pay" userId="S::amoz1.pay@supinfo.com::4d2f8cb2-b070-4ae8-bcd7-1f67ea500ae8" providerId="AD" clId="Web-{295F7489-3DF4-DBD8-8F22-3EE1E2D38F8C}" dt="2026-08-02T14:48:39.205" v="61" actId="20577"/>
        <pc:sldMkLst>
          <pc:docMk/>
          <pc:sldMk cId="1158984170" sldId="319"/>
        </pc:sldMkLst>
        <pc:spChg chg="mod">
          <ac:chgData name="Amoz Pay" userId="S::amoz1.pay@supinfo.com::4d2f8cb2-b070-4ae8-bcd7-1f67ea500ae8" providerId="AD" clId="Web-{295F7489-3DF4-DBD8-8F22-3EE1E2D38F8C}" dt="2026-08-02T14:48:39.205" v="61" actId="20577"/>
          <ac:spMkLst>
            <pc:docMk/>
            <pc:sldMk cId="1158984170" sldId="319"/>
            <ac:spMk id="2" creationId="{8AD7D0D6-4956-BECC-A810-FCCEF2EDFFD6}"/>
          </ac:spMkLst>
        </pc:spChg>
      </pc:sldChg>
    </pc:docChg>
  </pc:docChgLst>
  <pc:docChgLst>
    <pc:chgData name="Amoz Pay" userId="S::amoz1.pay@supinfo.com::4d2f8cb2-b070-4ae8-bcd7-1f67ea500ae8" providerId="AD" clId="Web-{BBCFD376-B567-1741-2274-49BCF97F46C1}"/>
    <pc:docChg chg="modSld">
      <pc:chgData name="Amoz Pay" userId="S::amoz1.pay@supinfo.com::4d2f8cb2-b070-4ae8-bcd7-1f67ea500ae8" providerId="AD" clId="Web-{BBCFD376-B567-1741-2274-49BCF97F46C1}" dt="2026-08-17T05:53:34.809" v="16" actId="20577"/>
      <pc:docMkLst>
        <pc:docMk/>
      </pc:docMkLst>
      <pc:sldChg chg="modSp">
        <pc:chgData name="Amoz Pay" userId="S::amoz1.pay@supinfo.com::4d2f8cb2-b070-4ae8-bcd7-1f67ea500ae8" providerId="AD" clId="Web-{BBCFD376-B567-1741-2274-49BCF97F46C1}" dt="2026-08-17T05:53:34.809" v="16" actId="20577"/>
        <pc:sldMkLst>
          <pc:docMk/>
          <pc:sldMk cId="3129097085" sldId="263"/>
        </pc:sldMkLst>
        <pc:spChg chg="mod">
          <ac:chgData name="Amoz Pay" userId="S::amoz1.pay@supinfo.com::4d2f8cb2-b070-4ae8-bcd7-1f67ea500ae8" providerId="AD" clId="Web-{BBCFD376-B567-1741-2274-49BCF97F46C1}" dt="2026-08-17T05:53:34.809" v="16" actId="20577"/>
          <ac:spMkLst>
            <pc:docMk/>
            <pc:sldMk cId="3129097085" sldId="263"/>
            <ac:spMk id="3" creationId="{3C3DD7B0-B0A8-8FDB-52AB-3930D01F17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B44D0C-1CB1-E645-87B8-5887239B9ECD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9A1237-63C0-2149-90AD-33FFCF7C8578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7762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Splat expression</a:t>
            </a:r>
          </a:p>
          <a:p>
            <a:r>
              <a:rPr lang="en-US" b="0" i="0" dirty="0">
                <a:solidFill>
                  <a:srgbClr val="3B3D45"/>
                </a:solidFill>
                <a:effectLst/>
                <a:latin typeface="-apple-system"/>
              </a:rPr>
              <a:t>The result is equivalent to : </a:t>
            </a:r>
            <a:r>
              <a:rPr lang="fr-FR" b="0" i="0" dirty="0">
                <a:solidFill>
                  <a:srgbClr val="BEBEC5"/>
                </a:solidFill>
                <a:effectLst/>
                <a:latin typeface="ui-monospace"/>
              </a:rPr>
              <a:t>[</a:t>
            </a:r>
            <a:r>
              <a:rPr lang="fr-FR" b="0" i="0" dirty="0">
                <a:solidFill>
                  <a:srgbClr val="EFEFF0"/>
                </a:solidFill>
                <a:effectLst/>
                <a:latin typeface="ui-monospace"/>
              </a:rPr>
              <a:t>for o in </a:t>
            </a:r>
            <a:r>
              <a:rPr lang="fr-FR" b="0" i="0" dirty="0" err="1">
                <a:solidFill>
                  <a:srgbClr val="EFEFF0"/>
                </a:solidFill>
                <a:effectLst/>
                <a:latin typeface="ui-monospace"/>
              </a:rPr>
              <a:t>var.list</a:t>
            </a:r>
            <a:r>
              <a:rPr lang="fr-FR" b="0" i="0" dirty="0">
                <a:solidFill>
                  <a:srgbClr val="EFEFF0"/>
                </a:solidFill>
                <a:effectLst/>
                <a:latin typeface="ui-monospace"/>
              </a:rPr>
              <a:t> : </a:t>
            </a:r>
            <a:r>
              <a:rPr lang="fr-FR" b="0" i="0" dirty="0" err="1">
                <a:solidFill>
                  <a:srgbClr val="EFEFF0"/>
                </a:solidFill>
                <a:effectLst/>
                <a:latin typeface="ui-monospace"/>
              </a:rPr>
              <a:t>o.id</a:t>
            </a:r>
            <a:r>
              <a:rPr lang="fr-FR" b="0" i="0" dirty="0">
                <a:solidFill>
                  <a:srgbClr val="BEBEC5"/>
                </a:solidFill>
                <a:effectLst/>
                <a:latin typeface="ui-monospace"/>
              </a:rPr>
              <a:t>]</a:t>
            </a:r>
          </a:p>
          <a:p>
            <a:endParaRPr lang="en-US" b="0" i="0" dirty="0">
              <a:solidFill>
                <a:srgbClr val="3B3D45"/>
              </a:solidFill>
              <a:effectLst/>
              <a:latin typeface="-apple-system"/>
            </a:endParaRPr>
          </a:p>
          <a:p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« The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special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 </a:t>
            </a:r>
            <a:r>
              <a:rPr lang="fr-FR" dirty="0"/>
              <a:t>[*]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 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symbol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iterates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over all of the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elements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of the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list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given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to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its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left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and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accesses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from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each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one the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attribute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name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given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on </a:t>
            </a:r>
            <a:r>
              <a:rPr lang="fr-FR" b="0" i="0" dirty="0" err="1">
                <a:solidFill>
                  <a:srgbClr val="3B3D45"/>
                </a:solidFill>
                <a:effectLst/>
                <a:latin typeface="-apple-system"/>
              </a:rPr>
              <a:t>its</a:t>
            </a:r>
            <a:r>
              <a:rPr lang="fr-FR" b="0" i="0" dirty="0">
                <a:solidFill>
                  <a:srgbClr val="3B3D45"/>
                </a:solidFill>
                <a:effectLst/>
                <a:latin typeface="-apple-system"/>
              </a:rPr>
              <a:t> right. »</a:t>
            </a:r>
          </a:p>
          <a:p>
            <a:endParaRPr lang="fr-FR" b="0" i="0" dirty="0">
              <a:solidFill>
                <a:srgbClr val="3B3D45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(from the official documentation: https://</a:t>
            </a:r>
            <a:r>
              <a:rPr lang="en-US" dirty="0" err="1"/>
              <a:t>developer.hashicorp.com</a:t>
            </a:r>
            <a:r>
              <a:rPr lang="en-US" dirty="0"/>
              <a:t>/terraform/language/expressions/splat)</a:t>
            </a:r>
          </a:p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127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661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30002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6578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63168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17743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6366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629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8229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9A1237-63C0-2149-90AD-33FFCF7C857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6622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ecture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E35FED-2507-6347-9B57-3FF5AFCD8EC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Lecture title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D8B847-1B82-BE49-A9A7-C3023CD2D5C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Course Name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EC7D63E0-5705-23E4-9223-C7EC73F93C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3200" y="5454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07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que 7" descr="Menu avec un remplissage uni">
            <a:extLst>
              <a:ext uri="{FF2B5EF4-FFF2-40B4-BE49-F238E27FC236}">
                <a16:creationId xmlns:a16="http://schemas.microsoft.com/office/drawing/2014/main" id="{6A612DC0-9BAA-7241-FF6D-0BB72E89A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440000" y="5040000"/>
            <a:ext cx="1080000" cy="1080000"/>
          </a:xfrm>
          <a:prstGeom prst="rect">
            <a:avLst/>
          </a:prstGeom>
        </p:spPr>
      </p:pic>
      <p:sp>
        <p:nvSpPr>
          <p:cNvPr id="2" name="Espace réservé du texte 16">
            <a:extLst>
              <a:ext uri="{FF2B5EF4-FFF2-40B4-BE49-F238E27FC236}">
                <a16:creationId xmlns:a16="http://schemas.microsoft.com/office/drawing/2014/main" id="{43A07EE0-044C-8744-BB44-5D91F7B730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1850" y="396327"/>
            <a:ext cx="10688150" cy="914400"/>
          </a:xfrm>
        </p:spPr>
        <p:txBody>
          <a:bodyPr>
            <a:normAutofit/>
          </a:bodyPr>
          <a:lstStyle>
            <a:lvl1pPr>
              <a:defRPr lang="fr-FR" sz="3200" i="1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smtClean="0"/>
            </a:lvl2pPr>
            <a:lvl3pPr>
              <a:defRPr lang="fr-FR" sz="1800" smtClean="0"/>
            </a:lvl3pPr>
            <a:lvl4pPr>
              <a:defRPr lang="fr-FR" smtClean="0"/>
            </a:lvl4pPr>
            <a:lvl5pPr>
              <a:defRPr lang="en-US"/>
            </a:lvl5pPr>
          </a:lstStyle>
          <a:p>
            <a:pPr marL="0" lvl="0" algn="ctr">
              <a:spcBef>
                <a:spcPct val="0"/>
              </a:spcBef>
              <a:buNone/>
            </a:pPr>
            <a:r>
              <a:rPr lang="en-US" noProof="0" dirty="0"/>
              <a:t>Summary</a:t>
            </a:r>
          </a:p>
        </p:txBody>
      </p:sp>
      <p:sp>
        <p:nvSpPr>
          <p:cNvPr id="3" name="Espace réservé du texte 18">
            <a:extLst>
              <a:ext uri="{FF2B5EF4-FFF2-40B4-BE49-F238E27FC236}">
                <a16:creationId xmlns:a16="http://schemas.microsoft.com/office/drawing/2014/main" id="{7023B183-7C64-4236-1FC6-B1766351D2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44550" y="2559496"/>
            <a:ext cx="10688150" cy="3560504"/>
          </a:xfrm>
        </p:spPr>
        <p:txBody>
          <a:bodyPr>
            <a:normAutofit/>
          </a:bodyPr>
          <a:lstStyle>
            <a:lvl1pPr>
              <a:defRPr lang="fr-FR" sz="36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1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 dirty="0"/>
              <a:t>Chapter 1</a:t>
            </a:r>
          </a:p>
          <a:p>
            <a:pPr marL="742950" lvl="0" indent="-742950">
              <a:spcBef>
                <a:spcPct val="0"/>
              </a:spcBef>
              <a:buAutoNum type="arabicPeriod"/>
            </a:pPr>
            <a:r>
              <a:rPr lang="en-US" noProof="0" dirty="0"/>
              <a:t>Chapter 2</a:t>
            </a:r>
          </a:p>
        </p:txBody>
      </p:sp>
    </p:spTree>
    <p:extLst>
      <p:ext uri="{BB962C8B-B14F-4D97-AF65-F5344CB8AC3E}">
        <p14:creationId xmlns:p14="http://schemas.microsoft.com/office/powerpoint/2010/main" val="231044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title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9">
            <a:extLst>
              <a:ext uri="{FF2B5EF4-FFF2-40B4-BE49-F238E27FC236}">
                <a16:creationId xmlns:a16="http://schemas.microsoft.com/office/drawing/2014/main" id="{D91D57AC-C4F7-1020-1370-E36014B9CA3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44550" y="1786740"/>
            <a:ext cx="10515600" cy="2851200"/>
          </a:xfrm>
        </p:spPr>
        <p:txBody>
          <a:bodyPr anchor="b" anchorCtr="0">
            <a:normAutofit lnSpcReduction="10000"/>
          </a:bodyPr>
          <a:lstStyle>
            <a:lvl1pPr marL="0" indent="0">
              <a:buNone/>
              <a:defRPr lang="fr-FR" sz="540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fr-FR" sz="2800" dirty="0" smtClean="0">
                <a:solidFill>
                  <a:schemeClr val="bg1"/>
                </a:solidFill>
              </a:defRPr>
            </a:lvl2pPr>
            <a:lvl3pPr>
              <a:defRPr lang="fr-FR" sz="1800" dirty="0" smtClean="0">
                <a:solidFill>
                  <a:schemeClr val="bg1"/>
                </a:solidFill>
              </a:defRPr>
            </a:lvl3pPr>
            <a:lvl4pPr>
              <a:defRPr lang="fr-FR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marL="914400" lvl="0" indent="-914400">
              <a:spcBef>
                <a:spcPct val="0"/>
              </a:spcBef>
              <a:buAutoNum type="arabicPeriod"/>
            </a:pPr>
            <a:r>
              <a:rPr lang="en-US" noProof="0" dirty="0"/>
              <a:t>Chapter title</a:t>
            </a:r>
          </a:p>
        </p:txBody>
      </p:sp>
    </p:spTree>
    <p:extLst>
      <p:ext uri="{BB962C8B-B14F-4D97-AF65-F5344CB8AC3E}">
        <p14:creationId xmlns:p14="http://schemas.microsoft.com/office/powerpoint/2010/main" val="123405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C3841B2-2299-484D-98D4-2509FDD87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6669"/>
            <a:ext cx="10515600" cy="400029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 dirty="0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57F3535-31CB-2243-9FD7-D6385CE3D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828F9A-0BE6-2040-B200-CA9AD150D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Course title</a:t>
            </a: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53960E-7BA0-5744-B871-2625A9246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6660FFC0-CE37-D2DA-C64C-88282943FA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texte 14">
            <a:extLst>
              <a:ext uri="{FF2B5EF4-FFF2-40B4-BE49-F238E27FC236}">
                <a16:creationId xmlns:a16="http://schemas.microsoft.com/office/drawing/2014/main" id="{1CBCEF23-0CBA-1770-DAC7-928349B3A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7" name="Espace réservé du texte 18">
            <a:extLst>
              <a:ext uri="{FF2B5EF4-FFF2-40B4-BE49-F238E27FC236}">
                <a16:creationId xmlns:a16="http://schemas.microsoft.com/office/drawing/2014/main" id="{722D75D0-2F96-A6F3-E7ED-20E4539A02C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69749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052425-B188-F44E-AE00-4A68E5EA43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76669"/>
            <a:ext cx="5181600" cy="400029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 dirty="0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C1B7208-E02E-5B44-B5B0-8F7E4329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76667"/>
            <a:ext cx="5181600" cy="400029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 dirty="0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6479033-F7B2-3340-AA42-C9315CC63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C51178-4562-B14F-81E9-EEB57190D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ECB1059-2BD2-DE48-8A78-A1F0952E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A92302A2-2F30-4395-7531-E36188D0A2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Espace réservé du texte 14">
            <a:extLst>
              <a:ext uri="{FF2B5EF4-FFF2-40B4-BE49-F238E27FC236}">
                <a16:creationId xmlns:a16="http://schemas.microsoft.com/office/drawing/2014/main" id="{1CCD0D53-B6A8-F19A-90D8-BB615B0207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5" name="Espace réservé du texte 18">
            <a:extLst>
              <a:ext uri="{FF2B5EF4-FFF2-40B4-BE49-F238E27FC236}">
                <a16:creationId xmlns:a16="http://schemas.microsoft.com/office/drawing/2014/main" id="{39628C7C-5050-F3BB-3DD1-A7C9629DCAB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41304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C96ECA-9486-6E4B-B4BC-7E76B34EF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8B4D8AF-4BB6-934B-A379-CBF84C9A4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8E009D-38CE-D34C-82BA-3182CA4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8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BFB9A735-A638-52B7-D68B-A96CEE779E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30ABB380-A5C2-B98F-AC5D-2B66EA3EA7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10508974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DE53F5EF-F998-643E-58EE-4D0B72403D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1044159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5855147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D844418-3E68-CA4E-AC8C-9D66D925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CD285BC-A399-C24D-9863-55D71A825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BC877D-0D91-8442-9A72-AF3420B94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5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4DADE6D4-7698-3109-FF0C-06AFA9253A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073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1A9CD95-5780-714B-A453-63A2F345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  <a:endParaRPr lang="en-US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2D7CA0C-E415-F14F-9EF8-44A9C7CBED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2697766-D919-5247-A55B-2A12BA74B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B77295-5D11-2841-AC5B-84946CEA3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CAF8E56-0D31-804D-9F4F-DD615D5E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883713E-0541-3F47-5D6E-AABDC80972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443CAD83-08A3-0CB5-024F-6E35269D4F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2" name="Espace réservé du texte 18">
            <a:extLst>
              <a:ext uri="{FF2B5EF4-FFF2-40B4-BE49-F238E27FC236}">
                <a16:creationId xmlns:a16="http://schemas.microsoft.com/office/drawing/2014/main" id="{48654FAC-FB51-D6A3-15F4-55E511891CF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4050111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 - S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EB349CDA-C85B-4F42-B8C6-26E684EDA6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  <a:endParaRPr lang="en-US" noProof="0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E92AAF-FCE8-F84A-8EB9-CC618F3F7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noProof="0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B83901-E98D-6B44-A440-F9809CD85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B14F5-1D21-F14F-B36B-BCA0A34A15FF}" type="datetimeFigureOut">
              <a:rPr lang="en-US" noProof="0" smtClean="0"/>
              <a:t>8/16/2026</a:t>
            </a:fld>
            <a:endParaRPr lang="en-US" noProof="0" dirty="0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AB5FCBB-5385-494D-A3C1-C59A68C9E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24BFBC5-500C-E04C-A17A-AC6C64E82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FE8A8-8232-1F4D-846D-4EBDDCE93EEF}" type="slidenum">
              <a:rPr lang="en-US" noProof="0" smtClean="0"/>
              <a:t>‹#›</a:t>
            </a:fld>
            <a:endParaRPr lang="en-US" noProof="0" dirty="0"/>
          </a:p>
        </p:txBody>
      </p:sp>
      <p:pic>
        <p:nvPicPr>
          <p:cNvPr id="10" name="Picture 4" descr="Le Groupe IONIS renforce son leadership dans les formations tech avec la  reprise de Supinfo - Newsroom IONIS Group">
            <a:extLst>
              <a:ext uri="{FF2B5EF4-FFF2-40B4-BE49-F238E27FC236}">
                <a16:creationId xmlns:a16="http://schemas.microsoft.com/office/drawing/2014/main" id="{EBF717CA-66DC-4F9D-EF66-78234DA00C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5262" y="186359"/>
            <a:ext cx="757859" cy="7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texte 14">
            <a:extLst>
              <a:ext uri="{FF2B5EF4-FFF2-40B4-BE49-F238E27FC236}">
                <a16:creationId xmlns:a16="http://schemas.microsoft.com/office/drawing/2014/main" id="{CF70D262-D2E9-6E44-0495-7CB03B090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84352"/>
            <a:ext cx="3957611" cy="569275"/>
          </a:xfrm>
        </p:spPr>
        <p:txBody>
          <a:bodyPr>
            <a:noAutofit/>
          </a:bodyPr>
          <a:lstStyle>
            <a:lvl1pPr marL="0" indent="0">
              <a:buNone/>
              <a:defRPr sz="3200">
                <a:latin typeface="+mj-lt"/>
              </a:defRPr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noProof="0"/>
              <a:t>1. Chapter title</a:t>
            </a:r>
          </a:p>
        </p:txBody>
      </p:sp>
      <p:sp>
        <p:nvSpPr>
          <p:cNvPr id="14" name="Espace réservé du texte 18">
            <a:extLst>
              <a:ext uri="{FF2B5EF4-FFF2-40B4-BE49-F238E27FC236}">
                <a16:creationId xmlns:a16="http://schemas.microsoft.com/office/drawing/2014/main" id="{7BE82C85-17CC-0E50-E758-016117F16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8200" y="1352782"/>
            <a:ext cx="3932237" cy="424732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en-US" sz="2400" b="1" dirty="0"/>
            </a:lvl1pPr>
          </a:lstStyle>
          <a:p>
            <a:pPr marL="0" lvl="0"/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029208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questions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que 2" descr="Questions avec un remplissage uni">
            <a:extLst>
              <a:ext uri="{FF2B5EF4-FFF2-40B4-BE49-F238E27FC236}">
                <a16:creationId xmlns:a16="http://schemas.microsoft.com/office/drawing/2014/main" id="{E45B96DF-B607-C4E4-32F8-E7B91E0BFE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  <p:sp>
        <p:nvSpPr>
          <p:cNvPr id="10" name="Espace réservé du texte 8">
            <a:extLst>
              <a:ext uri="{FF2B5EF4-FFF2-40B4-BE49-F238E27FC236}">
                <a16:creationId xmlns:a16="http://schemas.microsoft.com/office/drawing/2014/main" id="{F0EC84A3-D4F4-6086-F100-0185792716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365126"/>
            <a:ext cx="10515599" cy="579092"/>
          </a:xfrm>
        </p:spPr>
        <p:txBody>
          <a:bodyPr>
            <a:normAutofit/>
          </a:bodyPr>
          <a:lstStyle>
            <a:lvl1pPr>
              <a:defRPr lang="en-US" sz="3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1. Chapter title</a:t>
            </a:r>
          </a:p>
        </p:txBody>
      </p:sp>
    </p:spTree>
    <p:extLst>
      <p:ext uri="{BB962C8B-B14F-4D97-AF65-F5344CB8AC3E}">
        <p14:creationId xmlns:p14="http://schemas.microsoft.com/office/powerpoint/2010/main" val="197051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cture end">
    <p:bg>
      <p:bgPr>
        <a:solidFill>
          <a:srgbClr val="3D268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que 6" descr="Drapeau de course avec un remplissage uni">
            <a:extLst>
              <a:ext uri="{FF2B5EF4-FFF2-40B4-BE49-F238E27FC236}">
                <a16:creationId xmlns:a16="http://schemas.microsoft.com/office/drawing/2014/main" id="{C39BBF25-8381-335A-6308-3AFEB15FAFE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56000" y="1989000"/>
            <a:ext cx="2880000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85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1016B3E-7434-F444-85B1-81A3F66D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6C2A833-B532-5441-8F6F-770D7BDE7E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AD43F0-39EC-1047-86D5-82DFE14D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B14F5-1D21-F14F-B36B-BCA0A34A15FF}" type="datetimeFigureOut">
              <a:rPr lang="fr-FR" smtClean="0"/>
              <a:t>16/08/2026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406F5D3-EF53-A447-B4AC-97397E1C33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8542739-B2AF-EA41-A1C0-C7A7135EE3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FE8A8-8232-1F4D-846D-4EBDDCE93EEF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8103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66" r:id="rId4"/>
    <p:sldLayoutId id="2147483652" r:id="rId5"/>
    <p:sldLayoutId id="2147483654" r:id="rId6"/>
    <p:sldLayoutId id="2147483655" r:id="rId7"/>
    <p:sldLayoutId id="2147483656" r:id="rId8"/>
    <p:sldLayoutId id="2147483657" r:id="rId9"/>
    <p:sldLayoutId id="2147483661" r:id="rId10"/>
    <p:sldLayoutId id="214748366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hashicorp.com/terraform/language/syntax/js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instanc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registry.terraform.io/providers/hashicorp/aws/latest/docs/resources/db_instance" TargetMode="Externa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vpc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security_grou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iam_user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iam_user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iam_user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registry.terraform.io/providers/hashicorp/aws/latest/docs/resources/iam_user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C06DC-4D1A-B2CB-5A63-A1C912BA95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Terraform Basics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2F19D57-529B-F55E-AEFA-DE3148EB72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5HASH – Infrastructure as Code (</a:t>
            </a:r>
            <a:r>
              <a:rPr lang="en-US" dirty="0" err="1"/>
              <a:t>IaC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19379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77649D1-4E1D-5D9D-0C8D-8F96CAFDE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Understand the structure and syntax of HCL.</a:t>
            </a:r>
          </a:p>
          <a:p>
            <a:r>
              <a:rPr lang="en-US" dirty="0"/>
              <a:t>Learn how to define resources and providers in Terraform configurations.</a:t>
            </a:r>
          </a:p>
          <a:p>
            <a:r>
              <a:rPr lang="en-US" dirty="0"/>
              <a:t>Understand how to use Data Sources in </a:t>
            </a:r>
            <a:r>
              <a:rPr lang="en-US"/>
              <a:t>Terraform configurations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8B94824-AC9C-1F69-CE01-033721EDBA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Lesson 2: Terraform Basics</a:t>
            </a: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7919598-A2C5-747A-61F9-1F701E8DCEF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</p:spTree>
    <p:extLst>
      <p:ext uri="{BB962C8B-B14F-4D97-AF65-F5344CB8AC3E}">
        <p14:creationId xmlns:p14="http://schemas.microsoft.com/office/powerpoint/2010/main" val="3611776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B1BAA0-5E36-154D-61E1-4BDD524F79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Summary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3DD7B0-B0A8-8FDB-52AB-3930D01F17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/>
              <a:t>Syntax and Structure of HCL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Defining Resources</a:t>
            </a: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Setting up Providers</a:t>
            </a:r>
          </a:p>
          <a:p>
            <a:pPr marL="742950" indent="-742950">
              <a:buAutoNum type="arabicPeriod"/>
            </a:pPr>
            <a:r>
              <a:rPr lang="en-US">
                <a:ea typeface="Calibri Light"/>
                <a:cs typeface="Calibri Light"/>
              </a:rPr>
              <a:t>Using Data Sources</a:t>
            </a:r>
            <a:endParaRPr lang="en-US"/>
          </a:p>
          <a:p>
            <a:pPr marL="0" indent="0">
              <a:buNone/>
            </a:pPr>
            <a:endParaRPr lang="en-US"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3129097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0E105F3-BC36-9B9A-805E-53C6C674CA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1. Syntax and Structure of HCL</a:t>
            </a:r>
          </a:p>
        </p:txBody>
      </p:sp>
    </p:spTree>
    <p:extLst>
      <p:ext uri="{BB962C8B-B14F-4D97-AF65-F5344CB8AC3E}">
        <p14:creationId xmlns:p14="http://schemas.microsoft.com/office/powerpoint/2010/main" val="410291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Syntax elements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E35F1F5-69D6-95EA-A493-A7099164369C}"/>
              </a:ext>
            </a:extLst>
          </p:cNvPr>
          <p:cNvSpPr txBox="1"/>
          <p:nvPr/>
        </p:nvSpPr>
        <p:spPr>
          <a:xfrm>
            <a:off x="3399692" y="2153458"/>
            <a:ext cx="7545948" cy="4031873"/>
          </a:xfrm>
          <a:prstGeom prst="rect">
            <a:avLst/>
          </a:prstGeom>
          <a:solidFill>
            <a:srgbClr val="3D2683"/>
          </a:solidFill>
        </p:spPr>
        <p:txBody>
          <a:bodyPr wrap="square">
            <a:spAutoFit/>
          </a:bodyPr>
          <a:lstStyle/>
          <a:p>
            <a:endParaRPr lang="fr-FR" sz="1600" dirty="0">
              <a:solidFill>
                <a:srgbClr val="4EC9B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aws_instance</a:t>
            </a:r>
            <a:r>
              <a:rPr lang="fr-FR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fr-FR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count 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fr-FR" sz="160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-argument first</a:t>
            </a:r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ami 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"abc123"</a:t>
            </a:r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fr-FR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instance_type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"t2.micro"</a:t>
            </a:r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fr-FR" sz="16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network_interface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F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# ...</a:t>
            </a:r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b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fr-FR" sz="160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lifecycle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r-F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  # </a:t>
            </a:r>
            <a:r>
              <a:rPr lang="fr-FR" sz="160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meta</a:t>
            </a:r>
            <a:r>
              <a:rPr lang="fr-FR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-argument block last</a:t>
            </a:r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fr-FR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create_before_destroy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B669195-3EF6-4FF4-6110-24FB780ECB75}"/>
              </a:ext>
            </a:extLst>
          </p:cNvPr>
          <p:cNvSpPr txBox="1"/>
          <p:nvPr/>
        </p:nvSpPr>
        <p:spPr>
          <a:xfrm>
            <a:off x="976924" y="3978177"/>
            <a:ext cx="1211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Arguments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31569DF-AB06-52D2-190B-4D7239DCB031}"/>
              </a:ext>
            </a:extLst>
          </p:cNvPr>
          <p:cNvSpPr/>
          <p:nvPr/>
        </p:nvSpPr>
        <p:spPr>
          <a:xfrm>
            <a:off x="3366589" y="2758831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061E4A9-804A-25D2-4F54-24410B2C0B7C}"/>
              </a:ext>
            </a:extLst>
          </p:cNvPr>
          <p:cNvSpPr/>
          <p:nvPr/>
        </p:nvSpPr>
        <p:spPr>
          <a:xfrm>
            <a:off x="3371665" y="3003395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6DADD5C-94E0-8664-4F2F-BFC396795CB7}"/>
              </a:ext>
            </a:extLst>
          </p:cNvPr>
          <p:cNvSpPr/>
          <p:nvPr/>
        </p:nvSpPr>
        <p:spPr>
          <a:xfrm>
            <a:off x="3371665" y="3247960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FC83E2D1-CF19-E979-2AF7-E7EC64C181D7}"/>
              </a:ext>
            </a:extLst>
          </p:cNvPr>
          <p:cNvSpPr/>
          <p:nvPr/>
        </p:nvSpPr>
        <p:spPr>
          <a:xfrm>
            <a:off x="3366589" y="5218406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cteur en arc 14">
            <a:extLst>
              <a:ext uri="{FF2B5EF4-FFF2-40B4-BE49-F238E27FC236}">
                <a16:creationId xmlns:a16="http://schemas.microsoft.com/office/drawing/2014/main" id="{00BCBB54-B6FE-516D-EF47-C37C47D7575E}"/>
              </a:ext>
            </a:extLst>
          </p:cNvPr>
          <p:cNvCxnSpPr>
            <a:cxnSpLocks/>
            <a:stCxn id="9" idx="3"/>
            <a:endCxn id="10" idx="2"/>
          </p:cNvCxnSpPr>
          <p:nvPr/>
        </p:nvCxnSpPr>
        <p:spPr>
          <a:xfrm flipV="1">
            <a:off x="2188666" y="2833077"/>
            <a:ext cx="1177923" cy="1329766"/>
          </a:xfrm>
          <a:prstGeom prst="curved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en arc 15">
            <a:extLst>
              <a:ext uri="{FF2B5EF4-FFF2-40B4-BE49-F238E27FC236}">
                <a16:creationId xmlns:a16="http://schemas.microsoft.com/office/drawing/2014/main" id="{02353B38-80DC-DD2C-A953-0F740688C2B8}"/>
              </a:ext>
            </a:extLst>
          </p:cNvPr>
          <p:cNvCxnSpPr>
            <a:cxnSpLocks/>
            <a:stCxn id="9" idx="3"/>
            <a:endCxn id="11" idx="2"/>
          </p:cNvCxnSpPr>
          <p:nvPr/>
        </p:nvCxnSpPr>
        <p:spPr>
          <a:xfrm flipV="1">
            <a:off x="2188666" y="3077641"/>
            <a:ext cx="1182999" cy="1085202"/>
          </a:xfrm>
          <a:prstGeom prst="curved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en arc 16">
            <a:extLst>
              <a:ext uri="{FF2B5EF4-FFF2-40B4-BE49-F238E27FC236}">
                <a16:creationId xmlns:a16="http://schemas.microsoft.com/office/drawing/2014/main" id="{01B3A387-D3C0-F9EE-9D33-15F0972E6A4C}"/>
              </a:ext>
            </a:extLst>
          </p:cNvPr>
          <p:cNvCxnSpPr>
            <a:cxnSpLocks/>
            <a:stCxn id="9" idx="3"/>
            <a:endCxn id="12" idx="2"/>
          </p:cNvCxnSpPr>
          <p:nvPr/>
        </p:nvCxnSpPr>
        <p:spPr>
          <a:xfrm flipV="1">
            <a:off x="2188666" y="3322206"/>
            <a:ext cx="1182999" cy="840637"/>
          </a:xfrm>
          <a:prstGeom prst="curved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en arc 22">
            <a:extLst>
              <a:ext uri="{FF2B5EF4-FFF2-40B4-BE49-F238E27FC236}">
                <a16:creationId xmlns:a16="http://schemas.microsoft.com/office/drawing/2014/main" id="{08686924-5DBA-A663-CAAD-61CE10B48397}"/>
              </a:ext>
            </a:extLst>
          </p:cNvPr>
          <p:cNvCxnSpPr>
            <a:cxnSpLocks/>
            <a:stCxn id="9" idx="3"/>
            <a:endCxn id="13" idx="2"/>
          </p:cNvCxnSpPr>
          <p:nvPr/>
        </p:nvCxnSpPr>
        <p:spPr>
          <a:xfrm>
            <a:off x="2188666" y="4162843"/>
            <a:ext cx="1177923" cy="1129809"/>
          </a:xfrm>
          <a:prstGeom prst="curved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838DD51C-BB7C-6937-1D35-F52C3E0BC864}"/>
              </a:ext>
            </a:extLst>
          </p:cNvPr>
          <p:cNvSpPr txBox="1"/>
          <p:nvPr/>
        </p:nvSpPr>
        <p:spPr>
          <a:xfrm>
            <a:off x="9829121" y="4083857"/>
            <a:ext cx="686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Block</a:t>
            </a:r>
          </a:p>
        </p:txBody>
      </p:sp>
      <p:sp>
        <p:nvSpPr>
          <p:cNvPr id="32" name="Accolade fermante 31">
            <a:extLst>
              <a:ext uri="{FF2B5EF4-FFF2-40B4-BE49-F238E27FC236}">
                <a16:creationId xmlns:a16="http://schemas.microsoft.com/office/drawing/2014/main" id="{F305E3F6-9F34-0E3B-201A-A91EBE427D6C}"/>
              </a:ext>
            </a:extLst>
          </p:cNvPr>
          <p:cNvSpPr/>
          <p:nvPr/>
        </p:nvSpPr>
        <p:spPr>
          <a:xfrm>
            <a:off x="9532137" y="2571196"/>
            <a:ext cx="296984" cy="3321764"/>
          </a:xfrm>
          <a:prstGeom prst="rightBrace">
            <a:avLst>
              <a:gd name="adj1" fmla="val 8333"/>
              <a:gd name="adj2" fmla="val 50706"/>
            </a:avLst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ccolade fermante 32">
            <a:extLst>
              <a:ext uri="{FF2B5EF4-FFF2-40B4-BE49-F238E27FC236}">
                <a16:creationId xmlns:a16="http://schemas.microsoft.com/office/drawing/2014/main" id="{69ADE65A-034A-5A2A-369F-5C01E5311550}"/>
              </a:ext>
            </a:extLst>
          </p:cNvPr>
          <p:cNvSpPr/>
          <p:nvPr/>
        </p:nvSpPr>
        <p:spPr>
          <a:xfrm>
            <a:off x="7412394" y="4812710"/>
            <a:ext cx="289170" cy="753464"/>
          </a:xfrm>
          <a:prstGeom prst="rightBrace">
            <a:avLst>
              <a:gd name="adj1" fmla="val 8333"/>
              <a:gd name="adj2" fmla="val 50706"/>
            </a:avLst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ccolade fermante 34">
            <a:extLst>
              <a:ext uri="{FF2B5EF4-FFF2-40B4-BE49-F238E27FC236}">
                <a16:creationId xmlns:a16="http://schemas.microsoft.com/office/drawing/2014/main" id="{31695E2E-C493-ED91-A39B-E5060D5988AF}"/>
              </a:ext>
            </a:extLst>
          </p:cNvPr>
          <p:cNvSpPr/>
          <p:nvPr/>
        </p:nvSpPr>
        <p:spPr>
          <a:xfrm>
            <a:off x="7388948" y="3846709"/>
            <a:ext cx="289170" cy="606480"/>
          </a:xfrm>
          <a:prstGeom prst="rightBrace">
            <a:avLst>
              <a:gd name="adj1" fmla="val 8333"/>
              <a:gd name="adj2" fmla="val 50706"/>
            </a:avLst>
          </a:prstGeom>
          <a:ln>
            <a:solidFill>
              <a:schemeClr val="bg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09863626-242C-52C4-CC55-E7050FAF6337}"/>
              </a:ext>
            </a:extLst>
          </p:cNvPr>
          <p:cNvSpPr txBox="1"/>
          <p:nvPr/>
        </p:nvSpPr>
        <p:spPr>
          <a:xfrm>
            <a:off x="7734653" y="3826783"/>
            <a:ext cx="84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Nested</a:t>
            </a:r>
          </a:p>
          <a:p>
            <a:r>
              <a:rPr lang="en-US" dirty="0">
                <a:solidFill>
                  <a:schemeClr val="bg1"/>
                </a:solidFill>
              </a:rPr>
              <a:t>block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477371F3-C3F4-91D2-4C2D-15D242D1C74E}"/>
              </a:ext>
            </a:extLst>
          </p:cNvPr>
          <p:cNvSpPr txBox="1"/>
          <p:nvPr/>
        </p:nvSpPr>
        <p:spPr>
          <a:xfrm>
            <a:off x="7734653" y="4876239"/>
            <a:ext cx="8480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Nested</a:t>
            </a:r>
          </a:p>
          <a:p>
            <a:r>
              <a:rPr lang="en-US" dirty="0">
                <a:solidFill>
                  <a:schemeClr val="bg1"/>
                </a:solidFill>
              </a:rPr>
              <a:t>block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FA3666E4-01E0-2450-2A52-C71A77246991}"/>
              </a:ext>
            </a:extLst>
          </p:cNvPr>
          <p:cNvSpPr txBox="1"/>
          <p:nvPr/>
        </p:nvSpPr>
        <p:spPr>
          <a:xfrm>
            <a:off x="5590439" y="1591147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Labels</a:t>
            </a:r>
          </a:p>
        </p:txBody>
      </p:sp>
      <p:cxnSp>
        <p:nvCxnSpPr>
          <p:cNvPr id="44" name="Connecteur en arc 43">
            <a:extLst>
              <a:ext uri="{FF2B5EF4-FFF2-40B4-BE49-F238E27FC236}">
                <a16:creationId xmlns:a16="http://schemas.microsoft.com/office/drawing/2014/main" id="{D7B5120B-5F55-BC8D-FA2F-BB70B1823F05}"/>
              </a:ext>
            </a:extLst>
          </p:cNvPr>
          <p:cNvCxnSpPr>
            <a:cxnSpLocks/>
            <a:stCxn id="43" idx="2"/>
            <a:endCxn id="65" idx="0"/>
          </p:cNvCxnSpPr>
          <p:nvPr/>
        </p:nvCxnSpPr>
        <p:spPr>
          <a:xfrm rot="5400000">
            <a:off x="5420593" y="1862348"/>
            <a:ext cx="458200" cy="654463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en arc 46">
            <a:extLst>
              <a:ext uri="{FF2B5EF4-FFF2-40B4-BE49-F238E27FC236}">
                <a16:creationId xmlns:a16="http://schemas.microsoft.com/office/drawing/2014/main" id="{16307070-337B-DB88-1047-E77FC4C9F495}"/>
              </a:ext>
            </a:extLst>
          </p:cNvPr>
          <p:cNvCxnSpPr>
            <a:cxnSpLocks/>
            <a:stCxn id="43" idx="2"/>
            <a:endCxn id="66" idx="0"/>
          </p:cNvCxnSpPr>
          <p:nvPr/>
        </p:nvCxnSpPr>
        <p:spPr>
          <a:xfrm rot="16200000" flipH="1">
            <a:off x="6105989" y="1831413"/>
            <a:ext cx="458200" cy="716331"/>
          </a:xfrm>
          <a:prstGeom prst="curvedConnector3">
            <a:avLst>
              <a:gd name="adj1" fmla="val 5000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3A960892-5CD4-440E-A478-348A68D9921E}"/>
              </a:ext>
            </a:extLst>
          </p:cNvPr>
          <p:cNvSpPr txBox="1"/>
          <p:nvPr/>
        </p:nvSpPr>
        <p:spPr>
          <a:xfrm>
            <a:off x="8686430" y="1591147"/>
            <a:ext cx="1200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Comments</a:t>
            </a:r>
          </a:p>
        </p:txBody>
      </p:sp>
      <p:cxnSp>
        <p:nvCxnSpPr>
          <p:cNvPr id="51" name="Connecteur en arc 50">
            <a:extLst>
              <a:ext uri="{FF2B5EF4-FFF2-40B4-BE49-F238E27FC236}">
                <a16:creationId xmlns:a16="http://schemas.microsoft.com/office/drawing/2014/main" id="{247903D8-8DD4-7B54-814F-6C05C15E19DA}"/>
              </a:ext>
            </a:extLst>
          </p:cNvPr>
          <p:cNvCxnSpPr>
            <a:cxnSpLocks/>
            <a:stCxn id="50" idx="2"/>
            <a:endCxn id="63" idx="6"/>
          </p:cNvCxnSpPr>
          <p:nvPr/>
        </p:nvCxnSpPr>
        <p:spPr>
          <a:xfrm rot="5400000">
            <a:off x="7904733" y="1451151"/>
            <a:ext cx="872598" cy="1891254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4" name="Connecteur en arc 53">
            <a:extLst>
              <a:ext uri="{FF2B5EF4-FFF2-40B4-BE49-F238E27FC236}">
                <a16:creationId xmlns:a16="http://schemas.microsoft.com/office/drawing/2014/main" id="{14AC01E4-C660-975B-CF94-39301E473BC7}"/>
              </a:ext>
            </a:extLst>
          </p:cNvPr>
          <p:cNvCxnSpPr>
            <a:cxnSpLocks/>
            <a:stCxn id="50" idx="2"/>
            <a:endCxn id="62" idx="6"/>
          </p:cNvCxnSpPr>
          <p:nvPr/>
        </p:nvCxnSpPr>
        <p:spPr>
          <a:xfrm rot="5400000">
            <a:off x="6649045" y="2312871"/>
            <a:ext cx="2990006" cy="2285223"/>
          </a:xfrm>
          <a:prstGeom prst="curved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2" name="Ellipse 61">
            <a:extLst>
              <a:ext uri="{FF2B5EF4-FFF2-40B4-BE49-F238E27FC236}">
                <a16:creationId xmlns:a16="http://schemas.microsoft.com/office/drawing/2014/main" id="{66838677-DDC2-F4AF-12FB-5E4AF7E4E348}"/>
              </a:ext>
            </a:extLst>
          </p:cNvPr>
          <p:cNvSpPr/>
          <p:nvPr/>
        </p:nvSpPr>
        <p:spPr>
          <a:xfrm>
            <a:off x="6852944" y="4876239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4C972236-3EED-D70C-5246-E174FC32A3DF}"/>
              </a:ext>
            </a:extLst>
          </p:cNvPr>
          <p:cNvSpPr/>
          <p:nvPr/>
        </p:nvSpPr>
        <p:spPr>
          <a:xfrm>
            <a:off x="7246913" y="2758831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4974EF28-C535-5C59-EC60-D0F55268EFCD}"/>
              </a:ext>
            </a:extLst>
          </p:cNvPr>
          <p:cNvSpPr/>
          <p:nvPr/>
        </p:nvSpPr>
        <p:spPr>
          <a:xfrm>
            <a:off x="5248215" y="2418679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4D191750-806D-D4BA-C3C5-84BF0FC9779F}"/>
              </a:ext>
            </a:extLst>
          </p:cNvPr>
          <p:cNvSpPr/>
          <p:nvPr/>
        </p:nvSpPr>
        <p:spPr>
          <a:xfrm>
            <a:off x="6619009" y="2418679"/>
            <a:ext cx="148492" cy="148492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65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E6A220-3127-F3F8-91EF-7CA8BE50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Syntax: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&lt;name&gt; = &lt;value&gt;</a:t>
            </a:r>
          </a:p>
          <a:p>
            <a:r>
              <a:rPr lang="en-US" dirty="0">
                <a:cs typeface="Consolas" panose="020B0609020204030204" pitchFamily="49" charset="0"/>
              </a:rPr>
              <a:t>Arguments are context dependent. The valid value types is determined by the context where they appear.</a:t>
            </a:r>
          </a:p>
          <a:p>
            <a:r>
              <a:rPr lang="en-US" dirty="0">
                <a:cs typeface="Consolas" panose="020B0609020204030204" pitchFamily="49" charset="0"/>
              </a:rPr>
              <a:t>Arguments’ values can be determined by arbitrary expressions allowing it to be determined from other values.</a:t>
            </a:r>
          </a:p>
          <a:p>
            <a:r>
              <a:rPr lang="en-US" dirty="0">
                <a:cs typeface="Consolas" panose="020B0609020204030204" pitchFamily="49" charset="0"/>
              </a:rPr>
              <a:t>There exists additional Meta Arguments that can be used independently of the resource type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depends_on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for_each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provider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lifecycle</a:t>
            </a:r>
            <a:r>
              <a:rPr lang="en-US" dirty="0"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33965"/>
          </a:xfrm>
        </p:spPr>
        <p:txBody>
          <a:bodyPr/>
          <a:lstStyle/>
          <a:p>
            <a:r>
              <a:rPr lang="en-US" dirty="0"/>
              <a:t>Arguments</a:t>
            </a:r>
          </a:p>
        </p:txBody>
      </p:sp>
    </p:spTree>
    <p:extLst>
      <p:ext uri="{BB962C8B-B14F-4D97-AF65-F5344CB8AC3E}">
        <p14:creationId xmlns:p14="http://schemas.microsoft.com/office/powerpoint/2010/main" val="87499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E6A220-3127-F3F8-91EF-7CA8BE5035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Syntax: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block_type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 &lt;labels&gt;{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&lt;body&gt;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25C690AA-2028-1D82-AD80-8A9B2D2F8C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A block structure is defined by its type (</a:t>
            </a:r>
            <a:r>
              <a:rPr lang="fr-FR" sz="2800" dirty="0" err="1"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resource</a:t>
            </a:r>
            <a:r>
              <a:rPr lang="en-US" dirty="0"/>
              <a:t> in the example)</a:t>
            </a:r>
          </a:p>
          <a:p>
            <a:r>
              <a:rPr lang="en-US" dirty="0"/>
              <a:t>The number of labels that a block expects is defined by its type</a:t>
            </a:r>
          </a:p>
          <a:p>
            <a:r>
              <a:rPr lang="en-US" dirty="0"/>
              <a:t>The block body is delimited by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{}</a:t>
            </a: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Blocks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DB4C7BB-3909-739B-7F70-0B78381454D7}"/>
              </a:ext>
            </a:extLst>
          </p:cNvPr>
          <p:cNvSpPr txBox="1"/>
          <p:nvPr/>
        </p:nvSpPr>
        <p:spPr>
          <a:xfrm>
            <a:off x="838200" y="4304890"/>
            <a:ext cx="5181599" cy="1200329"/>
          </a:xfrm>
          <a:prstGeom prst="rect">
            <a:avLst/>
          </a:prstGeom>
          <a:solidFill>
            <a:srgbClr val="3D2683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aws_instance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"example"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ami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"abc123"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# ...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51671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E6A220-3127-F3F8-91EF-7CA8BE50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onsolas" panose="020B0609020204030204" pitchFamily="49" charset="0"/>
              </a:rPr>
              <a:t>Identifiers can contain letters, digits,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dirty="0">
                <a:cs typeface="Consolas" panose="020B0609020204030204" pitchFamily="49" charset="0"/>
              </a:rPr>
              <a:t> 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</a:t>
            </a:r>
            <a:endParaRPr lang="en-US" dirty="0">
              <a:cs typeface="Consolas" panose="020B0609020204030204" pitchFamily="49" charset="0"/>
            </a:endParaRPr>
          </a:p>
          <a:p>
            <a:r>
              <a:rPr lang="en-US" dirty="0">
                <a:cs typeface="Consolas" panose="020B0609020204030204" pitchFamily="49" charset="0"/>
              </a:rPr>
              <a:t>The first character is not a digit</a:t>
            </a:r>
          </a:p>
          <a:p>
            <a:r>
              <a:rPr lang="en-US" dirty="0">
                <a:cs typeface="Consolas" panose="020B0609020204030204" pitchFamily="49" charset="0"/>
              </a:rPr>
              <a:t>They can represent block types, resource names, variables, argument names, …</a:t>
            </a:r>
          </a:p>
          <a:p>
            <a:r>
              <a:rPr lang="en-US" dirty="0">
                <a:cs typeface="Consolas" panose="020B0609020204030204" pitchFamily="49" charset="0"/>
              </a:rPr>
              <a:t>Idiomatically, they use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snake_case</a:t>
            </a:r>
            <a:r>
              <a:rPr lang="en-US" dirty="0">
                <a:cs typeface="Consolas" panose="020B0609020204030204" pitchFamily="49" charset="0"/>
              </a:rPr>
              <a:t> and </a:t>
            </a:r>
            <a:r>
              <a:rPr lang="en-US" dirty="0" err="1">
                <a:cs typeface="Consolas" panose="020B0609020204030204" pitchFamily="49" charset="0"/>
              </a:rPr>
              <a:t>hypen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–</a:t>
            </a:r>
            <a:r>
              <a:rPr lang="en-US" dirty="0">
                <a:cs typeface="Consolas" panose="020B0609020204030204" pitchFamily="49" charset="0"/>
              </a:rPr>
              <a:t>separated segments.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Identifiers</a:t>
            </a:r>
          </a:p>
        </p:txBody>
      </p:sp>
    </p:spTree>
    <p:extLst>
      <p:ext uri="{BB962C8B-B14F-4D97-AF65-F5344CB8AC3E}">
        <p14:creationId xmlns:p14="http://schemas.microsoft.com/office/powerpoint/2010/main" val="2496415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E6A220-3127-F3F8-91EF-7CA8BE50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Syntax: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#  single line comment (preferred)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// single line comment (alternative to #)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/* multi-line comment */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17980500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01696F35-6B79-D41B-5AF7-89A588F9628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String: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"t2.micro"</a:t>
            </a:r>
          </a:p>
          <a:p>
            <a:r>
              <a:rPr lang="en-US" dirty="0"/>
              <a:t>Numbers: 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42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3.14</a:t>
            </a:r>
          </a:p>
          <a:p>
            <a:r>
              <a:rPr lang="en-US" dirty="0"/>
              <a:t>Bool: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dirty="0"/>
              <a:t>,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false</a:t>
            </a:r>
          </a:p>
          <a:p>
            <a:r>
              <a:rPr lang="en-US" dirty="0"/>
              <a:t>List (or Tuple):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["web", "app", "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"]</a:t>
            </a:r>
          </a:p>
          <a:p>
            <a:pPr marL="457200" lvl="1" indent="0">
              <a:buNone/>
            </a:pPr>
            <a:r>
              <a:rPr lang="en-US" dirty="0"/>
              <a:t>Accessing values: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my_list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[2]</a:t>
            </a:r>
            <a:r>
              <a:rPr lang="en-US" dirty="0"/>
              <a:t> 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CD4D26A-7D51-6F06-889E-A4C910DE24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Set (unordered collection of unique elements of the same type):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toset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(["a", "b", "c"])</a:t>
            </a:r>
          </a:p>
          <a:p>
            <a:r>
              <a:rPr lang="en-US" dirty="0"/>
              <a:t>Map (or Object):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{name = "John", age  = 52}</a:t>
            </a:r>
          </a:p>
          <a:p>
            <a:pPr marL="457200" lvl="1" indent="0">
              <a:buNone/>
            </a:pPr>
            <a:r>
              <a:rPr lang="en-US" dirty="0"/>
              <a:t>Accessing values: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my_map.key</a:t>
            </a:r>
            <a:r>
              <a:rPr lang="en-US" dirty="0"/>
              <a:t> or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my_map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[”key”]</a:t>
            </a:r>
            <a:r>
              <a:rPr lang="en-US" dirty="0"/>
              <a:t>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dirty="0">
                <a:cs typeface="Consolas" panose="020B0609020204030204" pitchFamily="49" charset="0"/>
              </a:rPr>
              <a:t> represents the absence of value. Behaves as an omission using the argument’s default value if any (or raise an error if mandatory).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</p:spTree>
    <p:extLst>
      <p:ext uri="{BB962C8B-B14F-4D97-AF65-F5344CB8AC3E}">
        <p14:creationId xmlns:p14="http://schemas.microsoft.com/office/powerpoint/2010/main" val="404634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E6A220-3127-F3F8-91EF-7CA8BE5035C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cs typeface="Consolas" panose="020B0609020204030204" pitchFamily="49" charset="0"/>
              </a:rPr>
              <a:t>Interpolation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"instance-</a:t>
            </a:r>
            <a:r>
              <a:rPr lang="en-US" dirty="0">
                <a:solidFill>
                  <a:srgbClr val="3D268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dirty="0" err="1">
                <a:solidFill>
                  <a:srgbClr val="3D268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count.index</a:t>
            </a:r>
            <a:r>
              <a:rPr lang="en-US" dirty="0">
                <a:solidFill>
                  <a:srgbClr val="3D268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endParaRPr lang="en-US" dirty="0">
              <a:cs typeface="Consolas" panose="020B0609020204030204" pitchFamily="49" charset="0"/>
            </a:endParaRPr>
          </a:p>
          <a:p>
            <a:r>
              <a:rPr lang="en-US" dirty="0">
                <a:cs typeface="Consolas" panose="020B0609020204030204" pitchFamily="49" charset="0"/>
              </a:rPr>
              <a:t>Operators (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==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!=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&amp;&amp;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||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>
                <a:cs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dirty="0">
                <a:cs typeface="Consolas" panose="020B0609020204030204" pitchFamily="49" charset="0"/>
              </a:rPr>
              <a:t>, and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~</a:t>
            </a:r>
            <a:r>
              <a:rPr lang="en-US" dirty="0"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cs typeface="Consolas" panose="020B0609020204030204" pitchFamily="49" charset="0"/>
              </a:rPr>
              <a:t>Functions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length(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var.instance_names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dirty="0">
                <a:cs typeface="Consolas" panose="020B0609020204030204" pitchFamily="49" charset="0"/>
              </a:rPr>
              <a:t>Conditionals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condition ?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true_val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false_val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dirty="0">
              <a:cs typeface="Consolas" panose="020B0609020204030204" pitchFamily="49" charset="0"/>
            </a:endParaRPr>
          </a:p>
        </p:txBody>
      </p:sp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7AF7097E-9012-70A6-363B-FD31759C89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For (lists)</a:t>
            </a:r>
          </a:p>
          <a:p>
            <a:pPr marL="457200" lvl="1" indent="0">
              <a:buNone/>
            </a:pPr>
            <a:r>
              <a:rPr lang="en-US" dirty="0"/>
              <a:t>Takes a list, returns a list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[for s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var.list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upper(s)]</a:t>
            </a:r>
          </a:p>
          <a:p>
            <a:r>
              <a:rPr lang="en-US" dirty="0"/>
              <a:t>For (objects)</a:t>
            </a:r>
          </a:p>
          <a:p>
            <a:pPr marL="457200" lvl="1" indent="0">
              <a:buNone/>
            </a:pPr>
            <a:r>
              <a:rPr lang="en-US" dirty="0"/>
              <a:t>Takes a list, returns an object</a:t>
            </a:r>
          </a:p>
          <a:p>
            <a:pPr marL="457200" lvl="1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{for s in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var.list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: s =&gt; upper(s)}</a:t>
            </a:r>
          </a:p>
          <a:p>
            <a:r>
              <a:rPr lang="en-US" dirty="0"/>
              <a:t>Splat expressions</a:t>
            </a:r>
          </a:p>
          <a:p>
            <a:pPr marL="457200" lvl="1" indent="0">
              <a:buNone/>
            </a:pPr>
            <a:r>
              <a:rPr lang="en-US" dirty="0"/>
              <a:t>Simplifies </a:t>
            </a:r>
            <a:r>
              <a:rPr lang="en-US" i="1" dirty="0"/>
              <a:t>for</a:t>
            </a:r>
            <a:r>
              <a:rPr lang="en-US" dirty="0"/>
              <a:t> expressions with lists</a:t>
            </a:r>
          </a:p>
          <a:p>
            <a:pPr marL="457200" lvl="1" indent="0">
              <a:buNone/>
            </a:pP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var.list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[*].id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Basic Expressions</a:t>
            </a:r>
          </a:p>
        </p:txBody>
      </p:sp>
    </p:spTree>
    <p:extLst>
      <p:ext uri="{BB962C8B-B14F-4D97-AF65-F5344CB8AC3E}">
        <p14:creationId xmlns:p14="http://schemas.microsoft.com/office/powerpoint/2010/main" val="993705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E6A220-3127-F3F8-91EF-7CA8BE50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Terraform also supports an alternative JSON compatible syntax</a:t>
            </a:r>
          </a:p>
          <a:p>
            <a:r>
              <a:rPr lang="en-US" dirty="0"/>
              <a:t>JSON syntax is used for programmatically generated configurations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and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tf.json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can coexist in the same project directory</a:t>
            </a:r>
          </a:p>
          <a:p>
            <a:r>
              <a:rPr lang="en-US" dirty="0"/>
              <a:t>More on JSON syntax: </a:t>
            </a:r>
            <a:r>
              <a:rPr lang="en-US" dirty="0">
                <a:hlinkClick r:id="rId3"/>
              </a:rPr>
              <a:t>https://developer.hashicorp.com/terraform/language/syntax/json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1. Syntax and Structure of HCL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33965"/>
          </a:xfrm>
        </p:spPr>
        <p:txBody>
          <a:bodyPr/>
          <a:lstStyle/>
          <a:p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b="0" dirty="0" err="1">
                <a:latin typeface="Consolas" panose="020B0609020204030204" pitchFamily="49" charset="0"/>
                <a:cs typeface="Consolas" panose="020B0609020204030204" pitchFamily="49" charset="0"/>
              </a:rPr>
              <a:t>tf.json</a:t>
            </a:r>
            <a:r>
              <a:rPr lang="en-US" dirty="0"/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41755110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3AA1C157-1EC3-EF04-432F-5720101E7C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1. Syntax and Structure of HCL</a:t>
            </a:r>
          </a:p>
        </p:txBody>
      </p:sp>
    </p:spTree>
    <p:extLst>
      <p:ext uri="{BB962C8B-B14F-4D97-AF65-F5344CB8AC3E}">
        <p14:creationId xmlns:p14="http://schemas.microsoft.com/office/powerpoint/2010/main" val="4286210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0E105F3-BC36-9B9A-805E-53C6C674CA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2. Defining Resources</a:t>
            </a:r>
          </a:p>
        </p:txBody>
      </p:sp>
    </p:spTree>
    <p:extLst>
      <p:ext uri="{BB962C8B-B14F-4D97-AF65-F5344CB8AC3E}">
        <p14:creationId xmlns:p14="http://schemas.microsoft.com/office/powerpoint/2010/main" val="1319509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57D0507-E876-76B1-7EB9-0B6A2D405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rgbClr val="3D2683"/>
          </a:solidFill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resource_type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resource_name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A9955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Meta arguments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# when explicit dependencies are required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depends_on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aws_iam_role_policy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example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# create many similar resources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count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# specify which provider to use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provider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google.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europe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attribute1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value1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attribute2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value2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# Additional attributes...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Espace réservé du contenu 6">
            <a:extLst>
              <a:ext uri="{FF2B5EF4-FFF2-40B4-BE49-F238E27FC236}">
                <a16:creationId xmlns:a16="http://schemas.microsoft.com/office/drawing/2014/main" id="{D159552C-8E65-A23F-3EBE-73DFCD4921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err="1"/>
              <a:t>resource_type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This specifies the type of resource you want to create, such as an AWS EC2 instance or a Docker container.</a:t>
            </a:r>
          </a:p>
          <a:p>
            <a:pPr marL="457200" lvl="1" indent="0">
              <a:buNone/>
            </a:pPr>
            <a:r>
              <a:rPr lang="en-US" dirty="0"/>
              <a:t>Terraform uses this to determine which provider to use.</a:t>
            </a:r>
          </a:p>
          <a:p>
            <a:pPr marL="0" indent="0">
              <a:buNone/>
            </a:pPr>
            <a:r>
              <a:rPr lang="en-US" b="1" dirty="0" err="1"/>
              <a:t>resource_name</a:t>
            </a:r>
            <a:r>
              <a:rPr lang="en-US" dirty="0"/>
              <a:t>:</a:t>
            </a:r>
          </a:p>
          <a:p>
            <a:pPr marL="457200" lvl="1" indent="0">
              <a:buNone/>
            </a:pPr>
            <a:r>
              <a:rPr lang="en-US" dirty="0"/>
              <a:t>An optional name for the resource block, which must be unique within the configuration.</a:t>
            </a:r>
          </a:p>
          <a:p>
            <a:pPr marL="457200" lvl="1" indent="0">
              <a:buNone/>
            </a:pPr>
            <a:r>
              <a:rPr lang="en-US" dirty="0"/>
              <a:t>It helps you reference the resource elsewhere in the configuration.</a:t>
            </a:r>
          </a:p>
          <a:p>
            <a:pPr marL="0" indent="0">
              <a:buNone/>
            </a:pPr>
            <a:r>
              <a:rPr lang="en-US" b="1" dirty="0"/>
              <a:t>Attributes</a:t>
            </a:r>
            <a:r>
              <a:rPr lang="en-US" dirty="0"/>
              <a:t>: </a:t>
            </a:r>
          </a:p>
          <a:p>
            <a:pPr marL="457200" lvl="1" indent="0">
              <a:buNone/>
            </a:pPr>
            <a:r>
              <a:rPr lang="en-US" dirty="0"/>
              <a:t>These are key-value pairs that configure the resource.</a:t>
            </a:r>
          </a:p>
          <a:p>
            <a:pPr marL="457200" lvl="1" indent="0">
              <a:buNone/>
            </a:pPr>
            <a:r>
              <a:rPr lang="en-US" dirty="0"/>
              <a:t>The attributes available and their meanings depend on the resource type.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946A6F-F600-CBE7-6472-EA7843C29B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F9AB63AA-A9DF-B4A8-E901-FC97D2D6A3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Resource Block</a:t>
            </a:r>
          </a:p>
        </p:txBody>
      </p:sp>
    </p:spTree>
    <p:extLst>
      <p:ext uri="{BB962C8B-B14F-4D97-AF65-F5344CB8AC3E}">
        <p14:creationId xmlns:p14="http://schemas.microsoft.com/office/powerpoint/2010/main" val="3378154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4D1EE9D-38EA-0BDD-4E78-BED5C00383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Dependencies define which resources must be created before others or which resources should be destroyed before others are destroyed.</a:t>
            </a:r>
          </a:p>
          <a:p>
            <a:r>
              <a:rPr lang="en-US" dirty="0"/>
              <a:t>Implicit Dependencies:</a:t>
            </a:r>
          </a:p>
          <a:p>
            <a:pPr marL="457200" lvl="1" indent="0">
              <a:buNone/>
            </a:pPr>
            <a:r>
              <a:rPr lang="en-US" dirty="0"/>
              <a:t>Terraform automatically identifies certain dependencies based on the configuration. For example, if a resource references the output of another resource, Terraform implicitly creates a dependency between them.</a:t>
            </a:r>
          </a:p>
          <a:p>
            <a:r>
              <a:rPr lang="en-US" dirty="0"/>
              <a:t>Explicit Dependencies:</a:t>
            </a:r>
          </a:p>
          <a:p>
            <a:pPr marL="457200" lvl="1" indent="0">
              <a:buNone/>
            </a:pPr>
            <a:r>
              <a:rPr lang="en-US" dirty="0"/>
              <a:t>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depends_on</a:t>
            </a:r>
            <a:r>
              <a:rPr lang="en-US" dirty="0"/>
              <a:t> meta-argument is used within a resource block to declare dependencies on other resources.</a:t>
            </a:r>
          </a:p>
          <a:p>
            <a:pPr marL="457200" lvl="1" indent="0">
              <a:buNone/>
            </a:pPr>
            <a:r>
              <a:rPr lang="en-US" dirty="0"/>
              <a:t>Overuse of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depends_on</a:t>
            </a:r>
            <a:r>
              <a:rPr lang="en-US" dirty="0"/>
              <a:t> can lead to resource dependency cycles or unnecessary delays in resource creation.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701F9EC6-D816-8B89-CD0C-EE05A15E41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3F715BD8-E3D5-316F-9003-B1DD20EC4CC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Resources Dependencies</a:t>
            </a:r>
          </a:p>
        </p:txBody>
      </p:sp>
    </p:spTree>
    <p:extLst>
      <p:ext uri="{BB962C8B-B14F-4D97-AF65-F5344CB8AC3E}">
        <p14:creationId xmlns:p14="http://schemas.microsoft.com/office/powerpoint/2010/main" val="4141491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6EBD930-E9D1-A8FF-7C28-A6CFDC1895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&lt;RESOURCE TYPE&gt;.&lt;NAME&gt;.&lt;ATTRIBUTE&gt;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Examples: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aws_instance.example.id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cs typeface="Consolas" panose="020B0609020204030204" pitchFamily="49" charset="0"/>
              </a:rPr>
              <a:t>Resource created with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count</a:t>
            </a:r>
            <a:r>
              <a:rPr lang="en-US" dirty="0">
                <a:cs typeface="Consolas" panose="020B0609020204030204" pitchFamily="49" charset="0"/>
              </a:rPr>
              <a:t> Meta Argument:</a:t>
            </a:r>
            <a:br>
              <a:rPr lang="en-US" dirty="0">
                <a:cs typeface="Consolas" panose="020B0609020204030204" pitchFamily="49" charset="0"/>
              </a:rPr>
            </a:b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aws_instance.compute_pool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[0].id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7CE5DF-46E7-4AB3-D758-2BBF2146E94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4E35DC-0688-20F4-4286-108677DB58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Referencing Resources</a:t>
            </a:r>
          </a:p>
        </p:txBody>
      </p:sp>
    </p:spTree>
    <p:extLst>
      <p:ext uri="{BB962C8B-B14F-4D97-AF65-F5344CB8AC3E}">
        <p14:creationId xmlns:p14="http://schemas.microsoft.com/office/powerpoint/2010/main" val="2465994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AWS Elastic Compute Cloud (EC2) instances are virtual servers in the cloud that you can launch and manage.</a:t>
            </a:r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https://registry.terraform.io/providers/hashicorp/aws/latest/docs/resources/instance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aws_instance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example_instance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ami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"ami-0c55b159cbfafe1f0"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instance_type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"t2.micro"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tags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"example-instance"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EC2</a:t>
            </a:r>
          </a:p>
        </p:txBody>
      </p:sp>
    </p:spTree>
    <p:extLst>
      <p:ext uri="{BB962C8B-B14F-4D97-AF65-F5344CB8AC3E}">
        <p14:creationId xmlns:p14="http://schemas.microsoft.com/office/powerpoint/2010/main" val="41697811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Amazon RDS (Relational Database Service) offers managed database instances.</a:t>
            </a:r>
          </a:p>
          <a:p>
            <a:r>
              <a:rPr lang="en-US" dirty="0"/>
              <a:t>Documentation: </a:t>
            </a:r>
            <a:r>
              <a:rPr lang="en-US" dirty="0">
                <a:hlinkClick r:id="rId2"/>
              </a:rPr>
              <a:t>https://registry.terraform.io/providers/hashicorp/aws/latest/docs/resources/db_instance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aws_db_instance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example_db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allocated_storage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storage_type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"gp2"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engine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mysql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engine_version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"5.7"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instance_class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"db.t2.micro"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"example-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db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username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"admin"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password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"password"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RDS</a:t>
            </a:r>
          </a:p>
        </p:txBody>
      </p:sp>
    </p:spTree>
    <p:extLst>
      <p:ext uri="{BB962C8B-B14F-4D97-AF65-F5344CB8AC3E}">
        <p14:creationId xmlns:p14="http://schemas.microsoft.com/office/powerpoint/2010/main" val="30302694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Virtual Private Cloud is a logically isolated network within AWS where you can launch resources.</a:t>
            </a:r>
          </a:p>
          <a:p>
            <a:r>
              <a:rPr lang="en-US" dirty="0"/>
              <a:t>Documentation:  </a:t>
            </a:r>
            <a:r>
              <a:rPr lang="en-US" dirty="0">
                <a:hlinkClick r:id="rId3"/>
              </a:rPr>
              <a:t>https://registry.terraform.io/providers/hashicorp/aws/latest/docs/resources/vpc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aws_vpc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example_vpc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cidr_block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"10.0.0.0/16"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tags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Name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"example-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vpc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VPC</a:t>
            </a:r>
          </a:p>
        </p:txBody>
      </p:sp>
    </p:spTree>
    <p:extLst>
      <p:ext uri="{BB962C8B-B14F-4D97-AF65-F5344CB8AC3E}">
        <p14:creationId xmlns:p14="http://schemas.microsoft.com/office/powerpoint/2010/main" val="33559461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Security groups act as virtual firewalls for your EC2 instances, controlling inbound and outbound traffic.</a:t>
            </a:r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https://registry.terraform.io/providers/hashicorp/aws/latest/docs/resources/security_group</a:t>
            </a: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aws_security_group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example_sg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"example-sg"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description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 security group"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vpc_id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aws_vpc.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example_vpc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ingress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from_port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to_port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protocol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tcp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cidr_blocks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"0.0.0.0/0"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Security Group</a:t>
            </a:r>
          </a:p>
        </p:txBody>
      </p:sp>
    </p:spTree>
    <p:extLst>
      <p:ext uri="{BB962C8B-B14F-4D97-AF65-F5344CB8AC3E}">
        <p14:creationId xmlns:p14="http://schemas.microsoft.com/office/powerpoint/2010/main" val="1979533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Identity and Access Management (IAM) users are used to manage access to AWS resources. You can create IAM users and define their permissions.</a:t>
            </a:r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https://registry.terraform.io/providers/hashicorp/aws/latest/docs/resources/iam_user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aws_iam_user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example_user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"example-user"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IAM User</a:t>
            </a:r>
          </a:p>
        </p:txBody>
      </p:sp>
    </p:spTree>
    <p:extLst>
      <p:ext uri="{BB962C8B-B14F-4D97-AF65-F5344CB8AC3E}">
        <p14:creationId xmlns:p14="http://schemas.microsoft.com/office/powerpoint/2010/main" val="1963490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Amazon Route 53 is a scalable and highly available domain name system (DNS) web service. You can use Terraform to manage DNS records.</a:t>
            </a:r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https://registry.terraform.io/providers/hashicorp/aws/latest/docs/resources/iam_user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76667"/>
            <a:ext cx="5181600" cy="4000295"/>
          </a:xfrm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"aws_route53_record"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example_record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zone_id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your_zone_id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example.com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type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ttl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"300"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records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"1.2.3.4"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Route 53</a:t>
            </a:r>
          </a:p>
        </p:txBody>
      </p:sp>
    </p:spTree>
    <p:extLst>
      <p:ext uri="{BB962C8B-B14F-4D97-AF65-F5344CB8AC3E}">
        <p14:creationId xmlns:p14="http://schemas.microsoft.com/office/powerpoint/2010/main" val="1146262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Amazon Simple Notification Service (SNS) is a pub/sub messaging service. You can create SNS topics and subscribers using Terraform.</a:t>
            </a:r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https://registry.terraform.io/providers/hashicorp/aws/latest/docs/resources/iam_user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aws_sns_topic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example_topic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"example-topic"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SNS Topic</a:t>
            </a:r>
          </a:p>
        </p:txBody>
      </p:sp>
    </p:spTree>
    <p:extLst>
      <p:ext uri="{BB962C8B-B14F-4D97-AF65-F5344CB8AC3E}">
        <p14:creationId xmlns:p14="http://schemas.microsoft.com/office/powerpoint/2010/main" val="4179441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9D1D87A4-AF6E-4F8C-4748-1E16E237003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Amazon DynamoDB is a managed NoSQL database service. You can define DynamoDB tables and their schema using Terraform.</a:t>
            </a:r>
          </a:p>
          <a:p>
            <a:r>
              <a:rPr lang="en-US" dirty="0"/>
              <a:t>Documentation: </a:t>
            </a:r>
            <a:r>
              <a:rPr lang="en-US" dirty="0">
                <a:hlinkClick r:id="rId3"/>
              </a:rPr>
              <a:t>https://registry.terraform.io/providers/hashicorp/aws/latest/docs/resources/iam_user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3D8EC56-B2E4-8535-5AFA-ADC7E6996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aws_dynamodb_table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example_table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ExampleTable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billing_mode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"PAY_PER_REQUEST”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hash_key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 attribute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user_id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type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17154D0-EA2B-C985-2FF5-C77F9D8F02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2. Defining Resources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B669EAE-EFDA-3314-CAAD-67030FE6BA9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AWS Commonly Used Resources: DynamoDB Table</a:t>
            </a:r>
          </a:p>
        </p:txBody>
      </p:sp>
    </p:spTree>
    <p:extLst>
      <p:ext uri="{BB962C8B-B14F-4D97-AF65-F5344CB8AC3E}">
        <p14:creationId xmlns:p14="http://schemas.microsoft.com/office/powerpoint/2010/main" val="30374388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99F5083F-A0D2-F29A-371B-A405B158D5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2. Defining Resources</a:t>
            </a:r>
          </a:p>
        </p:txBody>
      </p:sp>
    </p:spTree>
    <p:extLst>
      <p:ext uri="{BB962C8B-B14F-4D97-AF65-F5344CB8AC3E}">
        <p14:creationId xmlns:p14="http://schemas.microsoft.com/office/powerpoint/2010/main" val="41666746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0E105F3-BC36-9B9A-805E-53C6C674CA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3. Setting up Providers</a:t>
            </a:r>
          </a:p>
        </p:txBody>
      </p:sp>
    </p:spTree>
    <p:extLst>
      <p:ext uri="{BB962C8B-B14F-4D97-AF65-F5344CB8AC3E}">
        <p14:creationId xmlns:p14="http://schemas.microsoft.com/office/powerpoint/2010/main" val="37249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9E41EDA-8662-3816-B8FD-43868BF258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Terraform relies on provider plugins to interact with specific cloud services.</a:t>
            </a:r>
          </a:p>
          <a:p>
            <a:r>
              <a:rPr lang="en-US" dirty="0"/>
              <a:t>These plugins are defined in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required_providers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/>
              <a:t>block and automatically installed by Terraform (by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terraform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dirty="0"/>
              <a:t> command).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B43CB49-92DB-22C9-956A-888868E001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terraform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required_providers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  source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hashicorp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  version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”5.19.0"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google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  source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hashicorp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/google"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  version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”5.0.0"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946A6F-F600-CBE7-6472-EA7843C29B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3. Setting up Providers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23FB4B-2964-59A2-31E0-A6E3C7AB4E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Installing Providers Plugins</a:t>
            </a:r>
          </a:p>
        </p:txBody>
      </p:sp>
    </p:spTree>
    <p:extLst>
      <p:ext uri="{BB962C8B-B14F-4D97-AF65-F5344CB8AC3E}">
        <p14:creationId xmlns:p14="http://schemas.microsoft.com/office/powerpoint/2010/main" val="30459436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1542BA0E-D170-FA19-A5EB-C4A680C17E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When you declare a provider, Terraform knows which plugin to use based on the provider's name.</a:t>
            </a:r>
          </a:p>
          <a:p>
            <a:r>
              <a:rPr lang="en-US" dirty="0"/>
              <a:t>Authentication credentials can be given through environment variables or by using the </a:t>
            </a:r>
            <a:r>
              <a:rPr lang="en-US" dirty="0" err="1"/>
              <a:t>aws</a:t>
            </a:r>
            <a:r>
              <a:rPr lang="en-US" dirty="0"/>
              <a:t> cli config/credentials files:</a:t>
            </a:r>
          </a:p>
          <a:p>
            <a:endParaRPr lang="en-US" dirty="0"/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73654ED-51A1-321A-6462-B368D2794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Specify the AWS provider block</a:t>
            </a:r>
            <a:endParaRPr lang="en-US" sz="160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provider</a:t>
            </a: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"aws"</a:t>
            </a: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region     </a:t>
            </a: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"eu-west-3"</a:t>
            </a: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Paris region</a:t>
            </a:r>
            <a:endParaRPr lang="en-US" sz="160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access_key </a:t>
            </a: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"your-access-key"</a:t>
            </a:r>
            <a:endParaRPr lang="en-US" sz="160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secret_key </a:t>
            </a: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"your-secret-key"</a:t>
            </a:r>
          </a:p>
          <a:p>
            <a:pPr marL="0" indent="0">
              <a:buNone/>
            </a:pPr>
            <a:r>
              <a:rPr lang="en-US" sz="160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# aws cli profile name (optional)</a:t>
            </a:r>
            <a:endParaRPr lang="en-US" sz="160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profile    </a:t>
            </a: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"your-profile"</a:t>
            </a:r>
            <a:endParaRPr lang="en-US" sz="160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946A6F-F600-CBE7-6472-EA7843C29B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3. Setting up Providers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23FB4B-2964-59A2-31E0-A6E3C7AB4E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Provider Block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CC04C92-5821-ADB5-74B2-E01729F778BF}"/>
              </a:ext>
            </a:extLst>
          </p:cNvPr>
          <p:cNvSpPr txBox="1"/>
          <p:nvPr/>
        </p:nvSpPr>
        <p:spPr>
          <a:xfrm>
            <a:off x="1122305" y="5592187"/>
            <a:ext cx="4897495" cy="584775"/>
          </a:xfrm>
          <a:prstGeom prst="rect">
            <a:avLst/>
          </a:prstGeom>
          <a:solidFill>
            <a:srgbClr val="3D2683"/>
          </a:solidFill>
        </p:spPr>
        <p:txBody>
          <a:bodyPr wrap="none" rtlCol="0">
            <a:spAutoFit/>
          </a:bodyPr>
          <a:lstStyle/>
          <a:p>
            <a:r>
              <a:rPr lang="fr-F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AWS_ACCESS_KEY_ID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myaccesskey</a:t>
            </a:r>
            <a:r>
              <a:rPr lang="fr-F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r-FR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AWS_SECRET_ACCESS_KEY</a:t>
            </a:r>
            <a:r>
              <a:rPr lang="fr-FR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r-F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r-FR" sz="160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mysecretkey</a:t>
            </a:r>
            <a:r>
              <a:rPr lang="fr-FR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fr-FR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4765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A633299-BFAA-8568-19DD-6EA4D4A635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It is possible to use multiple providers in the same module</a:t>
            </a:r>
          </a:p>
          <a:p>
            <a:r>
              <a:rPr lang="en-US" dirty="0"/>
              <a:t>In the case that it is necessary to reference multiple instances of the same provider an alias can be used to identify them</a:t>
            </a:r>
          </a:p>
          <a:p>
            <a:r>
              <a:rPr lang="en-US" dirty="0"/>
              <a:t>In that case, the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provider</a:t>
            </a:r>
            <a:r>
              <a:rPr lang="en-US" dirty="0"/>
              <a:t> meta argument is used in resource definitions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19B0DA32-9A0C-7FB4-3D5D-7F716E530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solidFill>
            <a:srgbClr val="3D2683"/>
          </a:solidFill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provider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alias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paris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region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"eu-west-3"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Paris region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provider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alias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"brussels"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region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"eu-west-1"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Brussels region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an S3 bucket in the Paris region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"aws_s3_bucket"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bucket_paris</a:t>
            </a:r>
            <a:r>
              <a:rPr lang="en-US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provider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aws.</a:t>
            </a:r>
            <a:r>
              <a:rPr lang="en-US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paris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bucket </a:t>
            </a: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"my-</a:t>
            </a:r>
            <a:r>
              <a:rPr lang="en-US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paris</a:t>
            </a:r>
            <a:r>
              <a:rPr lang="en-US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-bucket"</a:t>
            </a:r>
            <a:endParaRPr lang="en-US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endParaRPr lang="en-US" dirty="0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7946A6F-F600-CBE7-6472-EA7843C29B6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3. Setting up Providers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323FB4B-2964-59A2-31E0-A6E3C7AB4E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8200" y="1352782"/>
            <a:ext cx="10441597" cy="433965"/>
          </a:xfrm>
        </p:spPr>
        <p:txBody>
          <a:bodyPr/>
          <a:lstStyle/>
          <a:p>
            <a:r>
              <a:rPr lang="en-US" dirty="0"/>
              <a:t>Multiple Provider: Aliases and 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provider</a:t>
            </a:r>
            <a:r>
              <a:rPr lang="en-US" dirty="0"/>
              <a:t> Meta Argument</a:t>
            </a:r>
          </a:p>
        </p:txBody>
      </p:sp>
    </p:spTree>
    <p:extLst>
      <p:ext uri="{BB962C8B-B14F-4D97-AF65-F5344CB8AC3E}">
        <p14:creationId xmlns:p14="http://schemas.microsoft.com/office/powerpoint/2010/main" val="9253133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A242801-2469-BD79-254E-4D29E90D19C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3. Setting up Providers</a:t>
            </a:r>
          </a:p>
        </p:txBody>
      </p:sp>
    </p:spTree>
    <p:extLst>
      <p:ext uri="{BB962C8B-B14F-4D97-AF65-F5344CB8AC3E}">
        <p14:creationId xmlns:p14="http://schemas.microsoft.com/office/powerpoint/2010/main" val="4587312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AB00CD53-20D5-44F6-55E0-0892C820DC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/>
              <a:t>4. Data Sources</a:t>
            </a:r>
          </a:p>
        </p:txBody>
      </p:sp>
    </p:spTree>
    <p:extLst>
      <p:ext uri="{BB962C8B-B14F-4D97-AF65-F5344CB8AC3E}">
        <p14:creationId xmlns:p14="http://schemas.microsoft.com/office/powerpoint/2010/main" val="5585703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0E6A220-3127-F3F8-91EF-7CA8BE503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Data sources in Terraform allow you to query and retrieve information from existing resources or external systems and use that data within your configuration.</a:t>
            </a:r>
          </a:p>
          <a:p>
            <a:r>
              <a:rPr lang="en-US" dirty="0"/>
              <a:t>The available data sources depend on each provider,</a:t>
            </a:r>
          </a:p>
          <a:p>
            <a:r>
              <a:rPr lang="en-US" dirty="0"/>
              <a:t>Data sources reference </a:t>
            </a:r>
            <a:r>
              <a:rPr lang="en-US" b="1" dirty="0"/>
              <a:t>Read Only </a:t>
            </a:r>
            <a:r>
              <a:rPr lang="en-US" dirty="0"/>
              <a:t>resources,</a:t>
            </a:r>
          </a:p>
          <a:p>
            <a:r>
              <a:rPr lang="en-US" dirty="0"/>
              <a:t>The selection of the referenced resources is stated in form of a query</a:t>
            </a:r>
          </a:p>
          <a:p>
            <a:r>
              <a:rPr lang="en-US" dirty="0"/>
              <a:t>If possible, they will be resolved during the planning phase, but if they depend on other managed resources, they can be read during the apply phase.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793914B-2F0C-8398-A6FC-6E17471824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Data Sources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275B9D1-B699-3CBD-D338-53DA21740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Interacting with External Data</a:t>
            </a:r>
          </a:p>
        </p:txBody>
      </p:sp>
    </p:spTree>
    <p:extLst>
      <p:ext uri="{BB962C8B-B14F-4D97-AF65-F5344CB8AC3E}">
        <p14:creationId xmlns:p14="http://schemas.microsoft.com/office/powerpoint/2010/main" val="13083651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4">
            <a:extLst>
              <a:ext uri="{FF2B5EF4-FFF2-40B4-BE49-F238E27FC236}">
                <a16:creationId xmlns:a16="http://schemas.microsoft.com/office/drawing/2014/main" id="{D8C7F489-D834-9449-E2E9-883E186D06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rgbClr val="3D2683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aws_ami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example_ami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name 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endParaRPr lang="en-US" sz="14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  values 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"ubuntu/images/ubuntu-*-*-amd64-server-*"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owners 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"099720109477"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4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Canonical</a:t>
            </a:r>
            <a:endParaRPr lang="en-US" sz="14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aws_instance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example_instance</a:t>
            </a:r>
            <a:r>
              <a:rPr lang="en-US" sz="14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ami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4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aws_ami</a:t>
            </a:r>
            <a:r>
              <a:rPr lang="en-US" sz="14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example_ami</a:t>
            </a:r>
            <a:r>
              <a:rPr lang="en-US" sz="14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14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instance_type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"t2.micro"</a:t>
            </a:r>
            <a:endParaRPr lang="en-US" sz="14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 # Other instance configuration...</a:t>
            </a:r>
            <a:endParaRPr lang="en-US" sz="14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7264798-D310-1138-86BA-7ADED72B79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block body constitutes the query constraint that defines the data source</a:t>
            </a:r>
          </a:p>
          <a:p>
            <a:r>
              <a:rPr lang="en-US" dirty="0"/>
              <a:t>The data source name is internal to the module and has no significance elsewhere </a:t>
            </a:r>
          </a:p>
          <a:p>
            <a:r>
              <a:rPr lang="en-US" dirty="0"/>
              <a:t>References to data sources use the following syntax:</a:t>
            </a:r>
            <a:endParaRPr lang="en-US" sz="2400" dirty="0"/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data.&lt;</a:t>
            </a:r>
            <a:r>
              <a:rPr lang="en-US" sz="1800" dirty="0" err="1">
                <a:latin typeface="Consolas" panose="020B0609020204030204" pitchFamily="49" charset="0"/>
              </a:rPr>
              <a:t>data_source</a:t>
            </a:r>
            <a:r>
              <a:rPr lang="en-US" sz="1800" dirty="0">
                <a:latin typeface="Consolas" panose="020B0609020204030204" pitchFamily="49" charset="0"/>
              </a:rPr>
              <a:t>&gt;.&lt;name&gt;.&lt;attribute&gt;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E424F5E-2C99-639C-7CFB-E26363F109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Data Sources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AA7749-E92C-DA5E-494F-21668659E3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Data block and usage</a:t>
            </a:r>
          </a:p>
        </p:txBody>
      </p:sp>
    </p:spTree>
    <p:extLst>
      <p:ext uri="{BB962C8B-B14F-4D97-AF65-F5344CB8AC3E}">
        <p14:creationId xmlns:p14="http://schemas.microsoft.com/office/powerpoint/2010/main" val="3017926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0A1A2829-34A4-3432-48A0-2F992A40F7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solidFill>
            <a:srgbClr val="3D2683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aws_vpc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example_vpc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default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b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resource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aws_security_group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example_sg</a:t>
            </a:r>
            <a:r>
              <a:rPr lang="en-US" sz="160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name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"example-security-group" 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description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"Security group for VPC"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vpc_id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aws_vpc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example_vpc</a:t>
            </a:r>
            <a:r>
              <a:rPr lang="en-US" sz="160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b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Rules and other settings...</a:t>
            </a:r>
            <a:endParaRPr lang="en-US" sz="160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49A247-7689-988D-CDBB-EBD1A8BFAFD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Here,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aws_vpc</a:t>
            </a:r>
            <a:r>
              <a:rPr lang="en-US" dirty="0"/>
              <a:t> data source fetches information about the default VPC in the region. The resulting VPC ID is used when creating the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aws_security_group</a:t>
            </a:r>
            <a:r>
              <a:rPr lang="en-US" dirty="0"/>
              <a:t>.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05B843D-E297-A830-558E-4E153879E7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4. Data Sources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DB9E8DA-1B56-C0AC-0F9B-2396858DE8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Use cases: Identify the default VPC id</a:t>
            </a:r>
          </a:p>
        </p:txBody>
      </p:sp>
    </p:spTree>
    <p:extLst>
      <p:ext uri="{BB962C8B-B14F-4D97-AF65-F5344CB8AC3E}">
        <p14:creationId xmlns:p14="http://schemas.microsoft.com/office/powerpoint/2010/main" val="2964719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8AD7D0D6-4956-BECC-A810-FCCEF2EDF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4. Data Sources</a:t>
            </a:r>
          </a:p>
        </p:txBody>
      </p:sp>
    </p:spTree>
    <p:extLst>
      <p:ext uri="{BB962C8B-B14F-4D97-AF65-F5344CB8AC3E}">
        <p14:creationId xmlns:p14="http://schemas.microsoft.com/office/powerpoint/2010/main" val="11589841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972056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" id="{5962EC7E-FDEE-D84F-9BF9-F910FCF93787}" vid="{A8A75BDC-84E3-BB4E-B368-D9F6C207AC97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Thème Office</Template>
  <TotalTime>2980</TotalTime>
  <Words>3356</Words>
  <Application>Microsoft Office PowerPoint</Application>
  <PresentationFormat>Widescreen</PresentationFormat>
  <Paragraphs>427</Paragraphs>
  <Slides>37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Thème Office</vt:lpstr>
      <vt:lpstr>Terraform Basics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on HCL</dc:title>
  <dc:creator>Draltan Marin</dc:creator>
  <cp:lastModifiedBy>Draltan Marin</cp:lastModifiedBy>
  <cp:revision>28</cp:revision>
  <dcterms:created xsi:type="dcterms:W3CDTF">2023-10-03T13:24:17Z</dcterms:created>
  <dcterms:modified xsi:type="dcterms:W3CDTF">2026-08-17T05:53:35Z</dcterms:modified>
</cp:coreProperties>
</file>