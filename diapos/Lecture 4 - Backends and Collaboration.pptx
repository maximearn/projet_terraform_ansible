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9" r:id="rId2"/>
    <p:sldId id="263" r:id="rId3"/>
    <p:sldId id="267" r:id="rId4"/>
    <p:sldId id="276" r:id="rId5"/>
    <p:sldId id="275" r:id="rId6"/>
    <p:sldId id="283" r:id="rId7"/>
    <p:sldId id="284" r:id="rId8"/>
    <p:sldId id="285" r:id="rId9"/>
    <p:sldId id="298" r:id="rId10"/>
    <p:sldId id="268" r:id="rId11"/>
    <p:sldId id="278" r:id="rId12"/>
    <p:sldId id="280" r:id="rId13"/>
    <p:sldId id="279" r:id="rId14"/>
    <p:sldId id="281" r:id="rId15"/>
    <p:sldId id="282" r:id="rId16"/>
    <p:sldId id="299" r:id="rId17"/>
    <p:sldId id="269" r:id="rId18"/>
    <p:sldId id="292" r:id="rId19"/>
    <p:sldId id="293" r:id="rId20"/>
    <p:sldId id="294" r:id="rId21"/>
    <p:sldId id="295" r:id="rId22"/>
    <p:sldId id="296" r:id="rId23"/>
    <p:sldId id="300" r:id="rId24"/>
    <p:sldId id="270" r:id="rId25"/>
    <p:sldId id="286" r:id="rId26"/>
    <p:sldId id="287" r:id="rId27"/>
    <p:sldId id="288" r:id="rId28"/>
    <p:sldId id="289" r:id="rId29"/>
    <p:sldId id="290" r:id="rId30"/>
    <p:sldId id="291" r:id="rId31"/>
    <p:sldId id="265" r:id="rId32"/>
    <p:sldId id="264" r:id="rId33"/>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D268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8767A06-983A-8279-AA1A-71F3D0EF1B08}" v="45" dt="2026-08-02T15:11:12.66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136"/>
    <p:restoredTop sz="90833"/>
  </p:normalViewPr>
  <p:slideViewPr>
    <p:cSldViewPr snapToGrid="0" snapToObjects="1">
      <p:cViewPr varScale="1">
        <p:scale>
          <a:sx n="154" d="100"/>
          <a:sy n="154" d="100"/>
        </p:scale>
        <p:origin x="656" y="192"/>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oz Pay" userId="S::amoz1.pay@supinfo.com::4d2f8cb2-b070-4ae8-bcd7-1f67ea500ae8" providerId="AD" clId="Web-{48767A06-983A-8279-AA1A-71F3D0EF1B08}"/>
    <pc:docChg chg="delSld modSld">
      <pc:chgData name="Amoz Pay" userId="S::amoz1.pay@supinfo.com::4d2f8cb2-b070-4ae8-bcd7-1f67ea500ae8" providerId="AD" clId="Web-{48767A06-983A-8279-AA1A-71F3D0EF1B08}" dt="2026-08-02T15:11:12.667" v="44" actId="20577"/>
      <pc:docMkLst>
        <pc:docMk/>
      </pc:docMkLst>
      <pc:sldChg chg="del">
        <pc:chgData name="Amoz Pay" userId="S::amoz1.pay@supinfo.com::4d2f8cb2-b070-4ae8-bcd7-1f67ea500ae8" providerId="AD" clId="Web-{48767A06-983A-8279-AA1A-71F3D0EF1B08}" dt="2026-08-02T14:47:55.119" v="3"/>
        <pc:sldMkLst>
          <pc:docMk/>
          <pc:sldMk cId="3902165929" sldId="262"/>
        </pc:sldMkLst>
      </pc:sldChg>
      <pc:sldChg chg="modSp">
        <pc:chgData name="Amoz Pay" userId="S::amoz1.pay@supinfo.com::4d2f8cb2-b070-4ae8-bcd7-1f67ea500ae8" providerId="AD" clId="Web-{48767A06-983A-8279-AA1A-71F3D0EF1B08}" dt="2026-08-02T15:09:27.586" v="7" actId="20577"/>
        <pc:sldMkLst>
          <pc:docMk/>
          <pc:sldMk cId="3129097085" sldId="263"/>
        </pc:sldMkLst>
        <pc:spChg chg="mod">
          <ac:chgData name="Amoz Pay" userId="S::amoz1.pay@supinfo.com::4d2f8cb2-b070-4ae8-bcd7-1f67ea500ae8" providerId="AD" clId="Web-{48767A06-983A-8279-AA1A-71F3D0EF1B08}" dt="2026-08-02T15:09:27.586" v="7" actId="20577"/>
          <ac:spMkLst>
            <pc:docMk/>
            <pc:sldMk cId="3129097085" sldId="263"/>
            <ac:spMk id="3" creationId="{3C3DD7B0-B0A8-8FDB-52AB-3930D01F1718}"/>
          </ac:spMkLst>
        </pc:spChg>
      </pc:sldChg>
      <pc:sldChg chg="modSp">
        <pc:chgData name="Amoz Pay" userId="S::amoz1.pay@supinfo.com::4d2f8cb2-b070-4ae8-bcd7-1f67ea500ae8" providerId="AD" clId="Web-{48767A06-983A-8279-AA1A-71F3D0EF1B08}" dt="2026-08-02T15:11:12.667" v="44" actId="20577"/>
        <pc:sldMkLst>
          <pc:docMk/>
          <pc:sldMk cId="3269817791" sldId="265"/>
        </pc:sldMkLst>
        <pc:spChg chg="mod">
          <ac:chgData name="Amoz Pay" userId="S::amoz1.pay@supinfo.com::4d2f8cb2-b070-4ae8-bcd7-1f67ea500ae8" providerId="AD" clId="Web-{48767A06-983A-8279-AA1A-71F3D0EF1B08}" dt="2026-08-02T15:11:12.667" v="44" actId="20577"/>
          <ac:spMkLst>
            <pc:docMk/>
            <pc:sldMk cId="3269817791" sldId="265"/>
            <ac:spMk id="2" creationId="{ACD917FE-5992-6BE9-8621-44D97D7369BC}"/>
          </ac:spMkLst>
        </pc:spChg>
      </pc:sldChg>
      <pc:sldChg chg="del">
        <pc:chgData name="Amoz Pay" userId="S::amoz1.pay@supinfo.com::4d2f8cb2-b070-4ae8-bcd7-1f67ea500ae8" providerId="AD" clId="Web-{48767A06-983A-8279-AA1A-71F3D0EF1B08}" dt="2026-08-02T14:47:55.119" v="4"/>
        <pc:sldMkLst>
          <pc:docMk/>
          <pc:sldMk cId="558570355" sldId="266"/>
        </pc:sldMkLst>
      </pc:sldChg>
      <pc:sldChg chg="modSp">
        <pc:chgData name="Amoz Pay" userId="S::amoz1.pay@supinfo.com::4d2f8cb2-b070-4ae8-bcd7-1f67ea500ae8" providerId="AD" clId="Web-{48767A06-983A-8279-AA1A-71F3D0EF1B08}" dt="2026-08-02T15:09:30.633" v="8" actId="20577"/>
        <pc:sldMkLst>
          <pc:docMk/>
          <pc:sldMk cId="2292482935" sldId="267"/>
        </pc:sldMkLst>
        <pc:spChg chg="mod">
          <ac:chgData name="Amoz Pay" userId="S::amoz1.pay@supinfo.com::4d2f8cb2-b070-4ae8-bcd7-1f67ea500ae8" providerId="AD" clId="Web-{48767A06-983A-8279-AA1A-71F3D0EF1B08}" dt="2026-08-02T15:09:30.633" v="8" actId="20577"/>
          <ac:spMkLst>
            <pc:docMk/>
            <pc:sldMk cId="2292482935" sldId="267"/>
            <ac:spMk id="2" creationId="{AB00CD53-20D5-44F6-55E0-0892C820DCE6}"/>
          </ac:spMkLst>
        </pc:spChg>
      </pc:sldChg>
      <pc:sldChg chg="modSp">
        <pc:chgData name="Amoz Pay" userId="S::amoz1.pay@supinfo.com::4d2f8cb2-b070-4ae8-bcd7-1f67ea500ae8" providerId="AD" clId="Web-{48767A06-983A-8279-AA1A-71F3D0EF1B08}" dt="2026-08-02T15:09:53.477" v="20" actId="20577"/>
        <pc:sldMkLst>
          <pc:docMk/>
          <pc:sldMk cId="3723279754" sldId="268"/>
        </pc:sldMkLst>
        <pc:spChg chg="mod">
          <ac:chgData name="Amoz Pay" userId="S::amoz1.pay@supinfo.com::4d2f8cb2-b070-4ae8-bcd7-1f67ea500ae8" providerId="AD" clId="Web-{48767A06-983A-8279-AA1A-71F3D0EF1B08}" dt="2026-08-02T15:09:53.477" v="20" actId="20577"/>
          <ac:spMkLst>
            <pc:docMk/>
            <pc:sldMk cId="3723279754" sldId="268"/>
            <ac:spMk id="2" creationId="{AB00CD53-20D5-44F6-55E0-0892C820DCE6}"/>
          </ac:spMkLst>
        </pc:spChg>
      </pc:sldChg>
      <pc:sldChg chg="modSp">
        <pc:chgData name="Amoz Pay" userId="S::amoz1.pay@supinfo.com::4d2f8cb2-b070-4ae8-bcd7-1f67ea500ae8" providerId="AD" clId="Web-{48767A06-983A-8279-AA1A-71F3D0EF1B08}" dt="2026-08-02T15:10:19.681" v="28" actId="20577"/>
        <pc:sldMkLst>
          <pc:docMk/>
          <pc:sldMk cId="2738699500" sldId="269"/>
        </pc:sldMkLst>
        <pc:spChg chg="mod">
          <ac:chgData name="Amoz Pay" userId="S::amoz1.pay@supinfo.com::4d2f8cb2-b070-4ae8-bcd7-1f67ea500ae8" providerId="AD" clId="Web-{48767A06-983A-8279-AA1A-71F3D0EF1B08}" dt="2026-08-02T15:10:19.681" v="28" actId="20577"/>
          <ac:spMkLst>
            <pc:docMk/>
            <pc:sldMk cId="2738699500" sldId="269"/>
            <ac:spMk id="2" creationId="{AB00CD53-20D5-44F6-55E0-0892C820DCE6}"/>
          </ac:spMkLst>
        </pc:spChg>
      </pc:sldChg>
      <pc:sldChg chg="modSp">
        <pc:chgData name="Amoz Pay" userId="S::amoz1.pay@supinfo.com::4d2f8cb2-b070-4ae8-bcd7-1f67ea500ae8" providerId="AD" clId="Web-{48767A06-983A-8279-AA1A-71F3D0EF1B08}" dt="2026-08-02T15:10:39.572" v="35" actId="20577"/>
        <pc:sldMkLst>
          <pc:docMk/>
          <pc:sldMk cId="3917978625" sldId="270"/>
        </pc:sldMkLst>
        <pc:spChg chg="mod">
          <ac:chgData name="Amoz Pay" userId="S::amoz1.pay@supinfo.com::4d2f8cb2-b070-4ae8-bcd7-1f67ea500ae8" providerId="AD" clId="Web-{48767A06-983A-8279-AA1A-71F3D0EF1B08}" dt="2026-08-02T15:10:39.572" v="35" actId="20577"/>
          <ac:spMkLst>
            <pc:docMk/>
            <pc:sldMk cId="3917978625" sldId="270"/>
            <ac:spMk id="2" creationId="{AB00CD53-20D5-44F6-55E0-0892C820DCE6}"/>
          </ac:spMkLst>
        </pc:spChg>
      </pc:sldChg>
      <pc:sldChg chg="del">
        <pc:chgData name="Amoz Pay" userId="S::amoz1.pay@supinfo.com::4d2f8cb2-b070-4ae8-bcd7-1f67ea500ae8" providerId="AD" clId="Web-{48767A06-983A-8279-AA1A-71F3D0EF1B08}" dt="2026-08-02T14:47:55.119" v="2"/>
        <pc:sldMkLst>
          <pc:docMk/>
          <pc:sldMk cId="301792698" sldId="271"/>
        </pc:sldMkLst>
      </pc:sldChg>
      <pc:sldChg chg="del">
        <pc:chgData name="Amoz Pay" userId="S::amoz1.pay@supinfo.com::4d2f8cb2-b070-4ae8-bcd7-1f67ea500ae8" providerId="AD" clId="Web-{48767A06-983A-8279-AA1A-71F3D0EF1B08}" dt="2026-08-02T14:47:55.119" v="1"/>
        <pc:sldMkLst>
          <pc:docMk/>
          <pc:sldMk cId="2964719346" sldId="272"/>
        </pc:sldMkLst>
      </pc:sldChg>
      <pc:sldChg chg="modSp">
        <pc:chgData name="Amoz Pay" userId="S::amoz1.pay@supinfo.com::4d2f8cb2-b070-4ae8-bcd7-1f67ea500ae8" providerId="AD" clId="Web-{48767A06-983A-8279-AA1A-71F3D0EF1B08}" dt="2026-08-02T15:09:36.523" v="11" actId="20577"/>
        <pc:sldMkLst>
          <pc:docMk/>
          <pc:sldMk cId="344913835" sldId="275"/>
        </pc:sldMkLst>
        <pc:spChg chg="mod">
          <ac:chgData name="Amoz Pay" userId="S::amoz1.pay@supinfo.com::4d2f8cb2-b070-4ae8-bcd7-1f67ea500ae8" providerId="AD" clId="Web-{48767A06-983A-8279-AA1A-71F3D0EF1B08}" dt="2026-08-02T15:09:36.523" v="11" actId="20577"/>
          <ac:spMkLst>
            <pc:docMk/>
            <pc:sldMk cId="344913835" sldId="275"/>
            <ac:spMk id="3" creationId="{C1C6CB8D-8C73-AE5D-88CB-2FB87CB0E588}"/>
          </ac:spMkLst>
        </pc:spChg>
      </pc:sldChg>
      <pc:sldChg chg="modSp">
        <pc:chgData name="Amoz Pay" userId="S::amoz1.pay@supinfo.com::4d2f8cb2-b070-4ae8-bcd7-1f67ea500ae8" providerId="AD" clId="Web-{48767A06-983A-8279-AA1A-71F3D0EF1B08}" dt="2026-08-02T15:09:33.273" v="10" actId="20577"/>
        <pc:sldMkLst>
          <pc:docMk/>
          <pc:sldMk cId="958373630" sldId="276"/>
        </pc:sldMkLst>
        <pc:spChg chg="mod">
          <ac:chgData name="Amoz Pay" userId="S::amoz1.pay@supinfo.com::4d2f8cb2-b070-4ae8-bcd7-1f67ea500ae8" providerId="AD" clId="Web-{48767A06-983A-8279-AA1A-71F3D0EF1B08}" dt="2026-08-02T15:09:33.273" v="10" actId="20577"/>
          <ac:spMkLst>
            <pc:docMk/>
            <pc:sldMk cId="958373630" sldId="276"/>
            <ac:spMk id="3" creationId="{C1C6CB8D-8C73-AE5D-88CB-2FB87CB0E588}"/>
          </ac:spMkLst>
        </pc:spChg>
      </pc:sldChg>
      <pc:sldChg chg="modSp">
        <pc:chgData name="Amoz Pay" userId="S::amoz1.pay@supinfo.com::4d2f8cb2-b070-4ae8-bcd7-1f67ea500ae8" providerId="AD" clId="Web-{48767A06-983A-8279-AA1A-71F3D0EF1B08}" dt="2026-08-02T15:10:01.149" v="22" actId="20577"/>
        <pc:sldMkLst>
          <pc:docMk/>
          <pc:sldMk cId="1728740940" sldId="278"/>
        </pc:sldMkLst>
        <pc:spChg chg="mod">
          <ac:chgData name="Amoz Pay" userId="S::amoz1.pay@supinfo.com::4d2f8cb2-b070-4ae8-bcd7-1f67ea500ae8" providerId="AD" clId="Web-{48767A06-983A-8279-AA1A-71F3D0EF1B08}" dt="2026-08-02T15:10:01.149" v="22" actId="20577"/>
          <ac:spMkLst>
            <pc:docMk/>
            <pc:sldMk cId="1728740940" sldId="278"/>
            <ac:spMk id="3" creationId="{5C045B09-E183-A3BC-2428-C98F9422953E}"/>
          </ac:spMkLst>
        </pc:spChg>
      </pc:sldChg>
      <pc:sldChg chg="modSp">
        <pc:chgData name="Amoz Pay" userId="S::amoz1.pay@supinfo.com::4d2f8cb2-b070-4ae8-bcd7-1f67ea500ae8" providerId="AD" clId="Web-{48767A06-983A-8279-AA1A-71F3D0EF1B08}" dt="2026-08-02T15:10:07.321" v="24" actId="20577"/>
        <pc:sldMkLst>
          <pc:docMk/>
          <pc:sldMk cId="1491661876" sldId="279"/>
        </pc:sldMkLst>
        <pc:spChg chg="mod">
          <ac:chgData name="Amoz Pay" userId="S::amoz1.pay@supinfo.com::4d2f8cb2-b070-4ae8-bcd7-1f67ea500ae8" providerId="AD" clId="Web-{48767A06-983A-8279-AA1A-71F3D0EF1B08}" dt="2026-08-02T15:10:07.321" v="24" actId="20577"/>
          <ac:spMkLst>
            <pc:docMk/>
            <pc:sldMk cId="1491661876" sldId="279"/>
            <ac:spMk id="3" creationId="{5C045B09-E183-A3BC-2428-C98F9422953E}"/>
          </ac:spMkLst>
        </pc:spChg>
      </pc:sldChg>
      <pc:sldChg chg="modSp">
        <pc:chgData name="Amoz Pay" userId="S::amoz1.pay@supinfo.com::4d2f8cb2-b070-4ae8-bcd7-1f67ea500ae8" providerId="AD" clId="Web-{48767A06-983A-8279-AA1A-71F3D0EF1B08}" dt="2026-08-02T15:10:03.602" v="23" actId="20577"/>
        <pc:sldMkLst>
          <pc:docMk/>
          <pc:sldMk cId="2345989911" sldId="280"/>
        </pc:sldMkLst>
        <pc:spChg chg="mod">
          <ac:chgData name="Amoz Pay" userId="S::amoz1.pay@supinfo.com::4d2f8cb2-b070-4ae8-bcd7-1f67ea500ae8" providerId="AD" clId="Web-{48767A06-983A-8279-AA1A-71F3D0EF1B08}" dt="2026-08-02T15:10:03.602" v="23" actId="20577"/>
          <ac:spMkLst>
            <pc:docMk/>
            <pc:sldMk cId="2345989911" sldId="280"/>
            <ac:spMk id="3" creationId="{5C045B09-E183-A3BC-2428-C98F9422953E}"/>
          </ac:spMkLst>
        </pc:spChg>
      </pc:sldChg>
      <pc:sldChg chg="modSp">
        <pc:chgData name="Amoz Pay" userId="S::amoz1.pay@supinfo.com::4d2f8cb2-b070-4ae8-bcd7-1f67ea500ae8" providerId="AD" clId="Web-{48767A06-983A-8279-AA1A-71F3D0EF1B08}" dt="2026-08-02T15:10:09.228" v="25" actId="20577"/>
        <pc:sldMkLst>
          <pc:docMk/>
          <pc:sldMk cId="1157975844" sldId="281"/>
        </pc:sldMkLst>
        <pc:spChg chg="mod">
          <ac:chgData name="Amoz Pay" userId="S::amoz1.pay@supinfo.com::4d2f8cb2-b070-4ae8-bcd7-1f67ea500ae8" providerId="AD" clId="Web-{48767A06-983A-8279-AA1A-71F3D0EF1B08}" dt="2026-08-02T15:10:09.228" v="25" actId="20577"/>
          <ac:spMkLst>
            <pc:docMk/>
            <pc:sldMk cId="1157975844" sldId="281"/>
            <ac:spMk id="3" creationId="{BDDB8389-0C44-3669-64F6-25992873E4EC}"/>
          </ac:spMkLst>
        </pc:spChg>
      </pc:sldChg>
      <pc:sldChg chg="modSp">
        <pc:chgData name="Amoz Pay" userId="S::amoz1.pay@supinfo.com::4d2f8cb2-b070-4ae8-bcd7-1f67ea500ae8" providerId="AD" clId="Web-{48767A06-983A-8279-AA1A-71F3D0EF1B08}" dt="2026-08-02T15:10:12.025" v="26" actId="20577"/>
        <pc:sldMkLst>
          <pc:docMk/>
          <pc:sldMk cId="294401347" sldId="282"/>
        </pc:sldMkLst>
        <pc:spChg chg="mod">
          <ac:chgData name="Amoz Pay" userId="S::amoz1.pay@supinfo.com::4d2f8cb2-b070-4ae8-bcd7-1f67ea500ae8" providerId="AD" clId="Web-{48767A06-983A-8279-AA1A-71F3D0EF1B08}" dt="2026-08-02T15:10:12.025" v="26" actId="20577"/>
          <ac:spMkLst>
            <pc:docMk/>
            <pc:sldMk cId="294401347" sldId="282"/>
            <ac:spMk id="3" creationId="{BDDB8389-0C44-3669-64F6-25992873E4EC}"/>
          </ac:spMkLst>
        </pc:spChg>
      </pc:sldChg>
      <pc:sldChg chg="modSp">
        <pc:chgData name="Amoz Pay" userId="S::amoz1.pay@supinfo.com::4d2f8cb2-b070-4ae8-bcd7-1f67ea500ae8" providerId="AD" clId="Web-{48767A06-983A-8279-AA1A-71F3D0EF1B08}" dt="2026-08-02T15:09:40.648" v="15" actId="20577"/>
        <pc:sldMkLst>
          <pc:docMk/>
          <pc:sldMk cId="3976213124" sldId="283"/>
        </pc:sldMkLst>
        <pc:spChg chg="mod">
          <ac:chgData name="Amoz Pay" userId="S::amoz1.pay@supinfo.com::4d2f8cb2-b070-4ae8-bcd7-1f67ea500ae8" providerId="AD" clId="Web-{48767A06-983A-8279-AA1A-71F3D0EF1B08}" dt="2026-08-02T15:09:40.648" v="15" actId="20577"/>
          <ac:spMkLst>
            <pc:docMk/>
            <pc:sldMk cId="3976213124" sldId="283"/>
            <ac:spMk id="3" creationId="{C1C6CB8D-8C73-AE5D-88CB-2FB87CB0E588}"/>
          </ac:spMkLst>
        </pc:spChg>
      </pc:sldChg>
      <pc:sldChg chg="modSp">
        <pc:chgData name="Amoz Pay" userId="S::amoz1.pay@supinfo.com::4d2f8cb2-b070-4ae8-bcd7-1f67ea500ae8" providerId="AD" clId="Web-{48767A06-983A-8279-AA1A-71F3D0EF1B08}" dt="2026-08-02T15:09:43.555" v="16" actId="20577"/>
        <pc:sldMkLst>
          <pc:docMk/>
          <pc:sldMk cId="3473083914" sldId="284"/>
        </pc:sldMkLst>
        <pc:spChg chg="mod">
          <ac:chgData name="Amoz Pay" userId="S::amoz1.pay@supinfo.com::4d2f8cb2-b070-4ae8-bcd7-1f67ea500ae8" providerId="AD" clId="Web-{48767A06-983A-8279-AA1A-71F3D0EF1B08}" dt="2026-08-02T15:09:43.555" v="16" actId="20577"/>
          <ac:spMkLst>
            <pc:docMk/>
            <pc:sldMk cId="3473083914" sldId="284"/>
            <ac:spMk id="3" creationId="{C1C6CB8D-8C73-AE5D-88CB-2FB87CB0E588}"/>
          </ac:spMkLst>
        </pc:spChg>
      </pc:sldChg>
      <pc:sldChg chg="modSp">
        <pc:chgData name="Amoz Pay" userId="S::amoz1.pay@supinfo.com::4d2f8cb2-b070-4ae8-bcd7-1f67ea500ae8" providerId="AD" clId="Web-{48767A06-983A-8279-AA1A-71F3D0EF1B08}" dt="2026-08-02T15:09:47.867" v="18" actId="20577"/>
        <pc:sldMkLst>
          <pc:docMk/>
          <pc:sldMk cId="1266521583" sldId="285"/>
        </pc:sldMkLst>
        <pc:spChg chg="mod">
          <ac:chgData name="Amoz Pay" userId="S::amoz1.pay@supinfo.com::4d2f8cb2-b070-4ae8-bcd7-1f67ea500ae8" providerId="AD" clId="Web-{48767A06-983A-8279-AA1A-71F3D0EF1B08}" dt="2026-08-02T15:09:47.867" v="18" actId="20577"/>
          <ac:spMkLst>
            <pc:docMk/>
            <pc:sldMk cId="1266521583" sldId="285"/>
            <ac:spMk id="3" creationId="{C1C6CB8D-8C73-AE5D-88CB-2FB87CB0E588}"/>
          </ac:spMkLst>
        </pc:spChg>
      </pc:sldChg>
      <pc:sldChg chg="modSp">
        <pc:chgData name="Amoz Pay" userId="S::amoz1.pay@supinfo.com::4d2f8cb2-b070-4ae8-bcd7-1f67ea500ae8" providerId="AD" clId="Web-{48767A06-983A-8279-AA1A-71F3D0EF1B08}" dt="2026-08-02T15:10:43.557" v="36" actId="20577"/>
        <pc:sldMkLst>
          <pc:docMk/>
          <pc:sldMk cId="2123070175" sldId="286"/>
        </pc:sldMkLst>
        <pc:spChg chg="mod">
          <ac:chgData name="Amoz Pay" userId="S::amoz1.pay@supinfo.com::4d2f8cb2-b070-4ae8-bcd7-1f67ea500ae8" providerId="AD" clId="Web-{48767A06-983A-8279-AA1A-71F3D0EF1B08}" dt="2026-08-02T15:10:43.557" v="36" actId="20577"/>
          <ac:spMkLst>
            <pc:docMk/>
            <pc:sldMk cId="2123070175" sldId="286"/>
            <ac:spMk id="3" creationId="{552A1DE9-C015-26FA-DC04-3E9A81478E79}"/>
          </ac:spMkLst>
        </pc:spChg>
      </pc:sldChg>
      <pc:sldChg chg="modSp">
        <pc:chgData name="Amoz Pay" userId="S::amoz1.pay@supinfo.com::4d2f8cb2-b070-4ae8-bcd7-1f67ea500ae8" providerId="AD" clId="Web-{48767A06-983A-8279-AA1A-71F3D0EF1B08}" dt="2026-08-02T15:10:46.088" v="37" actId="20577"/>
        <pc:sldMkLst>
          <pc:docMk/>
          <pc:sldMk cId="3740443813" sldId="287"/>
        </pc:sldMkLst>
        <pc:spChg chg="mod">
          <ac:chgData name="Amoz Pay" userId="S::amoz1.pay@supinfo.com::4d2f8cb2-b070-4ae8-bcd7-1f67ea500ae8" providerId="AD" clId="Web-{48767A06-983A-8279-AA1A-71F3D0EF1B08}" dt="2026-08-02T15:10:46.088" v="37" actId="20577"/>
          <ac:spMkLst>
            <pc:docMk/>
            <pc:sldMk cId="3740443813" sldId="287"/>
            <ac:spMk id="3" creationId="{552A1DE9-C015-26FA-DC04-3E9A81478E79}"/>
          </ac:spMkLst>
        </pc:spChg>
      </pc:sldChg>
      <pc:sldChg chg="modSp">
        <pc:chgData name="Amoz Pay" userId="S::amoz1.pay@supinfo.com::4d2f8cb2-b070-4ae8-bcd7-1f67ea500ae8" providerId="AD" clId="Web-{48767A06-983A-8279-AA1A-71F3D0EF1B08}" dt="2026-08-02T15:10:48.932" v="39" actId="20577"/>
        <pc:sldMkLst>
          <pc:docMk/>
          <pc:sldMk cId="1942965159" sldId="288"/>
        </pc:sldMkLst>
        <pc:spChg chg="mod">
          <ac:chgData name="Amoz Pay" userId="S::amoz1.pay@supinfo.com::4d2f8cb2-b070-4ae8-bcd7-1f67ea500ae8" providerId="AD" clId="Web-{48767A06-983A-8279-AA1A-71F3D0EF1B08}" dt="2026-08-02T15:10:48.932" v="39" actId="20577"/>
          <ac:spMkLst>
            <pc:docMk/>
            <pc:sldMk cId="1942965159" sldId="288"/>
            <ac:spMk id="3" creationId="{EC8978AA-CD53-D327-A041-6E2E1838581A}"/>
          </ac:spMkLst>
        </pc:spChg>
      </pc:sldChg>
      <pc:sldChg chg="modSp">
        <pc:chgData name="Amoz Pay" userId="S::amoz1.pay@supinfo.com::4d2f8cb2-b070-4ae8-bcd7-1f67ea500ae8" providerId="AD" clId="Web-{48767A06-983A-8279-AA1A-71F3D0EF1B08}" dt="2026-08-02T15:10:56.495" v="40" actId="20577"/>
        <pc:sldMkLst>
          <pc:docMk/>
          <pc:sldMk cId="2946373822" sldId="289"/>
        </pc:sldMkLst>
        <pc:spChg chg="mod">
          <ac:chgData name="Amoz Pay" userId="S::amoz1.pay@supinfo.com::4d2f8cb2-b070-4ae8-bcd7-1f67ea500ae8" providerId="AD" clId="Web-{48767A06-983A-8279-AA1A-71F3D0EF1B08}" dt="2026-08-02T15:10:56.495" v="40" actId="20577"/>
          <ac:spMkLst>
            <pc:docMk/>
            <pc:sldMk cId="2946373822" sldId="289"/>
            <ac:spMk id="3" creationId="{EC8978AA-CD53-D327-A041-6E2E1838581A}"/>
          </ac:spMkLst>
        </pc:spChg>
      </pc:sldChg>
      <pc:sldChg chg="modSp">
        <pc:chgData name="Amoz Pay" userId="S::amoz1.pay@supinfo.com::4d2f8cb2-b070-4ae8-bcd7-1f67ea500ae8" providerId="AD" clId="Web-{48767A06-983A-8279-AA1A-71F3D0EF1B08}" dt="2026-08-02T15:11:02.776" v="42" actId="20577"/>
        <pc:sldMkLst>
          <pc:docMk/>
          <pc:sldMk cId="1833000924" sldId="290"/>
        </pc:sldMkLst>
        <pc:spChg chg="mod">
          <ac:chgData name="Amoz Pay" userId="S::amoz1.pay@supinfo.com::4d2f8cb2-b070-4ae8-bcd7-1f67ea500ae8" providerId="AD" clId="Web-{48767A06-983A-8279-AA1A-71F3D0EF1B08}" dt="2026-08-02T15:11:02.776" v="42" actId="20577"/>
          <ac:spMkLst>
            <pc:docMk/>
            <pc:sldMk cId="1833000924" sldId="290"/>
            <ac:spMk id="3" creationId="{EC8978AA-CD53-D327-A041-6E2E1838581A}"/>
          </ac:spMkLst>
        </pc:spChg>
      </pc:sldChg>
      <pc:sldChg chg="modSp">
        <pc:chgData name="Amoz Pay" userId="S::amoz1.pay@supinfo.com::4d2f8cb2-b070-4ae8-bcd7-1f67ea500ae8" providerId="AD" clId="Web-{48767A06-983A-8279-AA1A-71F3D0EF1B08}" dt="2026-08-02T15:11:08.870" v="43" actId="20577"/>
        <pc:sldMkLst>
          <pc:docMk/>
          <pc:sldMk cId="3288445250" sldId="291"/>
        </pc:sldMkLst>
        <pc:spChg chg="mod">
          <ac:chgData name="Amoz Pay" userId="S::amoz1.pay@supinfo.com::4d2f8cb2-b070-4ae8-bcd7-1f67ea500ae8" providerId="AD" clId="Web-{48767A06-983A-8279-AA1A-71F3D0EF1B08}" dt="2026-08-02T15:11:08.870" v="43" actId="20577"/>
          <ac:spMkLst>
            <pc:docMk/>
            <pc:sldMk cId="3288445250" sldId="291"/>
            <ac:spMk id="3" creationId="{EC8978AA-CD53-D327-A041-6E2E1838581A}"/>
          </ac:spMkLst>
        </pc:spChg>
      </pc:sldChg>
      <pc:sldChg chg="modSp">
        <pc:chgData name="Amoz Pay" userId="S::amoz1.pay@supinfo.com::4d2f8cb2-b070-4ae8-bcd7-1f67ea500ae8" providerId="AD" clId="Web-{48767A06-983A-8279-AA1A-71F3D0EF1B08}" dt="2026-08-02T15:10:21.978" v="29" actId="20577"/>
        <pc:sldMkLst>
          <pc:docMk/>
          <pc:sldMk cId="2627023031" sldId="292"/>
        </pc:sldMkLst>
        <pc:spChg chg="mod">
          <ac:chgData name="Amoz Pay" userId="S::amoz1.pay@supinfo.com::4d2f8cb2-b070-4ae8-bcd7-1f67ea500ae8" providerId="AD" clId="Web-{48767A06-983A-8279-AA1A-71F3D0EF1B08}" dt="2026-08-02T15:10:21.978" v="29" actId="20577"/>
          <ac:spMkLst>
            <pc:docMk/>
            <pc:sldMk cId="2627023031" sldId="292"/>
            <ac:spMk id="3" creationId="{B344AA24-ACFC-4AF3-36DB-77F49DBEA294}"/>
          </ac:spMkLst>
        </pc:spChg>
      </pc:sldChg>
      <pc:sldChg chg="modSp">
        <pc:chgData name="Amoz Pay" userId="S::amoz1.pay@supinfo.com::4d2f8cb2-b070-4ae8-bcd7-1f67ea500ae8" providerId="AD" clId="Web-{48767A06-983A-8279-AA1A-71F3D0EF1B08}" dt="2026-08-02T15:10:25.009" v="30" actId="20577"/>
        <pc:sldMkLst>
          <pc:docMk/>
          <pc:sldMk cId="2512324089" sldId="293"/>
        </pc:sldMkLst>
        <pc:spChg chg="mod">
          <ac:chgData name="Amoz Pay" userId="S::amoz1.pay@supinfo.com::4d2f8cb2-b070-4ae8-bcd7-1f67ea500ae8" providerId="AD" clId="Web-{48767A06-983A-8279-AA1A-71F3D0EF1B08}" dt="2026-08-02T15:10:25.009" v="30" actId="20577"/>
          <ac:spMkLst>
            <pc:docMk/>
            <pc:sldMk cId="2512324089" sldId="293"/>
            <ac:spMk id="3" creationId="{BE9F5077-2229-0F87-83B4-46068F9F66BC}"/>
          </ac:spMkLst>
        </pc:spChg>
      </pc:sldChg>
      <pc:sldChg chg="modSp">
        <pc:chgData name="Amoz Pay" userId="S::amoz1.pay@supinfo.com::4d2f8cb2-b070-4ae8-bcd7-1f67ea500ae8" providerId="AD" clId="Web-{48767A06-983A-8279-AA1A-71F3D0EF1B08}" dt="2026-08-02T15:10:28.838" v="31" actId="20577"/>
        <pc:sldMkLst>
          <pc:docMk/>
          <pc:sldMk cId="4269189229" sldId="294"/>
        </pc:sldMkLst>
        <pc:spChg chg="mod">
          <ac:chgData name="Amoz Pay" userId="S::amoz1.pay@supinfo.com::4d2f8cb2-b070-4ae8-bcd7-1f67ea500ae8" providerId="AD" clId="Web-{48767A06-983A-8279-AA1A-71F3D0EF1B08}" dt="2026-08-02T15:10:28.838" v="31" actId="20577"/>
          <ac:spMkLst>
            <pc:docMk/>
            <pc:sldMk cId="4269189229" sldId="294"/>
            <ac:spMk id="3" creationId="{BE9F5077-2229-0F87-83B4-46068F9F66BC}"/>
          </ac:spMkLst>
        </pc:spChg>
      </pc:sldChg>
      <pc:sldChg chg="modSp">
        <pc:chgData name="Amoz Pay" userId="S::amoz1.pay@supinfo.com::4d2f8cb2-b070-4ae8-bcd7-1f67ea500ae8" providerId="AD" clId="Web-{48767A06-983A-8279-AA1A-71F3D0EF1B08}" dt="2026-08-02T15:10:31.713" v="32" actId="20577"/>
        <pc:sldMkLst>
          <pc:docMk/>
          <pc:sldMk cId="2301349873" sldId="295"/>
        </pc:sldMkLst>
        <pc:spChg chg="mod">
          <ac:chgData name="Amoz Pay" userId="S::amoz1.pay@supinfo.com::4d2f8cb2-b070-4ae8-bcd7-1f67ea500ae8" providerId="AD" clId="Web-{48767A06-983A-8279-AA1A-71F3D0EF1B08}" dt="2026-08-02T15:10:31.713" v="32" actId="20577"/>
          <ac:spMkLst>
            <pc:docMk/>
            <pc:sldMk cId="2301349873" sldId="295"/>
            <ac:spMk id="4" creationId="{C0C46FCA-C7CA-9EA1-79B3-C25A25068FA5}"/>
          </ac:spMkLst>
        </pc:spChg>
      </pc:sldChg>
      <pc:sldChg chg="modSp">
        <pc:chgData name="Amoz Pay" userId="S::amoz1.pay@supinfo.com::4d2f8cb2-b070-4ae8-bcd7-1f67ea500ae8" providerId="AD" clId="Web-{48767A06-983A-8279-AA1A-71F3D0EF1B08}" dt="2026-08-02T15:10:34.150" v="33" actId="20577"/>
        <pc:sldMkLst>
          <pc:docMk/>
          <pc:sldMk cId="2315538066" sldId="296"/>
        </pc:sldMkLst>
        <pc:spChg chg="mod">
          <ac:chgData name="Amoz Pay" userId="S::amoz1.pay@supinfo.com::4d2f8cb2-b070-4ae8-bcd7-1f67ea500ae8" providerId="AD" clId="Web-{48767A06-983A-8279-AA1A-71F3D0EF1B08}" dt="2026-08-02T15:10:34.150" v="33" actId="20577"/>
          <ac:spMkLst>
            <pc:docMk/>
            <pc:sldMk cId="2315538066" sldId="296"/>
            <ac:spMk id="3" creationId="{9D0346D2-F815-9637-874C-148F1F1A6107}"/>
          </ac:spMkLst>
        </pc:spChg>
      </pc:sldChg>
      <pc:sldChg chg="del">
        <pc:chgData name="Amoz Pay" userId="S::amoz1.pay@supinfo.com::4d2f8cb2-b070-4ae8-bcd7-1f67ea500ae8" providerId="AD" clId="Web-{48767A06-983A-8279-AA1A-71F3D0EF1B08}" dt="2026-08-02T14:47:55.119" v="0"/>
        <pc:sldMkLst>
          <pc:docMk/>
          <pc:sldMk cId="1158984170" sldId="297"/>
        </pc:sldMkLst>
      </pc:sldChg>
      <pc:sldChg chg="modSp">
        <pc:chgData name="Amoz Pay" userId="S::amoz1.pay@supinfo.com::4d2f8cb2-b070-4ae8-bcd7-1f67ea500ae8" providerId="AD" clId="Web-{48767A06-983A-8279-AA1A-71F3D0EF1B08}" dt="2026-08-02T15:09:50.789" v="19" actId="20577"/>
        <pc:sldMkLst>
          <pc:docMk/>
          <pc:sldMk cId="779615978" sldId="298"/>
        </pc:sldMkLst>
        <pc:spChg chg="mod">
          <ac:chgData name="Amoz Pay" userId="S::amoz1.pay@supinfo.com::4d2f8cb2-b070-4ae8-bcd7-1f67ea500ae8" providerId="AD" clId="Web-{48767A06-983A-8279-AA1A-71F3D0EF1B08}" dt="2026-08-02T15:09:50.789" v="19" actId="20577"/>
          <ac:spMkLst>
            <pc:docMk/>
            <pc:sldMk cId="779615978" sldId="298"/>
            <ac:spMk id="2" creationId="{8AD7D0D6-4956-BECC-A810-FCCEF2EDFFD6}"/>
          </ac:spMkLst>
        </pc:spChg>
      </pc:sldChg>
      <pc:sldChg chg="modSp">
        <pc:chgData name="Amoz Pay" userId="S::amoz1.pay@supinfo.com::4d2f8cb2-b070-4ae8-bcd7-1f67ea500ae8" providerId="AD" clId="Web-{48767A06-983A-8279-AA1A-71F3D0EF1B08}" dt="2026-08-02T15:10:15.572" v="27" actId="20577"/>
        <pc:sldMkLst>
          <pc:docMk/>
          <pc:sldMk cId="2457578433" sldId="299"/>
        </pc:sldMkLst>
        <pc:spChg chg="mod">
          <ac:chgData name="Amoz Pay" userId="S::amoz1.pay@supinfo.com::4d2f8cb2-b070-4ae8-bcd7-1f67ea500ae8" providerId="AD" clId="Web-{48767A06-983A-8279-AA1A-71F3D0EF1B08}" dt="2026-08-02T15:10:15.572" v="27" actId="20577"/>
          <ac:spMkLst>
            <pc:docMk/>
            <pc:sldMk cId="2457578433" sldId="299"/>
            <ac:spMk id="2" creationId="{8AD7D0D6-4956-BECC-A810-FCCEF2EDFFD6}"/>
          </ac:spMkLst>
        </pc:spChg>
      </pc:sldChg>
      <pc:sldChg chg="modSp">
        <pc:chgData name="Amoz Pay" userId="S::amoz1.pay@supinfo.com::4d2f8cb2-b070-4ae8-bcd7-1f67ea500ae8" providerId="AD" clId="Web-{48767A06-983A-8279-AA1A-71F3D0EF1B08}" dt="2026-08-02T15:10:36.775" v="34" actId="20577"/>
        <pc:sldMkLst>
          <pc:docMk/>
          <pc:sldMk cId="2962597141" sldId="300"/>
        </pc:sldMkLst>
        <pc:spChg chg="mod">
          <ac:chgData name="Amoz Pay" userId="S::amoz1.pay@supinfo.com::4d2f8cb2-b070-4ae8-bcd7-1f67ea500ae8" providerId="AD" clId="Web-{48767A06-983A-8279-AA1A-71F3D0EF1B08}" dt="2026-08-02T15:10:36.775" v="34" actId="20577"/>
          <ac:spMkLst>
            <pc:docMk/>
            <pc:sldMk cId="2962597141" sldId="300"/>
            <ac:spMk id="2" creationId="{8AD7D0D6-4956-BECC-A810-FCCEF2EDFFD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B44D0C-1CB1-E645-87B8-5887239B9ECD}" type="datetimeFigureOut">
              <a:rPr lang="fr-FR" smtClean="0"/>
              <a:t>02/08/2026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9A1237-63C0-2149-90AD-33FFCF7C8578}" type="slidenum">
              <a:rPr lang="fr-FR" smtClean="0"/>
              <a:t>‹#›</a:t>
            </a:fld>
            <a:endParaRPr lang="fr-FR"/>
          </a:p>
        </p:txBody>
      </p:sp>
    </p:spTree>
    <p:extLst>
      <p:ext uri="{BB962C8B-B14F-4D97-AF65-F5344CB8AC3E}">
        <p14:creationId xmlns:p14="http://schemas.microsoft.com/office/powerpoint/2010/main" val="7777622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Note: the line break added for formatting only.</a:t>
            </a:r>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21</a:t>
            </a:fld>
            <a:endParaRPr lang="fr-FR"/>
          </a:p>
        </p:txBody>
      </p:sp>
    </p:spTree>
    <p:extLst>
      <p:ext uri="{BB962C8B-B14F-4D97-AF65-F5344CB8AC3E}">
        <p14:creationId xmlns:p14="http://schemas.microsoft.com/office/powerpoint/2010/main" val="22253161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27</a:t>
            </a:fld>
            <a:endParaRPr lang="fr-FR"/>
          </a:p>
        </p:txBody>
      </p:sp>
    </p:spTree>
    <p:extLst>
      <p:ext uri="{BB962C8B-B14F-4D97-AF65-F5344CB8AC3E}">
        <p14:creationId xmlns:p14="http://schemas.microsoft.com/office/powerpoint/2010/main" val="148140764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Lecture title">
    <p:bg>
      <p:bgPr>
        <a:solidFill>
          <a:srgbClr val="3D2683"/>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CE35FED-2507-6347-9B57-3FF5AFCD8EC9}"/>
              </a:ext>
            </a:extLst>
          </p:cNvPr>
          <p:cNvSpPr>
            <a:spLocks noGrp="1"/>
          </p:cNvSpPr>
          <p:nvPr>
            <p:ph type="ctrTitle" hasCustomPrompt="1"/>
          </p:nvPr>
        </p:nvSpPr>
        <p:spPr>
          <a:xfrm>
            <a:off x="1524000" y="1122363"/>
            <a:ext cx="9144000" cy="2387600"/>
          </a:xfrm>
          <a:prstGeom prst="rect">
            <a:avLst/>
          </a:prstGeom>
        </p:spPr>
        <p:txBody>
          <a:bodyPr anchor="b"/>
          <a:lstStyle>
            <a:lvl1pPr algn="ctr">
              <a:defRPr sz="6000">
                <a:solidFill>
                  <a:schemeClr val="bg1"/>
                </a:solidFill>
              </a:defRPr>
            </a:lvl1pPr>
          </a:lstStyle>
          <a:p>
            <a:r>
              <a:rPr lang="en-US" noProof="0"/>
              <a:t>Lecture title</a:t>
            </a:r>
          </a:p>
        </p:txBody>
      </p:sp>
      <p:sp>
        <p:nvSpPr>
          <p:cNvPr id="3" name="Sous-titre 2">
            <a:extLst>
              <a:ext uri="{FF2B5EF4-FFF2-40B4-BE49-F238E27FC236}">
                <a16:creationId xmlns:a16="http://schemas.microsoft.com/office/drawing/2014/main" id="{DAD8B847-1B82-BE49-A9A7-C3023CD2D5C9}"/>
              </a:ext>
            </a:extLst>
          </p:cNvPr>
          <p:cNvSpPr>
            <a:spLocks noGrp="1"/>
          </p:cNvSpPr>
          <p:nvPr>
            <p:ph type="subTitle" idx="1" hasCustomPrompt="1"/>
          </p:nvPr>
        </p:nvSpPr>
        <p:spPr>
          <a:xfrm>
            <a:off x="1524000" y="3602038"/>
            <a:ext cx="9144000" cy="1655762"/>
          </a:xfrm>
          <a:prstGeom prst="rect">
            <a:avLst/>
          </a:prstGeo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Course Name</a:t>
            </a:r>
          </a:p>
        </p:txBody>
      </p:sp>
      <p:pic>
        <p:nvPicPr>
          <p:cNvPr id="7" name="Image 6">
            <a:extLst>
              <a:ext uri="{FF2B5EF4-FFF2-40B4-BE49-F238E27FC236}">
                <a16:creationId xmlns:a16="http://schemas.microsoft.com/office/drawing/2014/main" id="{EC7D63E0-5705-23E4-9223-C7EC73F93C4E}"/>
              </a:ext>
            </a:extLst>
          </p:cNvPr>
          <p:cNvPicPr>
            <a:picLocks noChangeAspect="1"/>
          </p:cNvPicPr>
          <p:nvPr userDrawn="1"/>
        </p:nvPicPr>
        <p:blipFill>
          <a:blip r:embed="rId2"/>
          <a:stretch>
            <a:fillRect/>
          </a:stretch>
        </p:blipFill>
        <p:spPr>
          <a:xfrm>
            <a:off x="10753200" y="5454000"/>
            <a:ext cx="1080000" cy="1080000"/>
          </a:xfrm>
          <a:prstGeom prst="rect">
            <a:avLst/>
          </a:prstGeom>
        </p:spPr>
      </p:pic>
    </p:spTree>
    <p:extLst>
      <p:ext uri="{BB962C8B-B14F-4D97-AF65-F5344CB8AC3E}">
        <p14:creationId xmlns:p14="http://schemas.microsoft.com/office/powerpoint/2010/main" val="26414071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ummary">
    <p:bg>
      <p:bgPr>
        <a:solidFill>
          <a:srgbClr val="3D2683"/>
        </a:solidFill>
        <a:effectLst/>
      </p:bgPr>
    </p:bg>
    <p:spTree>
      <p:nvGrpSpPr>
        <p:cNvPr id="1" name=""/>
        <p:cNvGrpSpPr/>
        <p:nvPr/>
      </p:nvGrpSpPr>
      <p:grpSpPr>
        <a:xfrm>
          <a:off x="0" y="0"/>
          <a:ext cx="0" cy="0"/>
          <a:chOff x="0" y="0"/>
          <a:chExt cx="0" cy="0"/>
        </a:xfrm>
      </p:grpSpPr>
      <p:pic>
        <p:nvPicPr>
          <p:cNvPr id="8" name="Graphique 7" descr="Menu avec un remplissage uni">
            <a:extLst>
              <a:ext uri="{FF2B5EF4-FFF2-40B4-BE49-F238E27FC236}">
                <a16:creationId xmlns:a16="http://schemas.microsoft.com/office/drawing/2014/main" id="{6A612DC0-9BAA-7241-FF6D-0BB72E89AE9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440000" y="5040000"/>
            <a:ext cx="1080000" cy="1080000"/>
          </a:xfrm>
          <a:prstGeom prst="rect">
            <a:avLst/>
          </a:prstGeom>
        </p:spPr>
      </p:pic>
      <p:sp>
        <p:nvSpPr>
          <p:cNvPr id="2" name="Espace réservé du texte 16">
            <a:extLst>
              <a:ext uri="{FF2B5EF4-FFF2-40B4-BE49-F238E27FC236}">
                <a16:creationId xmlns:a16="http://schemas.microsoft.com/office/drawing/2014/main" id="{43A07EE0-044C-8744-BB44-5D91F7B73045}"/>
              </a:ext>
            </a:extLst>
          </p:cNvPr>
          <p:cNvSpPr>
            <a:spLocks noGrp="1"/>
          </p:cNvSpPr>
          <p:nvPr>
            <p:ph type="body" sz="quarter" idx="10" hasCustomPrompt="1"/>
          </p:nvPr>
        </p:nvSpPr>
        <p:spPr>
          <a:xfrm>
            <a:off x="831850" y="396327"/>
            <a:ext cx="10688150" cy="914400"/>
          </a:xfrm>
        </p:spPr>
        <p:txBody>
          <a:bodyPr>
            <a:normAutofit/>
          </a:bodyPr>
          <a:lstStyle>
            <a:lvl1pPr>
              <a:defRPr lang="fr-FR" sz="3200" i="1" smtClean="0">
                <a:solidFill>
                  <a:schemeClr val="bg1"/>
                </a:solidFill>
                <a:latin typeface="+mj-lt"/>
                <a:ea typeface="+mj-ea"/>
                <a:cs typeface="+mj-cs"/>
              </a:defRPr>
            </a:lvl1pPr>
            <a:lvl2pPr>
              <a:defRPr lang="fr-FR" sz="1800" smtClean="0"/>
            </a:lvl2pPr>
            <a:lvl3pPr>
              <a:defRPr lang="fr-FR" sz="1800" smtClean="0"/>
            </a:lvl3pPr>
            <a:lvl4pPr>
              <a:defRPr lang="fr-FR" smtClean="0"/>
            </a:lvl4pPr>
            <a:lvl5pPr>
              <a:defRPr lang="en-US"/>
            </a:lvl5pPr>
          </a:lstStyle>
          <a:p>
            <a:pPr marL="0" lvl="0" algn="ctr">
              <a:spcBef>
                <a:spcPct val="0"/>
              </a:spcBef>
              <a:buNone/>
            </a:pPr>
            <a:r>
              <a:rPr lang="en-US" noProof="0" dirty="0"/>
              <a:t>Summary</a:t>
            </a:r>
          </a:p>
        </p:txBody>
      </p:sp>
      <p:sp>
        <p:nvSpPr>
          <p:cNvPr id="3" name="Espace réservé du texte 18">
            <a:extLst>
              <a:ext uri="{FF2B5EF4-FFF2-40B4-BE49-F238E27FC236}">
                <a16:creationId xmlns:a16="http://schemas.microsoft.com/office/drawing/2014/main" id="{7023B183-7C64-4236-1FC6-B1766351D210}"/>
              </a:ext>
            </a:extLst>
          </p:cNvPr>
          <p:cNvSpPr>
            <a:spLocks noGrp="1"/>
          </p:cNvSpPr>
          <p:nvPr>
            <p:ph type="body" sz="quarter" idx="11" hasCustomPrompt="1"/>
          </p:nvPr>
        </p:nvSpPr>
        <p:spPr>
          <a:xfrm>
            <a:off x="844550" y="2559496"/>
            <a:ext cx="10688150" cy="3560504"/>
          </a:xfrm>
        </p:spPr>
        <p:txBody>
          <a:bodyPr>
            <a:normAutofit/>
          </a:bodyPr>
          <a:lstStyle>
            <a:lvl1pPr>
              <a:defRPr lang="fr-FR" sz="3600" dirty="0" smtClean="0">
                <a:solidFill>
                  <a:schemeClr val="bg1"/>
                </a:solidFill>
                <a:latin typeface="+mj-lt"/>
                <a:ea typeface="+mj-ea"/>
                <a:cs typeface="+mj-cs"/>
              </a:defRPr>
            </a:lvl1pPr>
            <a:lvl2pPr>
              <a:defRPr lang="fr-FR" sz="1800" dirty="0" smtClean="0">
                <a:solidFill>
                  <a:schemeClr val="bg1"/>
                </a:solidFill>
              </a:defRPr>
            </a:lvl2pPr>
            <a:lvl3pPr>
              <a:defRPr lang="fr-FR" sz="1800" dirty="0" smtClean="0">
                <a:solidFill>
                  <a:schemeClr val="bg1"/>
                </a:solidFill>
              </a:defRPr>
            </a:lvl3pPr>
            <a:lvl4pPr>
              <a:defRPr lang="fr-FR" dirty="0" smtClean="0">
                <a:solidFill>
                  <a:schemeClr val="bg1"/>
                </a:solidFill>
              </a:defRPr>
            </a:lvl4pPr>
            <a:lvl5pPr>
              <a:defRPr lang="en-US" dirty="0">
                <a:solidFill>
                  <a:schemeClr val="bg1"/>
                </a:solidFill>
              </a:defRPr>
            </a:lvl5pPr>
          </a:lstStyle>
          <a:p>
            <a:pPr marL="742950" lvl="0" indent="-742950">
              <a:spcBef>
                <a:spcPct val="0"/>
              </a:spcBef>
              <a:buAutoNum type="arabicPeriod"/>
            </a:pPr>
            <a:r>
              <a:rPr lang="en-US" noProof="0" dirty="0"/>
              <a:t>Chapter 1</a:t>
            </a:r>
          </a:p>
          <a:p>
            <a:pPr marL="742950" lvl="0" indent="-742950">
              <a:spcBef>
                <a:spcPct val="0"/>
              </a:spcBef>
              <a:buAutoNum type="arabicPeriod"/>
            </a:pPr>
            <a:r>
              <a:rPr lang="en-US" noProof="0" dirty="0"/>
              <a:t>Chapter 2</a:t>
            </a:r>
          </a:p>
        </p:txBody>
      </p:sp>
    </p:spTree>
    <p:extLst>
      <p:ext uri="{BB962C8B-B14F-4D97-AF65-F5344CB8AC3E}">
        <p14:creationId xmlns:p14="http://schemas.microsoft.com/office/powerpoint/2010/main" val="23104465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apter title">
    <p:bg>
      <p:bgPr>
        <a:solidFill>
          <a:srgbClr val="3D2683"/>
        </a:solidFill>
        <a:effectLst/>
      </p:bgPr>
    </p:bg>
    <p:spTree>
      <p:nvGrpSpPr>
        <p:cNvPr id="1" name=""/>
        <p:cNvGrpSpPr/>
        <p:nvPr/>
      </p:nvGrpSpPr>
      <p:grpSpPr>
        <a:xfrm>
          <a:off x="0" y="0"/>
          <a:ext cx="0" cy="0"/>
          <a:chOff x="0" y="0"/>
          <a:chExt cx="0" cy="0"/>
        </a:xfrm>
      </p:grpSpPr>
      <p:sp>
        <p:nvSpPr>
          <p:cNvPr id="2" name="Espace réservé du texte 9">
            <a:extLst>
              <a:ext uri="{FF2B5EF4-FFF2-40B4-BE49-F238E27FC236}">
                <a16:creationId xmlns:a16="http://schemas.microsoft.com/office/drawing/2014/main" id="{D91D57AC-C4F7-1020-1370-E36014B9CA35}"/>
              </a:ext>
            </a:extLst>
          </p:cNvPr>
          <p:cNvSpPr>
            <a:spLocks noGrp="1"/>
          </p:cNvSpPr>
          <p:nvPr>
            <p:ph type="body" sz="quarter" idx="10" hasCustomPrompt="1"/>
          </p:nvPr>
        </p:nvSpPr>
        <p:spPr>
          <a:xfrm>
            <a:off x="844550" y="1786740"/>
            <a:ext cx="10515600" cy="2851200"/>
          </a:xfrm>
        </p:spPr>
        <p:txBody>
          <a:bodyPr anchor="b" anchorCtr="0">
            <a:normAutofit lnSpcReduction="10000"/>
          </a:bodyPr>
          <a:lstStyle>
            <a:lvl1pPr marL="0" indent="0">
              <a:buNone/>
              <a:defRPr lang="fr-FR" sz="5400" dirty="0" smtClean="0">
                <a:solidFill>
                  <a:schemeClr val="bg1"/>
                </a:solidFill>
                <a:latin typeface="+mj-lt"/>
                <a:ea typeface="+mj-ea"/>
                <a:cs typeface="+mj-cs"/>
              </a:defRPr>
            </a:lvl1pPr>
            <a:lvl2pPr>
              <a:defRPr lang="fr-FR" sz="2800" dirty="0" smtClean="0">
                <a:solidFill>
                  <a:schemeClr val="bg1"/>
                </a:solidFill>
              </a:defRPr>
            </a:lvl2pPr>
            <a:lvl3pPr>
              <a:defRPr lang="fr-FR" sz="1800" dirty="0" smtClean="0">
                <a:solidFill>
                  <a:schemeClr val="bg1"/>
                </a:solidFill>
              </a:defRPr>
            </a:lvl3pPr>
            <a:lvl4pPr>
              <a:defRPr lang="fr-FR" dirty="0" smtClean="0">
                <a:solidFill>
                  <a:schemeClr val="bg1"/>
                </a:solidFill>
              </a:defRPr>
            </a:lvl4pPr>
            <a:lvl5pPr>
              <a:defRPr lang="en-US" dirty="0">
                <a:solidFill>
                  <a:schemeClr val="bg1"/>
                </a:solidFill>
              </a:defRPr>
            </a:lvl5pPr>
          </a:lstStyle>
          <a:p>
            <a:pPr marL="914400" lvl="0" indent="-914400">
              <a:spcBef>
                <a:spcPct val="0"/>
              </a:spcBef>
              <a:buAutoNum type="arabicPeriod"/>
            </a:pPr>
            <a:r>
              <a:rPr lang="en-US" noProof="0" dirty="0"/>
              <a:t>Chapter title</a:t>
            </a:r>
          </a:p>
        </p:txBody>
      </p:sp>
    </p:spTree>
    <p:extLst>
      <p:ext uri="{BB962C8B-B14F-4D97-AF65-F5344CB8AC3E}">
        <p14:creationId xmlns:p14="http://schemas.microsoft.com/office/powerpoint/2010/main" val="12340513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hapter slide">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2C3841B2-2299-484D-98D4-2509FDD87321}"/>
              </a:ext>
            </a:extLst>
          </p:cNvPr>
          <p:cNvSpPr>
            <a:spLocks noGrp="1"/>
          </p:cNvSpPr>
          <p:nvPr>
            <p:ph idx="1"/>
          </p:nvPr>
        </p:nvSpPr>
        <p:spPr>
          <a:xfrm>
            <a:off x="838200" y="2176669"/>
            <a:ext cx="10515600" cy="4000293"/>
          </a:xfrm>
          <a:prstGeom prst="rect">
            <a:avLst/>
          </a:prstGeom>
        </p:spPr>
        <p:txBody>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en-US" noProof="0" dirty="0"/>
          </a:p>
        </p:txBody>
      </p:sp>
      <p:sp>
        <p:nvSpPr>
          <p:cNvPr id="4" name="Espace réservé de la date 3">
            <a:extLst>
              <a:ext uri="{FF2B5EF4-FFF2-40B4-BE49-F238E27FC236}">
                <a16:creationId xmlns:a16="http://schemas.microsoft.com/office/drawing/2014/main" id="{557F3535-31CB-2243-9FD7-D6385CE3DE0D}"/>
              </a:ext>
            </a:extLst>
          </p:cNvPr>
          <p:cNvSpPr>
            <a:spLocks noGrp="1"/>
          </p:cNvSpPr>
          <p:nvPr>
            <p:ph type="dt" sz="half" idx="10"/>
          </p:nvPr>
        </p:nvSpPr>
        <p:spPr/>
        <p:txBody>
          <a:bodyPr/>
          <a:lstStyle/>
          <a:p>
            <a:fld id="{760B14F5-1D21-F14F-B36B-BCA0A34A15FF}" type="datetimeFigureOut">
              <a:rPr lang="en-US" noProof="0" smtClean="0"/>
              <a:t>8/2/2026</a:t>
            </a:fld>
            <a:endParaRPr lang="en-US" noProof="0" dirty="0"/>
          </a:p>
        </p:txBody>
      </p:sp>
      <p:sp>
        <p:nvSpPr>
          <p:cNvPr id="5" name="Espace réservé du pied de page 4">
            <a:extLst>
              <a:ext uri="{FF2B5EF4-FFF2-40B4-BE49-F238E27FC236}">
                <a16:creationId xmlns:a16="http://schemas.microsoft.com/office/drawing/2014/main" id="{B1828F9A-0BE6-2040-B200-CA9AD150D7E1}"/>
              </a:ext>
            </a:extLst>
          </p:cNvPr>
          <p:cNvSpPr>
            <a:spLocks noGrp="1"/>
          </p:cNvSpPr>
          <p:nvPr>
            <p:ph type="ftr" sz="quarter" idx="11"/>
          </p:nvPr>
        </p:nvSpPr>
        <p:spPr/>
        <p:txBody>
          <a:bodyPr/>
          <a:lstStyle/>
          <a:p>
            <a:r>
              <a:rPr lang="en-US" noProof="0" dirty="0"/>
              <a:t>Course title</a:t>
            </a:r>
          </a:p>
        </p:txBody>
      </p:sp>
      <p:sp>
        <p:nvSpPr>
          <p:cNvPr id="6" name="Espace réservé du numéro de diapositive 5">
            <a:extLst>
              <a:ext uri="{FF2B5EF4-FFF2-40B4-BE49-F238E27FC236}">
                <a16:creationId xmlns:a16="http://schemas.microsoft.com/office/drawing/2014/main" id="{B553960E-7BA0-5744-B871-2625A924609E}"/>
              </a:ext>
            </a:extLst>
          </p:cNvPr>
          <p:cNvSpPr>
            <a:spLocks noGrp="1"/>
          </p:cNvSpPr>
          <p:nvPr>
            <p:ph type="sldNum" sz="quarter" idx="12"/>
          </p:nvPr>
        </p:nvSpPr>
        <p:spPr/>
        <p:txBody>
          <a:bodyPr/>
          <a:lstStyle/>
          <a:p>
            <a:fld id="{075FE8A8-8232-1F4D-846D-4EBDDCE93EEF}" type="slidenum">
              <a:rPr lang="en-US" noProof="0" smtClean="0"/>
              <a:t>‹#›</a:t>
            </a:fld>
            <a:endParaRPr lang="en-US" noProof="0" dirty="0"/>
          </a:p>
        </p:txBody>
      </p:sp>
      <p:pic>
        <p:nvPicPr>
          <p:cNvPr id="10" name="Picture 4" descr="Le Groupe IONIS renforce son leadership dans les formations tech avec la  reprise de Supinfo - Newsroom IONIS Group">
            <a:extLst>
              <a:ext uri="{FF2B5EF4-FFF2-40B4-BE49-F238E27FC236}">
                <a16:creationId xmlns:a16="http://schemas.microsoft.com/office/drawing/2014/main" id="{6660FFC0-CE37-D2DA-C64C-88282943FAF8}"/>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1245262" y="186359"/>
            <a:ext cx="757859" cy="757859"/>
          </a:xfrm>
          <a:prstGeom prst="rect">
            <a:avLst/>
          </a:prstGeom>
          <a:noFill/>
          <a:extLst>
            <a:ext uri="{909E8E84-426E-40DD-AFC4-6F175D3DCCD1}">
              <a14:hiddenFill xmlns:a14="http://schemas.microsoft.com/office/drawing/2010/main">
                <a:solidFill>
                  <a:srgbClr val="FFFFFF"/>
                </a:solidFill>
              </a14:hiddenFill>
            </a:ext>
          </a:extLst>
        </p:spPr>
      </p:pic>
      <p:sp>
        <p:nvSpPr>
          <p:cNvPr id="2" name="Espace réservé du texte 14">
            <a:extLst>
              <a:ext uri="{FF2B5EF4-FFF2-40B4-BE49-F238E27FC236}">
                <a16:creationId xmlns:a16="http://schemas.microsoft.com/office/drawing/2014/main" id="{1CBCEF23-0CBA-1770-DAC7-928349B3A95A}"/>
              </a:ext>
            </a:extLst>
          </p:cNvPr>
          <p:cNvSpPr>
            <a:spLocks noGrp="1"/>
          </p:cNvSpPr>
          <p:nvPr>
            <p:ph type="body" sz="quarter" idx="14" hasCustomPrompt="1"/>
          </p:nvPr>
        </p:nvSpPr>
        <p:spPr>
          <a:xfrm>
            <a:off x="838200" y="384352"/>
            <a:ext cx="10508974" cy="569275"/>
          </a:xfrm>
        </p:spPr>
        <p:txBody>
          <a:bodyPr>
            <a:noAutofit/>
          </a:bodyPr>
          <a:lstStyle>
            <a:lvl1pPr marL="0" indent="0">
              <a:buNone/>
              <a:defRPr sz="3200">
                <a:latin typeface="+mj-lt"/>
              </a:defRPr>
            </a:lvl1pPr>
            <a:lvl2pPr>
              <a:defRPr sz="3200"/>
            </a:lvl2pPr>
            <a:lvl3pPr>
              <a:defRPr sz="2800"/>
            </a:lvl3pPr>
            <a:lvl4pPr>
              <a:defRPr sz="2400"/>
            </a:lvl4pPr>
            <a:lvl5pPr>
              <a:defRPr sz="2400"/>
            </a:lvl5pPr>
          </a:lstStyle>
          <a:p>
            <a:pPr lvl="0"/>
            <a:r>
              <a:rPr lang="en-US" noProof="0"/>
              <a:t>1. Chapter title</a:t>
            </a:r>
          </a:p>
        </p:txBody>
      </p:sp>
      <p:sp>
        <p:nvSpPr>
          <p:cNvPr id="7" name="Espace réservé du texte 18">
            <a:extLst>
              <a:ext uri="{FF2B5EF4-FFF2-40B4-BE49-F238E27FC236}">
                <a16:creationId xmlns:a16="http://schemas.microsoft.com/office/drawing/2014/main" id="{722D75D0-2F96-A6F3-E7ED-20E4539A02CE}"/>
              </a:ext>
            </a:extLst>
          </p:cNvPr>
          <p:cNvSpPr>
            <a:spLocks noGrp="1"/>
          </p:cNvSpPr>
          <p:nvPr>
            <p:ph type="body" sz="quarter" idx="15" hasCustomPrompt="1"/>
          </p:nvPr>
        </p:nvSpPr>
        <p:spPr>
          <a:xfrm>
            <a:off x="838200" y="1352782"/>
            <a:ext cx="10441597" cy="424732"/>
          </a:xfrm>
          <a:noFill/>
        </p:spPr>
        <p:txBody>
          <a:bodyPr wrap="square" rtlCol="0">
            <a:spAutoFit/>
          </a:bodyPr>
          <a:lstStyle>
            <a:lvl1pPr marL="0" indent="0">
              <a:buNone/>
              <a:defRPr lang="en-US" sz="2400" b="1" dirty="0"/>
            </a:lvl1pPr>
          </a:lstStyle>
          <a:p>
            <a:pPr marL="0" lvl="0"/>
            <a:r>
              <a:rPr lang="en-US" noProof="0" dirty="0"/>
              <a:t>Slide title</a:t>
            </a:r>
          </a:p>
        </p:txBody>
      </p:sp>
    </p:spTree>
    <p:extLst>
      <p:ext uri="{BB962C8B-B14F-4D97-AF65-F5344CB8AC3E}">
        <p14:creationId xmlns:p14="http://schemas.microsoft.com/office/powerpoint/2010/main" val="16974919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pter slide - two columns">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0E052425-B188-F44E-AE00-4A68E5EA4397}"/>
              </a:ext>
            </a:extLst>
          </p:cNvPr>
          <p:cNvSpPr>
            <a:spLocks noGrp="1"/>
          </p:cNvSpPr>
          <p:nvPr>
            <p:ph sz="half" idx="1"/>
          </p:nvPr>
        </p:nvSpPr>
        <p:spPr>
          <a:xfrm>
            <a:off x="838200" y="2176669"/>
            <a:ext cx="5181600" cy="4000294"/>
          </a:xfrm>
          <a:prstGeom prst="rect">
            <a:avLst/>
          </a:prstGeom>
        </p:spPr>
        <p:txBody>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en-US" noProof="0" dirty="0"/>
          </a:p>
        </p:txBody>
      </p:sp>
      <p:sp>
        <p:nvSpPr>
          <p:cNvPr id="4" name="Espace réservé du contenu 3">
            <a:extLst>
              <a:ext uri="{FF2B5EF4-FFF2-40B4-BE49-F238E27FC236}">
                <a16:creationId xmlns:a16="http://schemas.microsoft.com/office/drawing/2014/main" id="{FC1B7208-E02E-5B44-B5B0-8F7E4329BF93}"/>
              </a:ext>
            </a:extLst>
          </p:cNvPr>
          <p:cNvSpPr>
            <a:spLocks noGrp="1"/>
          </p:cNvSpPr>
          <p:nvPr>
            <p:ph sz="half" idx="2"/>
          </p:nvPr>
        </p:nvSpPr>
        <p:spPr>
          <a:xfrm>
            <a:off x="6172200" y="2176667"/>
            <a:ext cx="5181600" cy="4000295"/>
          </a:xfrm>
          <a:prstGeom prst="rect">
            <a:avLst/>
          </a:prstGeom>
        </p:spPr>
        <p:txBody>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en-US" noProof="0" dirty="0"/>
          </a:p>
        </p:txBody>
      </p:sp>
      <p:sp>
        <p:nvSpPr>
          <p:cNvPr id="5" name="Espace réservé de la date 4">
            <a:extLst>
              <a:ext uri="{FF2B5EF4-FFF2-40B4-BE49-F238E27FC236}">
                <a16:creationId xmlns:a16="http://schemas.microsoft.com/office/drawing/2014/main" id="{86479033-F7B2-3340-AA42-C9315CC63A98}"/>
              </a:ext>
            </a:extLst>
          </p:cNvPr>
          <p:cNvSpPr>
            <a:spLocks noGrp="1"/>
          </p:cNvSpPr>
          <p:nvPr>
            <p:ph type="dt" sz="half" idx="10"/>
          </p:nvPr>
        </p:nvSpPr>
        <p:spPr/>
        <p:txBody>
          <a:bodyPr/>
          <a:lstStyle/>
          <a:p>
            <a:fld id="{760B14F5-1D21-F14F-B36B-BCA0A34A15FF}" type="datetimeFigureOut">
              <a:rPr lang="en-US" noProof="0" smtClean="0"/>
              <a:t>8/2/2026</a:t>
            </a:fld>
            <a:endParaRPr lang="en-US" noProof="0" dirty="0"/>
          </a:p>
        </p:txBody>
      </p:sp>
      <p:sp>
        <p:nvSpPr>
          <p:cNvPr id="6" name="Espace réservé du pied de page 5">
            <a:extLst>
              <a:ext uri="{FF2B5EF4-FFF2-40B4-BE49-F238E27FC236}">
                <a16:creationId xmlns:a16="http://schemas.microsoft.com/office/drawing/2014/main" id="{9BC51178-4562-B14F-81E9-EEB57190DED2}"/>
              </a:ext>
            </a:extLst>
          </p:cNvPr>
          <p:cNvSpPr>
            <a:spLocks noGrp="1"/>
          </p:cNvSpPr>
          <p:nvPr>
            <p:ph type="ftr" sz="quarter" idx="11"/>
          </p:nvPr>
        </p:nvSpPr>
        <p:spPr/>
        <p:txBody>
          <a:bodyPr/>
          <a:lstStyle/>
          <a:p>
            <a:endParaRPr lang="en-US" noProof="0" dirty="0"/>
          </a:p>
        </p:txBody>
      </p:sp>
      <p:sp>
        <p:nvSpPr>
          <p:cNvPr id="7" name="Espace réservé du numéro de diapositive 6">
            <a:extLst>
              <a:ext uri="{FF2B5EF4-FFF2-40B4-BE49-F238E27FC236}">
                <a16:creationId xmlns:a16="http://schemas.microsoft.com/office/drawing/2014/main" id="{BECB1059-2BD2-DE48-8A78-A1F0952EFC47}"/>
              </a:ext>
            </a:extLst>
          </p:cNvPr>
          <p:cNvSpPr>
            <a:spLocks noGrp="1"/>
          </p:cNvSpPr>
          <p:nvPr>
            <p:ph type="sldNum" sz="quarter" idx="12"/>
          </p:nvPr>
        </p:nvSpPr>
        <p:spPr/>
        <p:txBody>
          <a:bodyPr/>
          <a:lstStyle/>
          <a:p>
            <a:fld id="{075FE8A8-8232-1F4D-846D-4EBDDCE93EEF}" type="slidenum">
              <a:rPr lang="en-US" noProof="0" smtClean="0"/>
              <a:t>‹#›</a:t>
            </a:fld>
            <a:endParaRPr lang="en-US" noProof="0" dirty="0"/>
          </a:p>
        </p:txBody>
      </p:sp>
      <p:pic>
        <p:nvPicPr>
          <p:cNvPr id="10" name="Picture 4" descr="Le Groupe IONIS renforce son leadership dans les formations tech avec la  reprise de Supinfo - Newsroom IONIS Group">
            <a:extLst>
              <a:ext uri="{FF2B5EF4-FFF2-40B4-BE49-F238E27FC236}">
                <a16:creationId xmlns:a16="http://schemas.microsoft.com/office/drawing/2014/main" id="{A92302A2-2F30-4395-7531-E36188D0A28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1245262" y="186359"/>
            <a:ext cx="757859" cy="757859"/>
          </a:xfrm>
          <a:prstGeom prst="rect">
            <a:avLst/>
          </a:prstGeom>
          <a:noFill/>
          <a:extLst>
            <a:ext uri="{909E8E84-426E-40DD-AFC4-6F175D3DCCD1}">
              <a14:hiddenFill xmlns:a14="http://schemas.microsoft.com/office/drawing/2010/main">
                <a:solidFill>
                  <a:srgbClr val="FFFFFF"/>
                </a:solidFill>
              </a14:hiddenFill>
            </a:ext>
          </a:extLst>
        </p:spPr>
      </p:pic>
      <p:sp>
        <p:nvSpPr>
          <p:cNvPr id="14" name="Espace réservé du texte 14">
            <a:extLst>
              <a:ext uri="{FF2B5EF4-FFF2-40B4-BE49-F238E27FC236}">
                <a16:creationId xmlns:a16="http://schemas.microsoft.com/office/drawing/2014/main" id="{1CCD0D53-B6A8-F19A-90D8-BB615B020703}"/>
              </a:ext>
            </a:extLst>
          </p:cNvPr>
          <p:cNvSpPr>
            <a:spLocks noGrp="1"/>
          </p:cNvSpPr>
          <p:nvPr>
            <p:ph type="body" sz="quarter" idx="14" hasCustomPrompt="1"/>
          </p:nvPr>
        </p:nvSpPr>
        <p:spPr>
          <a:xfrm>
            <a:off x="838200" y="384352"/>
            <a:ext cx="10508974" cy="569275"/>
          </a:xfrm>
        </p:spPr>
        <p:txBody>
          <a:bodyPr>
            <a:noAutofit/>
          </a:bodyPr>
          <a:lstStyle>
            <a:lvl1pPr marL="0" indent="0">
              <a:buNone/>
              <a:defRPr sz="3200">
                <a:latin typeface="+mj-lt"/>
              </a:defRPr>
            </a:lvl1pPr>
            <a:lvl2pPr>
              <a:defRPr sz="3200"/>
            </a:lvl2pPr>
            <a:lvl3pPr>
              <a:defRPr sz="2800"/>
            </a:lvl3pPr>
            <a:lvl4pPr>
              <a:defRPr sz="2400"/>
            </a:lvl4pPr>
            <a:lvl5pPr>
              <a:defRPr sz="2400"/>
            </a:lvl5pPr>
          </a:lstStyle>
          <a:p>
            <a:pPr lvl="0"/>
            <a:r>
              <a:rPr lang="en-US" noProof="0"/>
              <a:t>1. Chapter title</a:t>
            </a:r>
          </a:p>
        </p:txBody>
      </p:sp>
      <p:sp>
        <p:nvSpPr>
          <p:cNvPr id="15" name="Espace réservé du texte 18">
            <a:extLst>
              <a:ext uri="{FF2B5EF4-FFF2-40B4-BE49-F238E27FC236}">
                <a16:creationId xmlns:a16="http://schemas.microsoft.com/office/drawing/2014/main" id="{39628C7C-5050-F3BB-3DD1-A7C9629DCAB7}"/>
              </a:ext>
            </a:extLst>
          </p:cNvPr>
          <p:cNvSpPr>
            <a:spLocks noGrp="1"/>
          </p:cNvSpPr>
          <p:nvPr>
            <p:ph type="body" sz="quarter" idx="15" hasCustomPrompt="1"/>
          </p:nvPr>
        </p:nvSpPr>
        <p:spPr>
          <a:xfrm>
            <a:off x="838200" y="1352782"/>
            <a:ext cx="10441597" cy="424732"/>
          </a:xfrm>
          <a:noFill/>
        </p:spPr>
        <p:txBody>
          <a:bodyPr wrap="square" rtlCol="0">
            <a:spAutoFit/>
          </a:bodyPr>
          <a:lstStyle>
            <a:lvl1pPr marL="0" indent="0">
              <a:buNone/>
              <a:defRPr lang="en-US" sz="2400" b="1" dirty="0"/>
            </a:lvl1pPr>
          </a:lstStyle>
          <a:p>
            <a:pPr marL="0" lvl="0"/>
            <a:r>
              <a:rPr lang="en-US" noProof="0" dirty="0"/>
              <a:t>Slide title</a:t>
            </a:r>
          </a:p>
        </p:txBody>
      </p:sp>
    </p:spTree>
    <p:extLst>
      <p:ext uri="{BB962C8B-B14F-4D97-AF65-F5344CB8AC3E}">
        <p14:creationId xmlns:p14="http://schemas.microsoft.com/office/powerpoint/2010/main" val="34130480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pter slide - empty">
    <p:spTree>
      <p:nvGrpSpPr>
        <p:cNvPr id="1" name=""/>
        <p:cNvGrpSpPr/>
        <p:nvPr/>
      </p:nvGrpSpPr>
      <p:grpSpPr>
        <a:xfrm>
          <a:off x="0" y="0"/>
          <a:ext cx="0" cy="0"/>
          <a:chOff x="0" y="0"/>
          <a:chExt cx="0" cy="0"/>
        </a:xfrm>
      </p:grpSpPr>
      <p:sp>
        <p:nvSpPr>
          <p:cNvPr id="3" name="Espace réservé de la date 2">
            <a:extLst>
              <a:ext uri="{FF2B5EF4-FFF2-40B4-BE49-F238E27FC236}">
                <a16:creationId xmlns:a16="http://schemas.microsoft.com/office/drawing/2014/main" id="{1AC96ECA-9486-6E4B-B4BC-7E76B34EFF98}"/>
              </a:ext>
            </a:extLst>
          </p:cNvPr>
          <p:cNvSpPr>
            <a:spLocks noGrp="1"/>
          </p:cNvSpPr>
          <p:nvPr>
            <p:ph type="dt" sz="half" idx="10"/>
          </p:nvPr>
        </p:nvSpPr>
        <p:spPr/>
        <p:txBody>
          <a:bodyPr/>
          <a:lstStyle/>
          <a:p>
            <a:fld id="{760B14F5-1D21-F14F-B36B-BCA0A34A15FF}" type="datetimeFigureOut">
              <a:rPr lang="en-US" noProof="0" smtClean="0"/>
              <a:t>8/2/2026</a:t>
            </a:fld>
            <a:endParaRPr lang="en-US" noProof="0" dirty="0"/>
          </a:p>
        </p:txBody>
      </p:sp>
      <p:sp>
        <p:nvSpPr>
          <p:cNvPr id="4" name="Espace réservé du pied de page 3">
            <a:extLst>
              <a:ext uri="{FF2B5EF4-FFF2-40B4-BE49-F238E27FC236}">
                <a16:creationId xmlns:a16="http://schemas.microsoft.com/office/drawing/2014/main" id="{B8B4D8AF-4BB6-934B-A379-CBF84C9A4121}"/>
              </a:ext>
            </a:extLst>
          </p:cNvPr>
          <p:cNvSpPr>
            <a:spLocks noGrp="1"/>
          </p:cNvSpPr>
          <p:nvPr>
            <p:ph type="ftr" sz="quarter" idx="11"/>
          </p:nvPr>
        </p:nvSpPr>
        <p:spPr/>
        <p:txBody>
          <a:bodyPr/>
          <a:lstStyle/>
          <a:p>
            <a:endParaRPr lang="en-US" noProof="0" dirty="0"/>
          </a:p>
        </p:txBody>
      </p:sp>
      <p:sp>
        <p:nvSpPr>
          <p:cNvPr id="5" name="Espace réservé du numéro de diapositive 4">
            <a:extLst>
              <a:ext uri="{FF2B5EF4-FFF2-40B4-BE49-F238E27FC236}">
                <a16:creationId xmlns:a16="http://schemas.microsoft.com/office/drawing/2014/main" id="{0F8E009D-38CE-D34C-82BA-3182CA4F15F6}"/>
              </a:ext>
            </a:extLst>
          </p:cNvPr>
          <p:cNvSpPr>
            <a:spLocks noGrp="1"/>
          </p:cNvSpPr>
          <p:nvPr>
            <p:ph type="sldNum" sz="quarter" idx="12"/>
          </p:nvPr>
        </p:nvSpPr>
        <p:spPr/>
        <p:txBody>
          <a:bodyPr/>
          <a:lstStyle/>
          <a:p>
            <a:fld id="{075FE8A8-8232-1F4D-846D-4EBDDCE93EEF}" type="slidenum">
              <a:rPr lang="en-US" noProof="0" smtClean="0"/>
              <a:t>‹#›</a:t>
            </a:fld>
            <a:endParaRPr lang="en-US" noProof="0" dirty="0"/>
          </a:p>
        </p:txBody>
      </p:sp>
      <p:pic>
        <p:nvPicPr>
          <p:cNvPr id="8" name="Picture 4" descr="Le Groupe IONIS renforce son leadership dans les formations tech avec la  reprise de Supinfo - Newsroom IONIS Group">
            <a:extLst>
              <a:ext uri="{FF2B5EF4-FFF2-40B4-BE49-F238E27FC236}">
                <a16:creationId xmlns:a16="http://schemas.microsoft.com/office/drawing/2014/main" id="{BFB9A735-A638-52B7-D68B-A96CEE779EC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1245262" y="186359"/>
            <a:ext cx="757859" cy="757859"/>
          </a:xfrm>
          <a:prstGeom prst="rect">
            <a:avLst/>
          </a:prstGeom>
          <a:noFill/>
          <a:extLst>
            <a:ext uri="{909E8E84-426E-40DD-AFC4-6F175D3DCCD1}">
              <a14:hiddenFill xmlns:a14="http://schemas.microsoft.com/office/drawing/2010/main">
                <a:solidFill>
                  <a:srgbClr val="FFFFFF"/>
                </a:solidFill>
              </a14:hiddenFill>
            </a:ext>
          </a:extLst>
        </p:spPr>
      </p:pic>
      <p:sp>
        <p:nvSpPr>
          <p:cNvPr id="13" name="Espace réservé du texte 14">
            <a:extLst>
              <a:ext uri="{FF2B5EF4-FFF2-40B4-BE49-F238E27FC236}">
                <a16:creationId xmlns:a16="http://schemas.microsoft.com/office/drawing/2014/main" id="{30ABB380-A5C2-B98F-AC5D-2B66EA3EA713}"/>
              </a:ext>
            </a:extLst>
          </p:cNvPr>
          <p:cNvSpPr>
            <a:spLocks noGrp="1"/>
          </p:cNvSpPr>
          <p:nvPr>
            <p:ph type="body" sz="quarter" idx="14" hasCustomPrompt="1"/>
          </p:nvPr>
        </p:nvSpPr>
        <p:spPr>
          <a:xfrm>
            <a:off x="838200" y="384352"/>
            <a:ext cx="10508974" cy="569275"/>
          </a:xfrm>
        </p:spPr>
        <p:txBody>
          <a:bodyPr>
            <a:noAutofit/>
          </a:bodyPr>
          <a:lstStyle>
            <a:lvl1pPr marL="0" indent="0">
              <a:buNone/>
              <a:defRPr sz="3200">
                <a:latin typeface="+mj-lt"/>
              </a:defRPr>
            </a:lvl1pPr>
            <a:lvl2pPr>
              <a:defRPr sz="3200"/>
            </a:lvl2pPr>
            <a:lvl3pPr>
              <a:defRPr sz="2800"/>
            </a:lvl3pPr>
            <a:lvl4pPr>
              <a:defRPr sz="2400"/>
            </a:lvl4pPr>
            <a:lvl5pPr>
              <a:defRPr sz="2400"/>
            </a:lvl5pPr>
          </a:lstStyle>
          <a:p>
            <a:pPr lvl="0"/>
            <a:r>
              <a:rPr lang="en-US" noProof="0"/>
              <a:t>1. Chapter title</a:t>
            </a:r>
          </a:p>
        </p:txBody>
      </p:sp>
      <p:sp>
        <p:nvSpPr>
          <p:cNvPr id="14" name="Espace réservé du texte 18">
            <a:extLst>
              <a:ext uri="{FF2B5EF4-FFF2-40B4-BE49-F238E27FC236}">
                <a16:creationId xmlns:a16="http://schemas.microsoft.com/office/drawing/2014/main" id="{DE53F5EF-F998-643E-58EE-4D0B72403D74}"/>
              </a:ext>
            </a:extLst>
          </p:cNvPr>
          <p:cNvSpPr>
            <a:spLocks noGrp="1"/>
          </p:cNvSpPr>
          <p:nvPr>
            <p:ph type="body" sz="quarter" idx="15" hasCustomPrompt="1"/>
          </p:nvPr>
        </p:nvSpPr>
        <p:spPr>
          <a:xfrm>
            <a:off x="838200" y="1352782"/>
            <a:ext cx="10441597" cy="424732"/>
          </a:xfrm>
          <a:noFill/>
        </p:spPr>
        <p:txBody>
          <a:bodyPr wrap="square" rtlCol="0">
            <a:spAutoFit/>
          </a:bodyPr>
          <a:lstStyle>
            <a:lvl1pPr marL="0" indent="0">
              <a:buNone/>
              <a:defRPr lang="en-US" sz="2400" b="1" dirty="0"/>
            </a:lvl1pPr>
          </a:lstStyle>
          <a:p>
            <a:pPr marL="0" lvl="0"/>
            <a:r>
              <a:rPr lang="en-US" noProof="0" dirty="0"/>
              <a:t>Slide title</a:t>
            </a:r>
          </a:p>
        </p:txBody>
      </p:sp>
    </p:spTree>
    <p:extLst>
      <p:ext uri="{BB962C8B-B14F-4D97-AF65-F5344CB8AC3E}">
        <p14:creationId xmlns:p14="http://schemas.microsoft.com/office/powerpoint/2010/main" val="25855147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AD844418-3E68-CA4E-AC8C-9D66D9255062}"/>
              </a:ext>
            </a:extLst>
          </p:cNvPr>
          <p:cNvSpPr>
            <a:spLocks noGrp="1"/>
          </p:cNvSpPr>
          <p:nvPr>
            <p:ph type="dt" sz="half" idx="10"/>
          </p:nvPr>
        </p:nvSpPr>
        <p:spPr/>
        <p:txBody>
          <a:bodyPr/>
          <a:lstStyle/>
          <a:p>
            <a:fld id="{760B14F5-1D21-F14F-B36B-BCA0A34A15FF}" type="datetimeFigureOut">
              <a:rPr lang="en-US" noProof="0" smtClean="0"/>
              <a:t>8/2/2026</a:t>
            </a:fld>
            <a:endParaRPr lang="en-US" noProof="0" dirty="0"/>
          </a:p>
        </p:txBody>
      </p:sp>
      <p:sp>
        <p:nvSpPr>
          <p:cNvPr id="3" name="Espace réservé du pied de page 2">
            <a:extLst>
              <a:ext uri="{FF2B5EF4-FFF2-40B4-BE49-F238E27FC236}">
                <a16:creationId xmlns:a16="http://schemas.microsoft.com/office/drawing/2014/main" id="{ACD285BC-A399-C24D-9863-55D71A825557}"/>
              </a:ext>
            </a:extLst>
          </p:cNvPr>
          <p:cNvSpPr>
            <a:spLocks noGrp="1"/>
          </p:cNvSpPr>
          <p:nvPr>
            <p:ph type="ftr" sz="quarter" idx="11"/>
          </p:nvPr>
        </p:nvSpPr>
        <p:spPr/>
        <p:txBody>
          <a:bodyPr/>
          <a:lstStyle/>
          <a:p>
            <a:endParaRPr lang="en-US" noProof="0" dirty="0"/>
          </a:p>
        </p:txBody>
      </p:sp>
      <p:sp>
        <p:nvSpPr>
          <p:cNvPr id="4" name="Espace réservé du numéro de diapositive 3">
            <a:extLst>
              <a:ext uri="{FF2B5EF4-FFF2-40B4-BE49-F238E27FC236}">
                <a16:creationId xmlns:a16="http://schemas.microsoft.com/office/drawing/2014/main" id="{9BBC877D-0D91-8442-9A72-AF3420B94651}"/>
              </a:ext>
            </a:extLst>
          </p:cNvPr>
          <p:cNvSpPr>
            <a:spLocks noGrp="1"/>
          </p:cNvSpPr>
          <p:nvPr>
            <p:ph type="sldNum" sz="quarter" idx="12"/>
          </p:nvPr>
        </p:nvSpPr>
        <p:spPr/>
        <p:txBody>
          <a:bodyPr/>
          <a:lstStyle/>
          <a:p>
            <a:fld id="{075FE8A8-8232-1F4D-846D-4EBDDCE93EEF}" type="slidenum">
              <a:rPr lang="en-US" noProof="0" smtClean="0"/>
              <a:t>‹#›</a:t>
            </a:fld>
            <a:endParaRPr lang="en-US" noProof="0" dirty="0"/>
          </a:p>
        </p:txBody>
      </p:sp>
      <p:pic>
        <p:nvPicPr>
          <p:cNvPr id="5" name="Picture 4" descr="Le Groupe IONIS renforce son leadership dans les formations tech avec la  reprise de Supinfo - Newsroom IONIS Group">
            <a:extLst>
              <a:ext uri="{FF2B5EF4-FFF2-40B4-BE49-F238E27FC236}">
                <a16:creationId xmlns:a16="http://schemas.microsoft.com/office/drawing/2014/main" id="{4DADE6D4-7698-3109-FF0C-06AFA9253A28}"/>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1245262" y="186359"/>
            <a:ext cx="757859" cy="7578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07320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pter slide - Side contents">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21A9CD95-5780-714B-A453-63A2F3456E7F}"/>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en-US" noProof="0" dirty="0"/>
          </a:p>
        </p:txBody>
      </p:sp>
      <p:sp>
        <p:nvSpPr>
          <p:cNvPr id="4" name="Espace réservé du texte 3">
            <a:extLst>
              <a:ext uri="{FF2B5EF4-FFF2-40B4-BE49-F238E27FC236}">
                <a16:creationId xmlns:a16="http://schemas.microsoft.com/office/drawing/2014/main" id="{D2D7CA0C-E415-F14F-9EF8-44A9C7CBEDA5}"/>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noProof="0"/>
              <a:t>Cliquez pour modifier les styles du texte du masque</a:t>
            </a:r>
          </a:p>
        </p:txBody>
      </p:sp>
      <p:sp>
        <p:nvSpPr>
          <p:cNvPr id="5" name="Espace réservé de la date 4">
            <a:extLst>
              <a:ext uri="{FF2B5EF4-FFF2-40B4-BE49-F238E27FC236}">
                <a16:creationId xmlns:a16="http://schemas.microsoft.com/office/drawing/2014/main" id="{22697766-D919-5247-A55B-2A12BA74BE2E}"/>
              </a:ext>
            </a:extLst>
          </p:cNvPr>
          <p:cNvSpPr>
            <a:spLocks noGrp="1"/>
          </p:cNvSpPr>
          <p:nvPr>
            <p:ph type="dt" sz="half" idx="10"/>
          </p:nvPr>
        </p:nvSpPr>
        <p:spPr/>
        <p:txBody>
          <a:bodyPr/>
          <a:lstStyle/>
          <a:p>
            <a:fld id="{760B14F5-1D21-F14F-B36B-BCA0A34A15FF}" type="datetimeFigureOut">
              <a:rPr lang="en-US" noProof="0" smtClean="0"/>
              <a:t>8/2/2026</a:t>
            </a:fld>
            <a:endParaRPr lang="en-US" noProof="0" dirty="0"/>
          </a:p>
        </p:txBody>
      </p:sp>
      <p:sp>
        <p:nvSpPr>
          <p:cNvPr id="6" name="Espace réservé du pied de page 5">
            <a:extLst>
              <a:ext uri="{FF2B5EF4-FFF2-40B4-BE49-F238E27FC236}">
                <a16:creationId xmlns:a16="http://schemas.microsoft.com/office/drawing/2014/main" id="{DFB77295-5D11-2841-AC5B-84946CEA3BB6}"/>
              </a:ext>
            </a:extLst>
          </p:cNvPr>
          <p:cNvSpPr>
            <a:spLocks noGrp="1"/>
          </p:cNvSpPr>
          <p:nvPr>
            <p:ph type="ftr" sz="quarter" idx="11"/>
          </p:nvPr>
        </p:nvSpPr>
        <p:spPr/>
        <p:txBody>
          <a:bodyPr/>
          <a:lstStyle/>
          <a:p>
            <a:endParaRPr lang="en-US" noProof="0" dirty="0"/>
          </a:p>
        </p:txBody>
      </p:sp>
      <p:sp>
        <p:nvSpPr>
          <p:cNvPr id="7" name="Espace réservé du numéro de diapositive 6">
            <a:extLst>
              <a:ext uri="{FF2B5EF4-FFF2-40B4-BE49-F238E27FC236}">
                <a16:creationId xmlns:a16="http://schemas.microsoft.com/office/drawing/2014/main" id="{2CAF8E56-0D31-804D-9F4F-DD615D5E8564}"/>
              </a:ext>
            </a:extLst>
          </p:cNvPr>
          <p:cNvSpPr>
            <a:spLocks noGrp="1"/>
          </p:cNvSpPr>
          <p:nvPr>
            <p:ph type="sldNum" sz="quarter" idx="12"/>
          </p:nvPr>
        </p:nvSpPr>
        <p:spPr/>
        <p:txBody>
          <a:bodyPr/>
          <a:lstStyle/>
          <a:p>
            <a:fld id="{075FE8A8-8232-1F4D-846D-4EBDDCE93EEF}" type="slidenum">
              <a:rPr lang="en-US" noProof="0" smtClean="0"/>
              <a:t>‹#›</a:t>
            </a:fld>
            <a:endParaRPr lang="en-US" noProof="0" dirty="0"/>
          </a:p>
        </p:txBody>
      </p:sp>
      <p:pic>
        <p:nvPicPr>
          <p:cNvPr id="10" name="Picture 4" descr="Le Groupe IONIS renforce son leadership dans les formations tech avec la  reprise de Supinfo - Newsroom IONIS Group">
            <a:extLst>
              <a:ext uri="{FF2B5EF4-FFF2-40B4-BE49-F238E27FC236}">
                <a16:creationId xmlns:a16="http://schemas.microsoft.com/office/drawing/2014/main" id="{E883713E-0541-3F47-5D6E-AABDC8097284}"/>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1245262" y="186359"/>
            <a:ext cx="757859" cy="757859"/>
          </a:xfrm>
          <a:prstGeom prst="rect">
            <a:avLst/>
          </a:prstGeom>
          <a:noFill/>
          <a:extLst>
            <a:ext uri="{909E8E84-426E-40DD-AFC4-6F175D3DCCD1}">
              <a14:hiddenFill xmlns:a14="http://schemas.microsoft.com/office/drawing/2010/main">
                <a:solidFill>
                  <a:srgbClr val="FFFFFF"/>
                </a:solidFill>
              </a14:hiddenFill>
            </a:ext>
          </a:extLst>
        </p:spPr>
      </p:pic>
      <p:sp>
        <p:nvSpPr>
          <p:cNvPr id="11" name="Espace réservé du texte 14">
            <a:extLst>
              <a:ext uri="{FF2B5EF4-FFF2-40B4-BE49-F238E27FC236}">
                <a16:creationId xmlns:a16="http://schemas.microsoft.com/office/drawing/2014/main" id="{443CAD83-08A3-0CB5-024F-6E35269D4F99}"/>
              </a:ext>
            </a:extLst>
          </p:cNvPr>
          <p:cNvSpPr>
            <a:spLocks noGrp="1"/>
          </p:cNvSpPr>
          <p:nvPr>
            <p:ph type="body" sz="quarter" idx="14" hasCustomPrompt="1"/>
          </p:nvPr>
        </p:nvSpPr>
        <p:spPr>
          <a:xfrm>
            <a:off x="838200" y="384352"/>
            <a:ext cx="3957611" cy="569275"/>
          </a:xfrm>
        </p:spPr>
        <p:txBody>
          <a:bodyPr>
            <a:noAutofit/>
          </a:bodyPr>
          <a:lstStyle>
            <a:lvl1pPr marL="0" indent="0">
              <a:buNone/>
              <a:defRPr sz="3200">
                <a:latin typeface="+mj-lt"/>
              </a:defRPr>
            </a:lvl1pPr>
            <a:lvl2pPr>
              <a:defRPr sz="3200"/>
            </a:lvl2pPr>
            <a:lvl3pPr>
              <a:defRPr sz="2800"/>
            </a:lvl3pPr>
            <a:lvl4pPr>
              <a:defRPr sz="2400"/>
            </a:lvl4pPr>
            <a:lvl5pPr>
              <a:defRPr sz="2400"/>
            </a:lvl5pPr>
          </a:lstStyle>
          <a:p>
            <a:pPr lvl="0"/>
            <a:r>
              <a:rPr lang="en-US" noProof="0"/>
              <a:t>1. Chapter title</a:t>
            </a:r>
          </a:p>
        </p:txBody>
      </p:sp>
      <p:sp>
        <p:nvSpPr>
          <p:cNvPr id="12" name="Espace réservé du texte 18">
            <a:extLst>
              <a:ext uri="{FF2B5EF4-FFF2-40B4-BE49-F238E27FC236}">
                <a16:creationId xmlns:a16="http://schemas.microsoft.com/office/drawing/2014/main" id="{48654FAC-FB51-D6A3-15F4-55E511891CF3}"/>
              </a:ext>
            </a:extLst>
          </p:cNvPr>
          <p:cNvSpPr>
            <a:spLocks noGrp="1"/>
          </p:cNvSpPr>
          <p:nvPr>
            <p:ph type="body" sz="quarter" idx="15" hasCustomPrompt="1"/>
          </p:nvPr>
        </p:nvSpPr>
        <p:spPr>
          <a:xfrm>
            <a:off x="838200" y="1352782"/>
            <a:ext cx="3932237" cy="424732"/>
          </a:xfrm>
          <a:noFill/>
        </p:spPr>
        <p:txBody>
          <a:bodyPr wrap="square" rtlCol="0">
            <a:spAutoFit/>
          </a:bodyPr>
          <a:lstStyle>
            <a:lvl1pPr marL="0" indent="0">
              <a:buNone/>
              <a:defRPr lang="en-US" sz="2400" b="1" dirty="0"/>
            </a:lvl1pPr>
          </a:lstStyle>
          <a:p>
            <a:pPr marL="0" lvl="0"/>
            <a:r>
              <a:rPr lang="en-US" noProof="0" dirty="0"/>
              <a:t>Slide title</a:t>
            </a:r>
          </a:p>
        </p:txBody>
      </p:sp>
    </p:spTree>
    <p:extLst>
      <p:ext uri="{BB962C8B-B14F-4D97-AF65-F5344CB8AC3E}">
        <p14:creationId xmlns:p14="http://schemas.microsoft.com/office/powerpoint/2010/main" val="40501117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pter slide - Side image">
    <p:spTree>
      <p:nvGrpSpPr>
        <p:cNvPr id="1" name=""/>
        <p:cNvGrpSpPr/>
        <p:nvPr/>
      </p:nvGrpSpPr>
      <p:grpSpPr>
        <a:xfrm>
          <a:off x="0" y="0"/>
          <a:ext cx="0" cy="0"/>
          <a:chOff x="0" y="0"/>
          <a:chExt cx="0" cy="0"/>
        </a:xfrm>
      </p:grpSpPr>
      <p:sp>
        <p:nvSpPr>
          <p:cNvPr id="3" name="Espace réservé pour une image  2">
            <a:extLst>
              <a:ext uri="{FF2B5EF4-FFF2-40B4-BE49-F238E27FC236}">
                <a16:creationId xmlns:a16="http://schemas.microsoft.com/office/drawing/2014/main" id="{EB349CDA-C85B-4F42-B8C6-26E684EDA627}"/>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noProof="0"/>
              <a:t>Cliquez sur l'icône pour ajouter une image</a:t>
            </a:r>
            <a:endParaRPr lang="en-US" noProof="0" dirty="0"/>
          </a:p>
        </p:txBody>
      </p:sp>
      <p:sp>
        <p:nvSpPr>
          <p:cNvPr id="4" name="Espace réservé du texte 3">
            <a:extLst>
              <a:ext uri="{FF2B5EF4-FFF2-40B4-BE49-F238E27FC236}">
                <a16:creationId xmlns:a16="http://schemas.microsoft.com/office/drawing/2014/main" id="{C9E92AAF-FCE8-F84A-8EB9-CC618F3F7E70}"/>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noProof="0"/>
              <a:t>Cliquez pour modifier les styles du texte du masque</a:t>
            </a:r>
          </a:p>
        </p:txBody>
      </p:sp>
      <p:sp>
        <p:nvSpPr>
          <p:cNvPr id="5" name="Espace réservé de la date 4">
            <a:extLst>
              <a:ext uri="{FF2B5EF4-FFF2-40B4-BE49-F238E27FC236}">
                <a16:creationId xmlns:a16="http://schemas.microsoft.com/office/drawing/2014/main" id="{4AB83901-E98D-6B44-A440-F9809CD85A51}"/>
              </a:ext>
            </a:extLst>
          </p:cNvPr>
          <p:cNvSpPr>
            <a:spLocks noGrp="1"/>
          </p:cNvSpPr>
          <p:nvPr>
            <p:ph type="dt" sz="half" idx="10"/>
          </p:nvPr>
        </p:nvSpPr>
        <p:spPr/>
        <p:txBody>
          <a:bodyPr/>
          <a:lstStyle/>
          <a:p>
            <a:fld id="{760B14F5-1D21-F14F-B36B-BCA0A34A15FF}" type="datetimeFigureOut">
              <a:rPr lang="en-US" noProof="0" smtClean="0"/>
              <a:t>8/2/2026</a:t>
            </a:fld>
            <a:endParaRPr lang="en-US" noProof="0" dirty="0"/>
          </a:p>
        </p:txBody>
      </p:sp>
      <p:sp>
        <p:nvSpPr>
          <p:cNvPr id="6" name="Espace réservé du pied de page 5">
            <a:extLst>
              <a:ext uri="{FF2B5EF4-FFF2-40B4-BE49-F238E27FC236}">
                <a16:creationId xmlns:a16="http://schemas.microsoft.com/office/drawing/2014/main" id="{8AB5FCBB-5385-494D-A3C1-C59A68C9E954}"/>
              </a:ext>
            </a:extLst>
          </p:cNvPr>
          <p:cNvSpPr>
            <a:spLocks noGrp="1"/>
          </p:cNvSpPr>
          <p:nvPr>
            <p:ph type="ftr" sz="quarter" idx="11"/>
          </p:nvPr>
        </p:nvSpPr>
        <p:spPr/>
        <p:txBody>
          <a:bodyPr/>
          <a:lstStyle/>
          <a:p>
            <a:endParaRPr lang="en-US" noProof="0" dirty="0"/>
          </a:p>
        </p:txBody>
      </p:sp>
      <p:sp>
        <p:nvSpPr>
          <p:cNvPr id="7" name="Espace réservé du numéro de diapositive 6">
            <a:extLst>
              <a:ext uri="{FF2B5EF4-FFF2-40B4-BE49-F238E27FC236}">
                <a16:creationId xmlns:a16="http://schemas.microsoft.com/office/drawing/2014/main" id="{124BFBC5-500C-E04C-A17A-AC6C64E82723}"/>
              </a:ext>
            </a:extLst>
          </p:cNvPr>
          <p:cNvSpPr>
            <a:spLocks noGrp="1"/>
          </p:cNvSpPr>
          <p:nvPr>
            <p:ph type="sldNum" sz="quarter" idx="12"/>
          </p:nvPr>
        </p:nvSpPr>
        <p:spPr/>
        <p:txBody>
          <a:bodyPr/>
          <a:lstStyle/>
          <a:p>
            <a:fld id="{075FE8A8-8232-1F4D-846D-4EBDDCE93EEF}" type="slidenum">
              <a:rPr lang="en-US" noProof="0" smtClean="0"/>
              <a:t>‹#›</a:t>
            </a:fld>
            <a:endParaRPr lang="en-US" noProof="0" dirty="0"/>
          </a:p>
        </p:txBody>
      </p:sp>
      <p:pic>
        <p:nvPicPr>
          <p:cNvPr id="10" name="Picture 4" descr="Le Groupe IONIS renforce son leadership dans les formations tech avec la  reprise de Supinfo - Newsroom IONIS Group">
            <a:extLst>
              <a:ext uri="{FF2B5EF4-FFF2-40B4-BE49-F238E27FC236}">
                <a16:creationId xmlns:a16="http://schemas.microsoft.com/office/drawing/2014/main" id="{EBF717CA-66DC-4F9D-EF66-78234DA00CBB}"/>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1245262" y="186359"/>
            <a:ext cx="757859" cy="757859"/>
          </a:xfrm>
          <a:prstGeom prst="rect">
            <a:avLst/>
          </a:prstGeom>
          <a:noFill/>
          <a:extLst>
            <a:ext uri="{909E8E84-426E-40DD-AFC4-6F175D3DCCD1}">
              <a14:hiddenFill xmlns:a14="http://schemas.microsoft.com/office/drawing/2010/main">
                <a:solidFill>
                  <a:srgbClr val="FFFFFF"/>
                </a:solidFill>
              </a14:hiddenFill>
            </a:ext>
          </a:extLst>
        </p:spPr>
      </p:pic>
      <p:sp>
        <p:nvSpPr>
          <p:cNvPr id="13" name="Espace réservé du texte 14">
            <a:extLst>
              <a:ext uri="{FF2B5EF4-FFF2-40B4-BE49-F238E27FC236}">
                <a16:creationId xmlns:a16="http://schemas.microsoft.com/office/drawing/2014/main" id="{CF70D262-D2E9-6E44-0495-7CB03B090FF8}"/>
              </a:ext>
            </a:extLst>
          </p:cNvPr>
          <p:cNvSpPr>
            <a:spLocks noGrp="1"/>
          </p:cNvSpPr>
          <p:nvPr>
            <p:ph type="body" sz="quarter" idx="14" hasCustomPrompt="1"/>
          </p:nvPr>
        </p:nvSpPr>
        <p:spPr>
          <a:xfrm>
            <a:off x="838200" y="384352"/>
            <a:ext cx="3957611" cy="569275"/>
          </a:xfrm>
        </p:spPr>
        <p:txBody>
          <a:bodyPr>
            <a:noAutofit/>
          </a:bodyPr>
          <a:lstStyle>
            <a:lvl1pPr marL="0" indent="0">
              <a:buNone/>
              <a:defRPr sz="3200">
                <a:latin typeface="+mj-lt"/>
              </a:defRPr>
            </a:lvl1pPr>
            <a:lvl2pPr>
              <a:defRPr sz="3200"/>
            </a:lvl2pPr>
            <a:lvl3pPr>
              <a:defRPr sz="2800"/>
            </a:lvl3pPr>
            <a:lvl4pPr>
              <a:defRPr sz="2400"/>
            </a:lvl4pPr>
            <a:lvl5pPr>
              <a:defRPr sz="2400"/>
            </a:lvl5pPr>
          </a:lstStyle>
          <a:p>
            <a:pPr lvl="0"/>
            <a:r>
              <a:rPr lang="en-US" noProof="0"/>
              <a:t>1. Chapter title</a:t>
            </a:r>
          </a:p>
        </p:txBody>
      </p:sp>
      <p:sp>
        <p:nvSpPr>
          <p:cNvPr id="14" name="Espace réservé du texte 18">
            <a:extLst>
              <a:ext uri="{FF2B5EF4-FFF2-40B4-BE49-F238E27FC236}">
                <a16:creationId xmlns:a16="http://schemas.microsoft.com/office/drawing/2014/main" id="{7BE82C85-17CC-0E50-E758-016117F16FA3}"/>
              </a:ext>
            </a:extLst>
          </p:cNvPr>
          <p:cNvSpPr>
            <a:spLocks noGrp="1"/>
          </p:cNvSpPr>
          <p:nvPr>
            <p:ph type="body" sz="quarter" idx="15" hasCustomPrompt="1"/>
          </p:nvPr>
        </p:nvSpPr>
        <p:spPr>
          <a:xfrm>
            <a:off x="838200" y="1352782"/>
            <a:ext cx="3932237" cy="424732"/>
          </a:xfrm>
          <a:noFill/>
        </p:spPr>
        <p:txBody>
          <a:bodyPr wrap="square" rtlCol="0">
            <a:spAutoFit/>
          </a:bodyPr>
          <a:lstStyle>
            <a:lvl1pPr marL="0" indent="0">
              <a:buNone/>
              <a:defRPr lang="en-US" sz="2400" b="1" dirty="0"/>
            </a:lvl1pPr>
          </a:lstStyle>
          <a:p>
            <a:pPr marL="0" lvl="0"/>
            <a:r>
              <a:rPr lang="en-US" noProof="0" dirty="0"/>
              <a:t>Slide title</a:t>
            </a:r>
          </a:p>
        </p:txBody>
      </p:sp>
    </p:spTree>
    <p:extLst>
      <p:ext uri="{BB962C8B-B14F-4D97-AF65-F5344CB8AC3E}">
        <p14:creationId xmlns:p14="http://schemas.microsoft.com/office/powerpoint/2010/main" val="20292089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hapter questions">
    <p:bg>
      <p:bgPr>
        <a:solidFill>
          <a:srgbClr val="3D2683"/>
        </a:solidFill>
        <a:effectLst/>
      </p:bgPr>
    </p:bg>
    <p:spTree>
      <p:nvGrpSpPr>
        <p:cNvPr id="1" name=""/>
        <p:cNvGrpSpPr/>
        <p:nvPr/>
      </p:nvGrpSpPr>
      <p:grpSpPr>
        <a:xfrm>
          <a:off x="0" y="0"/>
          <a:ext cx="0" cy="0"/>
          <a:chOff x="0" y="0"/>
          <a:chExt cx="0" cy="0"/>
        </a:xfrm>
      </p:grpSpPr>
      <p:pic>
        <p:nvPicPr>
          <p:cNvPr id="3" name="Graphique 2" descr="Questions avec un remplissage uni">
            <a:extLst>
              <a:ext uri="{FF2B5EF4-FFF2-40B4-BE49-F238E27FC236}">
                <a16:creationId xmlns:a16="http://schemas.microsoft.com/office/drawing/2014/main" id="{E45B96DF-B607-C4E4-32F8-E7B91E0BFE9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656000" y="1989000"/>
            <a:ext cx="2880000" cy="2880000"/>
          </a:xfrm>
          <a:prstGeom prst="rect">
            <a:avLst/>
          </a:prstGeom>
        </p:spPr>
      </p:pic>
      <p:sp>
        <p:nvSpPr>
          <p:cNvPr id="10" name="Espace réservé du texte 8">
            <a:extLst>
              <a:ext uri="{FF2B5EF4-FFF2-40B4-BE49-F238E27FC236}">
                <a16:creationId xmlns:a16="http://schemas.microsoft.com/office/drawing/2014/main" id="{F0EC84A3-D4F4-6086-F100-018579271662}"/>
              </a:ext>
            </a:extLst>
          </p:cNvPr>
          <p:cNvSpPr>
            <a:spLocks noGrp="1"/>
          </p:cNvSpPr>
          <p:nvPr>
            <p:ph type="body" sz="quarter" idx="10" hasCustomPrompt="1"/>
          </p:nvPr>
        </p:nvSpPr>
        <p:spPr>
          <a:xfrm>
            <a:off x="838199" y="365126"/>
            <a:ext cx="10515599" cy="579092"/>
          </a:xfrm>
        </p:spPr>
        <p:txBody>
          <a:bodyPr>
            <a:normAutofit/>
          </a:bodyPr>
          <a:lstStyle>
            <a:lvl1pPr>
              <a:defRPr lang="en-US" sz="3200" dirty="0">
                <a:solidFill>
                  <a:schemeClr val="bg1"/>
                </a:solidFill>
                <a:latin typeface="+mj-lt"/>
                <a:ea typeface="+mj-ea"/>
                <a:cs typeface="+mj-cs"/>
              </a:defRPr>
            </a:lvl1pPr>
          </a:lstStyle>
          <a:p>
            <a:pPr marL="0" lvl="0">
              <a:spcBef>
                <a:spcPct val="0"/>
              </a:spcBef>
              <a:buNone/>
            </a:pPr>
            <a:r>
              <a:rPr lang="en-US" dirty="0"/>
              <a:t>1. Chapter title</a:t>
            </a:r>
          </a:p>
        </p:txBody>
      </p:sp>
    </p:spTree>
    <p:extLst>
      <p:ext uri="{BB962C8B-B14F-4D97-AF65-F5344CB8AC3E}">
        <p14:creationId xmlns:p14="http://schemas.microsoft.com/office/powerpoint/2010/main" val="1970514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ecture end">
    <p:bg>
      <p:bgPr>
        <a:solidFill>
          <a:srgbClr val="3D2683"/>
        </a:solidFill>
        <a:effectLst/>
      </p:bgPr>
    </p:bg>
    <p:spTree>
      <p:nvGrpSpPr>
        <p:cNvPr id="1" name=""/>
        <p:cNvGrpSpPr/>
        <p:nvPr/>
      </p:nvGrpSpPr>
      <p:grpSpPr>
        <a:xfrm>
          <a:off x="0" y="0"/>
          <a:ext cx="0" cy="0"/>
          <a:chOff x="0" y="0"/>
          <a:chExt cx="0" cy="0"/>
        </a:xfrm>
      </p:grpSpPr>
      <p:pic>
        <p:nvPicPr>
          <p:cNvPr id="7" name="Graphique 6" descr="Drapeau de course avec un remplissage uni">
            <a:extLst>
              <a:ext uri="{FF2B5EF4-FFF2-40B4-BE49-F238E27FC236}">
                <a16:creationId xmlns:a16="http://schemas.microsoft.com/office/drawing/2014/main" id="{C39BBF25-8381-335A-6308-3AFEB15FAFE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656000" y="1989000"/>
            <a:ext cx="2880000" cy="2880000"/>
          </a:xfrm>
          <a:prstGeom prst="rect">
            <a:avLst/>
          </a:prstGeom>
        </p:spPr>
      </p:pic>
    </p:spTree>
    <p:extLst>
      <p:ext uri="{BB962C8B-B14F-4D97-AF65-F5344CB8AC3E}">
        <p14:creationId xmlns:p14="http://schemas.microsoft.com/office/powerpoint/2010/main" val="21144855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61016B3E-7434-F444-85B1-81A3F66D75E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26C2A833-B532-5441-8F6F-770D7BDE7E7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4" name="Espace réservé de la date 3">
            <a:extLst>
              <a:ext uri="{FF2B5EF4-FFF2-40B4-BE49-F238E27FC236}">
                <a16:creationId xmlns:a16="http://schemas.microsoft.com/office/drawing/2014/main" id="{19AD43F0-39EC-1047-86D5-82DFE14D54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60B14F5-1D21-F14F-B36B-BCA0A34A15FF}" type="datetimeFigureOut">
              <a:rPr lang="fr-FR" smtClean="0"/>
              <a:t>02/08/2026</a:t>
            </a:fld>
            <a:endParaRPr lang="fr-FR"/>
          </a:p>
        </p:txBody>
      </p:sp>
      <p:sp>
        <p:nvSpPr>
          <p:cNvPr id="5" name="Espace réservé du pied de page 4">
            <a:extLst>
              <a:ext uri="{FF2B5EF4-FFF2-40B4-BE49-F238E27FC236}">
                <a16:creationId xmlns:a16="http://schemas.microsoft.com/office/drawing/2014/main" id="{D406F5D3-EF53-A447-B4AC-97397E1C33E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08542739-B2AF-EA41-A1C0-C7A7135EE32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75FE8A8-8232-1F4D-846D-4EBDDCE93EEF}" type="slidenum">
              <a:rPr lang="fr-FR" smtClean="0"/>
              <a:t>‹#›</a:t>
            </a:fld>
            <a:endParaRPr lang="fr-FR"/>
          </a:p>
        </p:txBody>
      </p:sp>
    </p:spTree>
    <p:extLst>
      <p:ext uri="{BB962C8B-B14F-4D97-AF65-F5344CB8AC3E}">
        <p14:creationId xmlns:p14="http://schemas.microsoft.com/office/powerpoint/2010/main" val="978103667"/>
      </p:ext>
    </p:extLst>
  </p:cSld>
  <p:clrMap bg1="lt1" tx1="dk1" bg2="lt2" tx2="dk2" accent1="accent1" accent2="accent2" accent3="accent3" accent4="accent4" accent5="accent5" accent6="accent6" hlink="hlink" folHlink="folHlink"/>
  <p:sldLayoutIdLst>
    <p:sldLayoutId id="2147483649" r:id="rId1"/>
    <p:sldLayoutId id="2147483663" r:id="rId2"/>
    <p:sldLayoutId id="2147483664" r:id="rId3"/>
    <p:sldLayoutId id="2147483666" r:id="rId4"/>
    <p:sldLayoutId id="2147483652" r:id="rId5"/>
    <p:sldLayoutId id="2147483654" r:id="rId6"/>
    <p:sldLayoutId id="2147483655" r:id="rId7"/>
    <p:sldLayoutId id="2147483656" r:id="rId8"/>
    <p:sldLayoutId id="2147483657" r:id="rId9"/>
    <p:sldLayoutId id="2147483661" r:id="rId10"/>
    <p:sldLayoutId id="214748366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BC06DC-4D1A-B2CB-5A63-A1C912BA9509}"/>
              </a:ext>
            </a:extLst>
          </p:cNvPr>
          <p:cNvSpPr>
            <a:spLocks noGrp="1"/>
          </p:cNvSpPr>
          <p:nvPr>
            <p:ph type="ctrTitle"/>
          </p:nvPr>
        </p:nvSpPr>
        <p:spPr/>
        <p:txBody>
          <a:bodyPr/>
          <a:lstStyle/>
          <a:p>
            <a:r>
              <a:rPr lang="en-US" dirty="0"/>
              <a:t>Backends and Collaboration</a:t>
            </a:r>
          </a:p>
        </p:txBody>
      </p:sp>
      <p:sp>
        <p:nvSpPr>
          <p:cNvPr id="3" name="Sous-titre 2">
            <a:extLst>
              <a:ext uri="{FF2B5EF4-FFF2-40B4-BE49-F238E27FC236}">
                <a16:creationId xmlns:a16="http://schemas.microsoft.com/office/drawing/2014/main" id="{32F19D57-529B-F55E-AEFA-DE3148EB7275}"/>
              </a:ext>
            </a:extLst>
          </p:cNvPr>
          <p:cNvSpPr>
            <a:spLocks noGrp="1"/>
          </p:cNvSpPr>
          <p:nvPr>
            <p:ph type="subTitle" idx="1"/>
          </p:nvPr>
        </p:nvSpPr>
        <p:spPr/>
        <p:txBody>
          <a:bodyPr/>
          <a:lstStyle/>
          <a:p>
            <a:r>
              <a:rPr lang="en-US" dirty="0"/>
              <a:t>5HASH – Infrastructure as Code (</a:t>
            </a:r>
            <a:r>
              <a:rPr lang="en-US" dirty="0" err="1"/>
              <a:t>IaC</a:t>
            </a:r>
            <a:r>
              <a:rPr lang="en-US" dirty="0"/>
              <a:t>)</a:t>
            </a:r>
          </a:p>
        </p:txBody>
      </p:sp>
    </p:spTree>
    <p:extLst>
      <p:ext uri="{BB962C8B-B14F-4D97-AF65-F5344CB8AC3E}">
        <p14:creationId xmlns:p14="http://schemas.microsoft.com/office/powerpoint/2010/main" val="36193799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AAB1BAA0-5E36-154D-61E1-4BDD524F79BF}"/>
              </a:ext>
            </a:extLst>
          </p:cNvPr>
          <p:cNvSpPr>
            <a:spLocks noGrp="1"/>
          </p:cNvSpPr>
          <p:nvPr>
            <p:ph type="body" sz="quarter" idx="10"/>
          </p:nvPr>
        </p:nvSpPr>
        <p:spPr/>
        <p:txBody>
          <a:bodyPr/>
          <a:lstStyle/>
          <a:p>
            <a:pPr marL="0" indent="0" algn="ctr">
              <a:buNone/>
            </a:pPr>
            <a:r>
              <a:rPr lang="en-US" dirty="0"/>
              <a:t>Summary</a:t>
            </a:r>
          </a:p>
        </p:txBody>
      </p:sp>
      <p:sp>
        <p:nvSpPr>
          <p:cNvPr id="3" name="Espace réservé du texte 2">
            <a:extLst>
              <a:ext uri="{FF2B5EF4-FFF2-40B4-BE49-F238E27FC236}">
                <a16:creationId xmlns:a16="http://schemas.microsoft.com/office/drawing/2014/main" id="{3C3DD7B0-B0A8-8FDB-52AB-3930D01F1718}"/>
              </a:ext>
            </a:extLst>
          </p:cNvPr>
          <p:cNvSpPr>
            <a:spLocks noGrp="1"/>
          </p:cNvSpPr>
          <p:nvPr>
            <p:ph type="body" sz="quarter" idx="11"/>
          </p:nvPr>
        </p:nvSpPr>
        <p:spPr/>
        <p:txBody>
          <a:bodyPr vert="horz" lIns="91440" tIns="45720" rIns="91440" bIns="45720" rtlCol="0" anchor="t">
            <a:normAutofit/>
          </a:bodyPr>
          <a:lstStyle/>
          <a:p>
            <a:pPr marL="742950" indent="-742950">
              <a:buFont typeface="+mj-lt"/>
              <a:buAutoNum type="arabicPeriod"/>
            </a:pPr>
            <a:r>
              <a:rPr lang="en-US"/>
              <a:t>State Management</a:t>
            </a:r>
          </a:p>
          <a:p>
            <a:pPr marL="742950" indent="-742950">
              <a:buFont typeface="+mj-lt"/>
              <a:buAutoNum type="arabicPeriod"/>
            </a:pPr>
            <a:r>
              <a:rPr lang="en-US" dirty="0"/>
              <a:t>Backends</a:t>
            </a:r>
          </a:p>
          <a:p>
            <a:pPr marL="742950" indent="-742950">
              <a:buFont typeface="+mj-lt"/>
              <a:buAutoNum type="arabicPeriod"/>
            </a:pPr>
            <a:r>
              <a:rPr lang="en-US" dirty="0"/>
              <a:t>Managing Secrets</a:t>
            </a:r>
          </a:p>
          <a:p>
            <a:pPr marL="742950" indent="-742950">
              <a:buFont typeface="+mj-lt"/>
              <a:buAutoNum type="arabicPeriod"/>
            </a:pPr>
            <a:r>
              <a:rPr lang="en-US" dirty="0"/>
              <a:t>Infrastructure Drift</a:t>
            </a:r>
          </a:p>
          <a:p>
            <a:pPr marL="742950" indent="-742950">
              <a:buFont typeface="+mj-lt"/>
              <a:buAutoNum type="arabicPeriod"/>
            </a:pPr>
            <a:endParaRPr lang="en-US" dirty="0"/>
          </a:p>
        </p:txBody>
      </p:sp>
    </p:spTree>
    <p:extLst>
      <p:ext uri="{BB962C8B-B14F-4D97-AF65-F5344CB8AC3E}">
        <p14:creationId xmlns:p14="http://schemas.microsoft.com/office/powerpoint/2010/main" val="31290970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AB00CD53-20D5-44F6-55E0-0892C820DCE6}"/>
              </a:ext>
            </a:extLst>
          </p:cNvPr>
          <p:cNvSpPr>
            <a:spLocks noGrp="1"/>
          </p:cNvSpPr>
          <p:nvPr>
            <p:ph type="body" sz="quarter" idx="10"/>
          </p:nvPr>
        </p:nvSpPr>
        <p:spPr/>
        <p:txBody>
          <a:bodyPr>
            <a:normAutofit/>
          </a:bodyPr>
          <a:lstStyle/>
          <a:p>
            <a:r>
              <a:rPr lang="en-US"/>
              <a:t>1. State Management</a:t>
            </a:r>
          </a:p>
        </p:txBody>
      </p:sp>
    </p:spTree>
    <p:extLst>
      <p:ext uri="{BB962C8B-B14F-4D97-AF65-F5344CB8AC3E}">
        <p14:creationId xmlns:p14="http://schemas.microsoft.com/office/powerpoint/2010/main" val="22924829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FA0455FD-D9B7-3017-0161-59B5DE8EDE16}"/>
              </a:ext>
            </a:extLst>
          </p:cNvPr>
          <p:cNvSpPr>
            <a:spLocks noGrp="1"/>
          </p:cNvSpPr>
          <p:nvPr>
            <p:ph idx="1"/>
          </p:nvPr>
        </p:nvSpPr>
        <p:spPr/>
        <p:txBody>
          <a:bodyPr>
            <a:normAutofit fontScale="92500" lnSpcReduction="10000"/>
          </a:bodyPr>
          <a:lstStyle/>
          <a:p>
            <a:pPr marL="0" indent="0">
              <a:buNone/>
            </a:pPr>
            <a:r>
              <a:rPr lang="en-US" dirty="0"/>
              <a:t>The state refers to a record of the resources Terraform is managing and their current configurations. This allows for infrastructure management reliability and efficient planning.</a:t>
            </a:r>
          </a:p>
          <a:p>
            <a:r>
              <a:rPr lang="en-US" dirty="0"/>
              <a:t>Sensitive Data: State can contain sensitive data (such as databases passwords or other private keys).</a:t>
            </a:r>
          </a:p>
          <a:p>
            <a:r>
              <a:rPr lang="en-US" dirty="0"/>
              <a:t>Backup: State data should be backed up as it constitutes </a:t>
            </a:r>
          </a:p>
          <a:p>
            <a:r>
              <a:rPr lang="en-US" dirty="0"/>
              <a:t>Locking: To prevent concurrent infrastructure updates in collaborative contexts, some backends support locking.</a:t>
            </a:r>
          </a:p>
          <a:p>
            <a:r>
              <a:rPr lang="en-US" dirty="0"/>
              <a:t>Inspection and modification: State can be inspected and, in extreme cases, manually modified.</a:t>
            </a:r>
          </a:p>
        </p:txBody>
      </p:sp>
      <p:sp>
        <p:nvSpPr>
          <p:cNvPr id="3" name="Espace réservé du texte 2">
            <a:extLst>
              <a:ext uri="{FF2B5EF4-FFF2-40B4-BE49-F238E27FC236}">
                <a16:creationId xmlns:a16="http://schemas.microsoft.com/office/drawing/2014/main" id="{C1C6CB8D-8C73-AE5D-88CB-2FB87CB0E588}"/>
              </a:ext>
            </a:extLst>
          </p:cNvPr>
          <p:cNvSpPr>
            <a:spLocks noGrp="1"/>
          </p:cNvSpPr>
          <p:nvPr>
            <p:ph type="body" sz="quarter" idx="14"/>
          </p:nvPr>
        </p:nvSpPr>
        <p:spPr/>
        <p:txBody>
          <a:bodyPr vert="horz" lIns="91440" tIns="45720" rIns="91440" bIns="45720" rtlCol="0" anchor="t">
            <a:noAutofit/>
          </a:bodyPr>
          <a:lstStyle/>
          <a:p>
            <a:r>
              <a:rPr lang="en-US"/>
              <a:t>1. State Management</a:t>
            </a:r>
          </a:p>
        </p:txBody>
      </p:sp>
      <p:sp>
        <p:nvSpPr>
          <p:cNvPr id="4" name="Espace réservé du texte 3">
            <a:extLst>
              <a:ext uri="{FF2B5EF4-FFF2-40B4-BE49-F238E27FC236}">
                <a16:creationId xmlns:a16="http://schemas.microsoft.com/office/drawing/2014/main" id="{85BC9D93-DAC0-B60E-3D3C-8FCB518411CE}"/>
              </a:ext>
            </a:extLst>
          </p:cNvPr>
          <p:cNvSpPr>
            <a:spLocks noGrp="1"/>
          </p:cNvSpPr>
          <p:nvPr>
            <p:ph type="body" sz="quarter" idx="15"/>
          </p:nvPr>
        </p:nvSpPr>
        <p:spPr>
          <a:xfrm>
            <a:off x="838200" y="1352782"/>
            <a:ext cx="10441597" cy="424732"/>
          </a:xfrm>
        </p:spPr>
        <p:txBody>
          <a:bodyPr/>
          <a:lstStyle/>
          <a:p>
            <a:r>
              <a:rPr lang="en-US" dirty="0"/>
              <a:t>State Management Overview</a:t>
            </a:r>
          </a:p>
        </p:txBody>
      </p:sp>
    </p:spTree>
    <p:extLst>
      <p:ext uri="{BB962C8B-B14F-4D97-AF65-F5344CB8AC3E}">
        <p14:creationId xmlns:p14="http://schemas.microsoft.com/office/powerpoint/2010/main" val="9583736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FA0455FD-D9B7-3017-0161-59B5DE8EDE16}"/>
              </a:ext>
            </a:extLst>
          </p:cNvPr>
          <p:cNvSpPr>
            <a:spLocks noGrp="1"/>
          </p:cNvSpPr>
          <p:nvPr>
            <p:ph idx="1"/>
          </p:nvPr>
        </p:nvSpPr>
        <p:spPr/>
        <p:txBody>
          <a:bodyPr>
            <a:normAutofit/>
          </a:bodyPr>
          <a:lstStyle/>
          <a:p>
            <a:pPr marL="0" indent="0">
              <a:buNone/>
            </a:pPr>
            <a:r>
              <a:rPr lang="en-US" dirty="0"/>
              <a:t>The appropriate state management strategy will depend on the project size, team organization, and collaboration features required.</a:t>
            </a:r>
          </a:p>
          <a:p>
            <a:pPr marL="0" indent="0">
              <a:buNone/>
            </a:pPr>
            <a:r>
              <a:rPr lang="en-US" dirty="0"/>
              <a:t>The possible strategies for state storage are:</a:t>
            </a:r>
          </a:p>
          <a:p>
            <a:r>
              <a:rPr lang="en-US" dirty="0"/>
              <a:t>Local state file</a:t>
            </a:r>
          </a:p>
          <a:p>
            <a:r>
              <a:rPr lang="en-US" dirty="0"/>
              <a:t>Remote state with Backend Configuration</a:t>
            </a:r>
          </a:p>
          <a:p>
            <a:r>
              <a:rPr lang="en-US" dirty="0"/>
              <a:t>Terraform Cloud/Enterprise</a:t>
            </a:r>
          </a:p>
        </p:txBody>
      </p:sp>
      <p:sp>
        <p:nvSpPr>
          <p:cNvPr id="3" name="Espace réservé du texte 2">
            <a:extLst>
              <a:ext uri="{FF2B5EF4-FFF2-40B4-BE49-F238E27FC236}">
                <a16:creationId xmlns:a16="http://schemas.microsoft.com/office/drawing/2014/main" id="{C1C6CB8D-8C73-AE5D-88CB-2FB87CB0E588}"/>
              </a:ext>
            </a:extLst>
          </p:cNvPr>
          <p:cNvSpPr>
            <a:spLocks noGrp="1"/>
          </p:cNvSpPr>
          <p:nvPr>
            <p:ph type="body" sz="quarter" idx="14"/>
          </p:nvPr>
        </p:nvSpPr>
        <p:spPr/>
        <p:txBody>
          <a:bodyPr vert="horz" lIns="91440" tIns="45720" rIns="91440" bIns="45720" rtlCol="0" anchor="t">
            <a:noAutofit/>
          </a:bodyPr>
          <a:lstStyle/>
          <a:p>
            <a:r>
              <a:rPr lang="en-US"/>
              <a:t>1. State Management</a:t>
            </a:r>
          </a:p>
        </p:txBody>
      </p:sp>
      <p:sp>
        <p:nvSpPr>
          <p:cNvPr id="4" name="Espace réservé du texte 3">
            <a:extLst>
              <a:ext uri="{FF2B5EF4-FFF2-40B4-BE49-F238E27FC236}">
                <a16:creationId xmlns:a16="http://schemas.microsoft.com/office/drawing/2014/main" id="{85BC9D93-DAC0-B60E-3D3C-8FCB518411CE}"/>
              </a:ext>
            </a:extLst>
          </p:cNvPr>
          <p:cNvSpPr>
            <a:spLocks noGrp="1"/>
          </p:cNvSpPr>
          <p:nvPr>
            <p:ph type="body" sz="quarter" idx="15"/>
          </p:nvPr>
        </p:nvSpPr>
        <p:spPr>
          <a:xfrm>
            <a:off x="838200" y="1352782"/>
            <a:ext cx="10441597" cy="424732"/>
          </a:xfrm>
        </p:spPr>
        <p:txBody>
          <a:bodyPr/>
          <a:lstStyle/>
          <a:p>
            <a:r>
              <a:rPr lang="en-US" dirty="0"/>
              <a:t>State storage strategies</a:t>
            </a:r>
          </a:p>
        </p:txBody>
      </p:sp>
    </p:spTree>
    <p:extLst>
      <p:ext uri="{BB962C8B-B14F-4D97-AF65-F5344CB8AC3E}">
        <p14:creationId xmlns:p14="http://schemas.microsoft.com/office/powerpoint/2010/main" val="3449138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FA0455FD-D9B7-3017-0161-59B5DE8EDE16}"/>
              </a:ext>
            </a:extLst>
          </p:cNvPr>
          <p:cNvSpPr>
            <a:spLocks noGrp="1"/>
          </p:cNvSpPr>
          <p:nvPr>
            <p:ph idx="1"/>
          </p:nvPr>
        </p:nvSpPr>
        <p:spPr/>
        <p:txBody>
          <a:bodyPr>
            <a:normAutofit/>
          </a:bodyPr>
          <a:lstStyle/>
          <a:p>
            <a:pPr marL="0" indent="0">
              <a:buNone/>
            </a:pPr>
            <a:r>
              <a:rPr lang="en-US" dirty="0"/>
              <a:t>By default, Terraform stores state information in a local </a:t>
            </a:r>
            <a:r>
              <a:rPr lang="en-US" dirty="0" err="1">
                <a:latin typeface="Consolas" panose="020B0609020204030204" pitchFamily="49" charset="0"/>
                <a:cs typeface="Consolas" panose="020B0609020204030204" pitchFamily="49" charset="0"/>
              </a:rPr>
              <a:t>terraform.tfstate</a:t>
            </a:r>
            <a:r>
              <a:rPr lang="en-US" dirty="0"/>
              <a:t> file within your working directory.</a:t>
            </a:r>
          </a:p>
          <a:p>
            <a:r>
              <a:rPr lang="en-US" dirty="0"/>
              <a:t>Suitable for small, single-user projects or when you don't require collaboration.</a:t>
            </a:r>
          </a:p>
          <a:p>
            <a:r>
              <a:rPr lang="en-US" dirty="0"/>
              <a:t>Pros:</a:t>
            </a:r>
          </a:p>
          <a:p>
            <a:pPr lvl="1"/>
            <a:r>
              <a:rPr lang="en-US" dirty="0"/>
              <a:t>Simple setup.</a:t>
            </a:r>
          </a:p>
          <a:p>
            <a:pPr lvl="1"/>
            <a:r>
              <a:rPr lang="en-US" dirty="0"/>
              <a:t>Suitable for local development and experimentation.</a:t>
            </a:r>
          </a:p>
          <a:p>
            <a:r>
              <a:rPr lang="en-US" dirty="0"/>
              <a:t>Cons:</a:t>
            </a:r>
          </a:p>
          <a:p>
            <a:pPr lvl="1"/>
            <a:r>
              <a:rPr lang="en-US" dirty="0"/>
              <a:t>Risk of losing state if the file is deleted or corrupted.</a:t>
            </a:r>
          </a:p>
        </p:txBody>
      </p:sp>
      <p:sp>
        <p:nvSpPr>
          <p:cNvPr id="3" name="Espace réservé du texte 2">
            <a:extLst>
              <a:ext uri="{FF2B5EF4-FFF2-40B4-BE49-F238E27FC236}">
                <a16:creationId xmlns:a16="http://schemas.microsoft.com/office/drawing/2014/main" id="{C1C6CB8D-8C73-AE5D-88CB-2FB87CB0E588}"/>
              </a:ext>
            </a:extLst>
          </p:cNvPr>
          <p:cNvSpPr>
            <a:spLocks noGrp="1"/>
          </p:cNvSpPr>
          <p:nvPr>
            <p:ph type="body" sz="quarter" idx="14"/>
          </p:nvPr>
        </p:nvSpPr>
        <p:spPr/>
        <p:txBody>
          <a:bodyPr vert="horz" lIns="91440" tIns="45720" rIns="91440" bIns="45720" rtlCol="0" anchor="t">
            <a:noAutofit/>
          </a:bodyPr>
          <a:lstStyle/>
          <a:p>
            <a:r>
              <a:rPr lang="en-US"/>
              <a:t>1. State Management</a:t>
            </a:r>
          </a:p>
        </p:txBody>
      </p:sp>
      <p:sp>
        <p:nvSpPr>
          <p:cNvPr id="4" name="Espace réservé du texte 3">
            <a:extLst>
              <a:ext uri="{FF2B5EF4-FFF2-40B4-BE49-F238E27FC236}">
                <a16:creationId xmlns:a16="http://schemas.microsoft.com/office/drawing/2014/main" id="{85BC9D93-DAC0-B60E-3D3C-8FCB518411CE}"/>
              </a:ext>
            </a:extLst>
          </p:cNvPr>
          <p:cNvSpPr>
            <a:spLocks noGrp="1"/>
          </p:cNvSpPr>
          <p:nvPr>
            <p:ph type="body" sz="quarter" idx="15"/>
          </p:nvPr>
        </p:nvSpPr>
        <p:spPr>
          <a:xfrm>
            <a:off x="838200" y="1352782"/>
            <a:ext cx="10441597" cy="433965"/>
          </a:xfrm>
        </p:spPr>
        <p:txBody>
          <a:bodyPr/>
          <a:lstStyle/>
          <a:p>
            <a:r>
              <a:rPr lang="en-US" dirty="0"/>
              <a:t>Local state file</a:t>
            </a:r>
            <a:endParaRPr lang="en-US" b="0"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39762131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FA0455FD-D9B7-3017-0161-59B5DE8EDE16}"/>
              </a:ext>
            </a:extLst>
          </p:cNvPr>
          <p:cNvSpPr>
            <a:spLocks noGrp="1"/>
          </p:cNvSpPr>
          <p:nvPr>
            <p:ph idx="1"/>
          </p:nvPr>
        </p:nvSpPr>
        <p:spPr/>
        <p:txBody>
          <a:bodyPr>
            <a:normAutofit fontScale="92500" lnSpcReduction="10000"/>
          </a:bodyPr>
          <a:lstStyle/>
          <a:p>
            <a:pPr marL="0" indent="0">
              <a:buNone/>
            </a:pPr>
            <a:r>
              <a:rPr lang="en-US" dirty="0"/>
              <a:t>Terraform allows you to store the state remotely by configuring a backend, such as AWS S3, Azure Blob Storage, or </a:t>
            </a:r>
            <a:r>
              <a:rPr lang="en-US" dirty="0" err="1"/>
              <a:t>HashiCorp</a:t>
            </a:r>
            <a:r>
              <a:rPr lang="en-US" dirty="0"/>
              <a:t> Consul.</a:t>
            </a:r>
          </a:p>
          <a:p>
            <a:r>
              <a:rPr lang="en-US" dirty="0"/>
              <a:t>Ideal for collaborative projects or when multiple users need to manage the same infrastructure.</a:t>
            </a:r>
          </a:p>
          <a:p>
            <a:r>
              <a:rPr lang="en-US" dirty="0"/>
              <a:t>Pros:</a:t>
            </a:r>
          </a:p>
          <a:p>
            <a:pPr lvl="1"/>
            <a:r>
              <a:rPr lang="en-US" dirty="0"/>
              <a:t>Centralized state management.</a:t>
            </a:r>
          </a:p>
          <a:p>
            <a:pPr lvl="1"/>
            <a:r>
              <a:rPr lang="en-US" dirty="0"/>
              <a:t>Improved security and access control.</a:t>
            </a:r>
          </a:p>
          <a:p>
            <a:pPr lvl="1"/>
            <a:r>
              <a:rPr lang="en-US" dirty="0"/>
              <a:t>Support for locking to prevent concurrent modifications.</a:t>
            </a:r>
          </a:p>
          <a:p>
            <a:r>
              <a:rPr lang="en-US" dirty="0"/>
              <a:t>Cons:</a:t>
            </a:r>
          </a:p>
          <a:p>
            <a:pPr lvl="1"/>
            <a:r>
              <a:rPr lang="en-US" dirty="0"/>
              <a:t>Requires setup and configuration of a remote backend.</a:t>
            </a:r>
          </a:p>
        </p:txBody>
      </p:sp>
      <p:sp>
        <p:nvSpPr>
          <p:cNvPr id="3" name="Espace réservé du texte 2">
            <a:extLst>
              <a:ext uri="{FF2B5EF4-FFF2-40B4-BE49-F238E27FC236}">
                <a16:creationId xmlns:a16="http://schemas.microsoft.com/office/drawing/2014/main" id="{C1C6CB8D-8C73-AE5D-88CB-2FB87CB0E588}"/>
              </a:ext>
            </a:extLst>
          </p:cNvPr>
          <p:cNvSpPr>
            <a:spLocks noGrp="1"/>
          </p:cNvSpPr>
          <p:nvPr>
            <p:ph type="body" sz="quarter" idx="14"/>
          </p:nvPr>
        </p:nvSpPr>
        <p:spPr/>
        <p:txBody>
          <a:bodyPr vert="horz" lIns="91440" tIns="45720" rIns="91440" bIns="45720" rtlCol="0" anchor="t">
            <a:noAutofit/>
          </a:bodyPr>
          <a:lstStyle/>
          <a:p>
            <a:r>
              <a:rPr lang="en-US"/>
              <a:t>1. State Management</a:t>
            </a:r>
          </a:p>
        </p:txBody>
      </p:sp>
      <p:sp>
        <p:nvSpPr>
          <p:cNvPr id="4" name="Espace réservé du texte 3">
            <a:extLst>
              <a:ext uri="{FF2B5EF4-FFF2-40B4-BE49-F238E27FC236}">
                <a16:creationId xmlns:a16="http://schemas.microsoft.com/office/drawing/2014/main" id="{85BC9D93-DAC0-B60E-3D3C-8FCB518411CE}"/>
              </a:ext>
            </a:extLst>
          </p:cNvPr>
          <p:cNvSpPr>
            <a:spLocks noGrp="1"/>
          </p:cNvSpPr>
          <p:nvPr>
            <p:ph type="body" sz="quarter" idx="15"/>
          </p:nvPr>
        </p:nvSpPr>
        <p:spPr>
          <a:xfrm>
            <a:off x="838200" y="1352782"/>
            <a:ext cx="10441597" cy="433965"/>
          </a:xfrm>
        </p:spPr>
        <p:txBody>
          <a:bodyPr/>
          <a:lstStyle/>
          <a:p>
            <a:r>
              <a:rPr lang="en-US" dirty="0"/>
              <a:t>Remote Backend</a:t>
            </a:r>
            <a:endParaRPr lang="en-US" b="0"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34730839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FA0455FD-D9B7-3017-0161-59B5DE8EDE16}"/>
              </a:ext>
            </a:extLst>
          </p:cNvPr>
          <p:cNvSpPr>
            <a:spLocks noGrp="1"/>
          </p:cNvSpPr>
          <p:nvPr>
            <p:ph idx="1"/>
          </p:nvPr>
        </p:nvSpPr>
        <p:spPr/>
        <p:txBody>
          <a:bodyPr>
            <a:normAutofit fontScale="85000" lnSpcReduction="20000"/>
          </a:bodyPr>
          <a:lstStyle/>
          <a:p>
            <a:pPr marL="0" indent="0">
              <a:buNone/>
            </a:pPr>
            <a:r>
              <a:rPr lang="en-US" dirty="0"/>
              <a:t>Terraform Cloud is a hosted service offered by </a:t>
            </a:r>
            <a:r>
              <a:rPr lang="en-US" dirty="0" err="1"/>
              <a:t>HashiCorp</a:t>
            </a:r>
            <a:r>
              <a:rPr lang="en-US" dirty="0"/>
              <a:t> that provides remote state storage and additional features for collaboration, such as run history, policy enforcement, and variable management. Terraform Enterprise is a self-hosted version of Terraform Cloud.</a:t>
            </a:r>
          </a:p>
          <a:p>
            <a:r>
              <a:rPr lang="en-US" dirty="0"/>
              <a:t>Suitable for organizations with larger teams and more complex infrastructure deployments.</a:t>
            </a:r>
          </a:p>
          <a:p>
            <a:r>
              <a:rPr lang="en-US" dirty="0"/>
              <a:t>Pros:</a:t>
            </a:r>
          </a:p>
          <a:p>
            <a:pPr lvl="1"/>
            <a:r>
              <a:rPr lang="en-US" dirty="0"/>
              <a:t>Enhanced collaboration features.</a:t>
            </a:r>
          </a:p>
          <a:p>
            <a:pPr lvl="1"/>
            <a:r>
              <a:rPr lang="en-US" dirty="0"/>
              <a:t>Scalable and highly available.</a:t>
            </a:r>
          </a:p>
          <a:p>
            <a:pPr lvl="1"/>
            <a:r>
              <a:rPr lang="en-US" dirty="0"/>
              <a:t>Integration with version control systems.</a:t>
            </a:r>
          </a:p>
          <a:p>
            <a:r>
              <a:rPr lang="en-US" dirty="0"/>
              <a:t>Cons:</a:t>
            </a:r>
          </a:p>
          <a:p>
            <a:pPr lvl="1"/>
            <a:r>
              <a:rPr lang="en-US" dirty="0"/>
              <a:t>Cost associated with the service (free tiers available).</a:t>
            </a:r>
          </a:p>
        </p:txBody>
      </p:sp>
      <p:sp>
        <p:nvSpPr>
          <p:cNvPr id="3" name="Espace réservé du texte 2">
            <a:extLst>
              <a:ext uri="{FF2B5EF4-FFF2-40B4-BE49-F238E27FC236}">
                <a16:creationId xmlns:a16="http://schemas.microsoft.com/office/drawing/2014/main" id="{C1C6CB8D-8C73-AE5D-88CB-2FB87CB0E588}"/>
              </a:ext>
            </a:extLst>
          </p:cNvPr>
          <p:cNvSpPr>
            <a:spLocks noGrp="1"/>
          </p:cNvSpPr>
          <p:nvPr>
            <p:ph type="body" sz="quarter" idx="14"/>
          </p:nvPr>
        </p:nvSpPr>
        <p:spPr/>
        <p:txBody>
          <a:bodyPr vert="horz" lIns="91440" tIns="45720" rIns="91440" bIns="45720" rtlCol="0" anchor="t">
            <a:noAutofit/>
          </a:bodyPr>
          <a:lstStyle/>
          <a:p>
            <a:r>
              <a:rPr lang="en-US"/>
              <a:t>1. State Management</a:t>
            </a:r>
          </a:p>
        </p:txBody>
      </p:sp>
      <p:sp>
        <p:nvSpPr>
          <p:cNvPr id="4" name="Espace réservé du texte 3">
            <a:extLst>
              <a:ext uri="{FF2B5EF4-FFF2-40B4-BE49-F238E27FC236}">
                <a16:creationId xmlns:a16="http://schemas.microsoft.com/office/drawing/2014/main" id="{85BC9D93-DAC0-B60E-3D3C-8FCB518411CE}"/>
              </a:ext>
            </a:extLst>
          </p:cNvPr>
          <p:cNvSpPr>
            <a:spLocks noGrp="1"/>
          </p:cNvSpPr>
          <p:nvPr>
            <p:ph type="body" sz="quarter" idx="15"/>
          </p:nvPr>
        </p:nvSpPr>
        <p:spPr>
          <a:xfrm>
            <a:off x="838200" y="1352782"/>
            <a:ext cx="10441597" cy="433965"/>
          </a:xfrm>
        </p:spPr>
        <p:txBody>
          <a:bodyPr/>
          <a:lstStyle/>
          <a:p>
            <a:r>
              <a:rPr lang="en-US" dirty="0"/>
              <a:t>Terraform Cloud/Enterprise</a:t>
            </a:r>
            <a:endParaRPr lang="en-US" b="0"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2665215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8AD7D0D6-4956-BECC-A810-FCCEF2EDFFD6}"/>
              </a:ext>
            </a:extLst>
          </p:cNvPr>
          <p:cNvSpPr>
            <a:spLocks noGrp="1"/>
          </p:cNvSpPr>
          <p:nvPr>
            <p:ph type="body" sz="quarter" idx="10"/>
          </p:nvPr>
        </p:nvSpPr>
        <p:spPr/>
        <p:txBody>
          <a:bodyPr vert="horz" lIns="91440" tIns="45720" rIns="91440" bIns="45720" rtlCol="0" anchor="t">
            <a:normAutofit/>
          </a:bodyPr>
          <a:lstStyle/>
          <a:p>
            <a:pPr marL="0" indent="0">
              <a:buNone/>
            </a:pPr>
            <a:r>
              <a:rPr lang="en-US"/>
              <a:t>1. State Management</a:t>
            </a:r>
          </a:p>
        </p:txBody>
      </p:sp>
    </p:spTree>
    <p:extLst>
      <p:ext uri="{BB962C8B-B14F-4D97-AF65-F5344CB8AC3E}">
        <p14:creationId xmlns:p14="http://schemas.microsoft.com/office/powerpoint/2010/main" val="7796159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AB00CD53-20D5-44F6-55E0-0892C820DCE6}"/>
              </a:ext>
            </a:extLst>
          </p:cNvPr>
          <p:cNvSpPr>
            <a:spLocks noGrp="1"/>
          </p:cNvSpPr>
          <p:nvPr>
            <p:ph type="body" sz="quarter" idx="10"/>
          </p:nvPr>
        </p:nvSpPr>
        <p:spPr/>
        <p:txBody>
          <a:bodyPr>
            <a:normAutofit/>
          </a:bodyPr>
          <a:lstStyle/>
          <a:p>
            <a:r>
              <a:rPr lang="en-US"/>
              <a:t>2. Backends and Workspaces</a:t>
            </a:r>
          </a:p>
        </p:txBody>
      </p:sp>
    </p:spTree>
    <p:extLst>
      <p:ext uri="{BB962C8B-B14F-4D97-AF65-F5344CB8AC3E}">
        <p14:creationId xmlns:p14="http://schemas.microsoft.com/office/powerpoint/2010/main" val="37232797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contenu 4">
            <a:extLst>
              <a:ext uri="{FF2B5EF4-FFF2-40B4-BE49-F238E27FC236}">
                <a16:creationId xmlns:a16="http://schemas.microsoft.com/office/drawing/2014/main" id="{E658D589-EF43-CAA4-7A20-B0A3A4F166D0}"/>
              </a:ext>
            </a:extLst>
          </p:cNvPr>
          <p:cNvSpPr>
            <a:spLocks noGrp="1"/>
          </p:cNvSpPr>
          <p:nvPr>
            <p:ph sz="half" idx="1"/>
          </p:nvPr>
        </p:nvSpPr>
        <p:spPr/>
        <p:txBody>
          <a:bodyPr>
            <a:normAutofit lnSpcReduction="10000"/>
          </a:bodyPr>
          <a:lstStyle/>
          <a:p>
            <a:pPr marL="0" indent="0">
              <a:buNone/>
            </a:pPr>
            <a:r>
              <a:rPr lang="en-US" dirty="0"/>
              <a:t>In this example, the backend is configured to use AWS S3 to store the state file, with encryption enabled and a DynamoDB table for state locking.</a:t>
            </a:r>
          </a:p>
          <a:p>
            <a:pPr marL="0" indent="0">
              <a:buNone/>
            </a:pPr>
            <a:r>
              <a:rPr lang="en-US" dirty="0"/>
              <a:t>Features supported:</a:t>
            </a:r>
          </a:p>
          <a:p>
            <a:r>
              <a:rPr lang="en-US" dirty="0"/>
              <a:t>State lock</a:t>
            </a:r>
          </a:p>
          <a:p>
            <a:r>
              <a:rPr lang="en-US" dirty="0"/>
              <a:t>Workspace</a:t>
            </a:r>
          </a:p>
          <a:p>
            <a:r>
              <a:rPr lang="en-US" dirty="0"/>
              <a:t>Server-side state encryption</a:t>
            </a:r>
          </a:p>
        </p:txBody>
      </p:sp>
      <p:sp>
        <p:nvSpPr>
          <p:cNvPr id="6" name="Espace réservé du contenu 5">
            <a:extLst>
              <a:ext uri="{FF2B5EF4-FFF2-40B4-BE49-F238E27FC236}">
                <a16:creationId xmlns:a16="http://schemas.microsoft.com/office/drawing/2014/main" id="{58100D5D-DA24-D389-67BC-E5B7742B20E9}"/>
              </a:ext>
            </a:extLst>
          </p:cNvPr>
          <p:cNvSpPr>
            <a:spLocks noGrp="1"/>
          </p:cNvSpPr>
          <p:nvPr>
            <p:ph sz="half" idx="2"/>
          </p:nvPr>
        </p:nvSpPr>
        <p:spPr>
          <a:solidFill>
            <a:srgbClr val="3D2683"/>
          </a:solidFill>
        </p:spPr>
        <p:txBody>
          <a:bodyPr>
            <a:normAutofit/>
          </a:bodyPr>
          <a:lstStyle/>
          <a:p>
            <a:pPr marL="0" indent="0">
              <a:buNone/>
            </a:pPr>
            <a:r>
              <a:rPr lang="en-US" sz="1600" dirty="0">
                <a:solidFill>
                  <a:srgbClr val="4EC9B0"/>
                </a:solidFill>
                <a:effectLst/>
                <a:latin typeface="Consolas" panose="020B0609020204030204" pitchFamily="49" charset="0"/>
              </a:rPr>
              <a:t>terraform</a:t>
            </a:r>
            <a:r>
              <a:rPr lang="en-US" sz="1600" dirty="0">
                <a:solidFill>
                  <a:srgbClr val="D4D4D4"/>
                </a:solidFill>
                <a:effectLst/>
                <a:latin typeface="Consolas" panose="020B0609020204030204" pitchFamily="49" charset="0"/>
              </a:rPr>
              <a:t> {</a:t>
            </a:r>
          </a:p>
          <a:p>
            <a:pPr marL="0" indent="0">
              <a:buNone/>
            </a:pPr>
            <a:r>
              <a:rPr lang="en-US" sz="1600" dirty="0">
                <a:solidFill>
                  <a:srgbClr val="4EC9B0"/>
                </a:solidFill>
                <a:effectLst/>
                <a:latin typeface="Consolas" panose="020B0609020204030204" pitchFamily="49" charset="0"/>
              </a:rPr>
              <a:t>  backend</a:t>
            </a:r>
            <a:r>
              <a:rPr lang="en-US" sz="1600" dirty="0">
                <a:solidFill>
                  <a:srgbClr val="D4D4D4"/>
                </a:solidFill>
                <a:effectLst/>
                <a:latin typeface="Consolas" panose="020B0609020204030204" pitchFamily="49" charset="0"/>
              </a:rPr>
              <a:t> </a:t>
            </a:r>
            <a:r>
              <a:rPr lang="en-US" sz="1600" dirty="0">
                <a:solidFill>
                  <a:srgbClr val="4FC1FF"/>
                </a:solidFill>
                <a:effectLst/>
                <a:latin typeface="Consolas" panose="020B0609020204030204" pitchFamily="49" charset="0"/>
              </a:rPr>
              <a:t>"s3"</a:t>
            </a:r>
            <a:r>
              <a:rPr lang="en-US" sz="1600" dirty="0">
                <a:solidFill>
                  <a:srgbClr val="D4D4D4"/>
                </a:solidFill>
                <a:effectLst/>
                <a:latin typeface="Consolas" panose="020B0609020204030204" pitchFamily="49" charset="0"/>
              </a:rPr>
              <a:t> {</a:t>
            </a:r>
          </a:p>
          <a:p>
            <a:pPr marL="0" indent="0">
              <a:buNone/>
            </a:pPr>
            <a:r>
              <a:rPr lang="en-US" sz="1600" dirty="0">
                <a:solidFill>
                  <a:srgbClr val="9CDCFE"/>
                </a:solidFill>
                <a:effectLst/>
                <a:latin typeface="Consolas" panose="020B0609020204030204" pitchFamily="49" charset="0"/>
              </a:rPr>
              <a:t>    bucket </a:t>
            </a:r>
            <a:r>
              <a:rPr lang="en-US" sz="1600" dirty="0">
                <a:solidFill>
                  <a:srgbClr val="D4D4D4"/>
                </a:solidFill>
                <a:effectLst/>
                <a:latin typeface="Consolas" panose="020B0609020204030204" pitchFamily="49" charset="0"/>
              </a:rPr>
              <a:t>=</a:t>
            </a:r>
            <a:r>
              <a:rPr lang="en-US" sz="1600" dirty="0">
                <a:solidFill>
                  <a:srgbClr val="9CDCFE"/>
                </a:solidFill>
                <a:effectLst/>
                <a:latin typeface="Consolas" panose="020B0609020204030204" pitchFamily="49" charset="0"/>
              </a:rPr>
              <a:t> </a:t>
            </a:r>
            <a:r>
              <a:rPr lang="en-US" sz="1600" dirty="0">
                <a:solidFill>
                  <a:srgbClr val="CE9178"/>
                </a:solidFill>
                <a:effectLst/>
                <a:latin typeface="Consolas" panose="020B0609020204030204" pitchFamily="49" charset="0"/>
              </a:rPr>
              <a:t>"my-terraform-state-bucket"</a:t>
            </a:r>
            <a:endParaRPr lang="en-US" sz="1600" dirty="0">
              <a:solidFill>
                <a:srgbClr val="D4D4D4"/>
              </a:solidFill>
              <a:effectLst/>
              <a:latin typeface="Consolas" panose="020B0609020204030204" pitchFamily="49" charset="0"/>
            </a:endParaRPr>
          </a:p>
          <a:p>
            <a:pPr marL="0" indent="0">
              <a:buNone/>
            </a:pPr>
            <a:r>
              <a:rPr lang="en-US" sz="1600" dirty="0">
                <a:solidFill>
                  <a:srgbClr val="9CDCFE"/>
                </a:solidFill>
                <a:effectLst/>
                <a:latin typeface="Consolas" panose="020B0609020204030204" pitchFamily="49" charset="0"/>
              </a:rPr>
              <a:t>    key </a:t>
            </a:r>
            <a:r>
              <a:rPr lang="en-US" sz="1600" dirty="0">
                <a:solidFill>
                  <a:srgbClr val="D4D4D4"/>
                </a:solidFill>
                <a:effectLst/>
                <a:latin typeface="Consolas" panose="020B0609020204030204" pitchFamily="49" charset="0"/>
              </a:rPr>
              <a:t>=</a:t>
            </a:r>
            <a:r>
              <a:rPr lang="en-US" sz="1600" dirty="0">
                <a:solidFill>
                  <a:srgbClr val="9CDCFE"/>
                </a:solidFill>
                <a:effectLst/>
                <a:latin typeface="Consolas" panose="020B0609020204030204" pitchFamily="49" charset="0"/>
              </a:rPr>
              <a:t> </a:t>
            </a:r>
            <a:r>
              <a:rPr lang="en-US" sz="1600" dirty="0">
                <a:solidFill>
                  <a:srgbClr val="CE9178"/>
                </a:solidFill>
                <a:effectLst/>
                <a:latin typeface="Consolas" panose="020B0609020204030204" pitchFamily="49" charset="0"/>
              </a:rPr>
              <a:t>"</a:t>
            </a:r>
            <a:r>
              <a:rPr lang="en-US" sz="1600" dirty="0" err="1">
                <a:solidFill>
                  <a:srgbClr val="CE9178"/>
                </a:solidFill>
                <a:effectLst/>
                <a:latin typeface="Consolas" panose="020B0609020204030204" pitchFamily="49" charset="0"/>
              </a:rPr>
              <a:t>terraform.tfstate</a:t>
            </a:r>
            <a:r>
              <a:rPr lang="en-US" sz="1600" dirty="0">
                <a:solidFill>
                  <a:srgbClr val="CE9178"/>
                </a:solidFill>
                <a:effectLst/>
                <a:latin typeface="Consolas" panose="020B0609020204030204" pitchFamily="49" charset="0"/>
              </a:rPr>
              <a:t>"</a:t>
            </a:r>
            <a:endParaRPr lang="en-US" sz="1600" dirty="0">
              <a:solidFill>
                <a:srgbClr val="D4D4D4"/>
              </a:solidFill>
              <a:effectLst/>
              <a:latin typeface="Consolas" panose="020B0609020204030204" pitchFamily="49" charset="0"/>
            </a:endParaRPr>
          </a:p>
          <a:p>
            <a:pPr marL="0" indent="0">
              <a:buNone/>
            </a:pPr>
            <a:r>
              <a:rPr lang="en-US" sz="1600" dirty="0">
                <a:solidFill>
                  <a:srgbClr val="9CDCFE"/>
                </a:solidFill>
                <a:effectLst/>
                <a:latin typeface="Consolas" panose="020B0609020204030204" pitchFamily="49" charset="0"/>
              </a:rPr>
              <a:t>    region </a:t>
            </a:r>
            <a:r>
              <a:rPr lang="en-US" sz="1600" dirty="0">
                <a:solidFill>
                  <a:srgbClr val="D4D4D4"/>
                </a:solidFill>
                <a:effectLst/>
                <a:latin typeface="Consolas" panose="020B0609020204030204" pitchFamily="49" charset="0"/>
              </a:rPr>
              <a:t>=</a:t>
            </a:r>
            <a:r>
              <a:rPr lang="en-US" sz="1600" dirty="0">
                <a:solidFill>
                  <a:srgbClr val="9CDCFE"/>
                </a:solidFill>
                <a:effectLst/>
                <a:latin typeface="Consolas" panose="020B0609020204030204" pitchFamily="49" charset="0"/>
              </a:rPr>
              <a:t> </a:t>
            </a:r>
            <a:r>
              <a:rPr lang="en-US" sz="1600" dirty="0">
                <a:solidFill>
                  <a:srgbClr val="CE9178"/>
                </a:solidFill>
                <a:effectLst/>
                <a:latin typeface="Consolas" panose="020B0609020204030204" pitchFamily="49" charset="0"/>
              </a:rPr>
              <a:t>"us-east-1"</a:t>
            </a:r>
            <a:endParaRPr lang="en-US" sz="1600" dirty="0">
              <a:solidFill>
                <a:srgbClr val="D4D4D4"/>
              </a:solidFill>
              <a:effectLst/>
              <a:latin typeface="Consolas" panose="020B0609020204030204" pitchFamily="49" charset="0"/>
            </a:endParaRPr>
          </a:p>
          <a:p>
            <a:pPr marL="0" indent="0">
              <a:buNone/>
            </a:pPr>
            <a:r>
              <a:rPr lang="en-US" sz="1600" dirty="0">
                <a:solidFill>
                  <a:srgbClr val="9CDCFE"/>
                </a:solidFill>
                <a:effectLst/>
                <a:latin typeface="Consolas" panose="020B0609020204030204" pitchFamily="49" charset="0"/>
              </a:rPr>
              <a:t>    encrypt </a:t>
            </a:r>
            <a:r>
              <a:rPr lang="en-US" sz="1600" dirty="0">
                <a:solidFill>
                  <a:srgbClr val="D4D4D4"/>
                </a:solidFill>
                <a:effectLst/>
                <a:latin typeface="Consolas" panose="020B0609020204030204" pitchFamily="49" charset="0"/>
              </a:rPr>
              <a:t>=</a:t>
            </a:r>
            <a:r>
              <a:rPr lang="en-US" sz="1600" dirty="0">
                <a:solidFill>
                  <a:srgbClr val="9CDCFE"/>
                </a:solidFill>
                <a:effectLst/>
                <a:latin typeface="Consolas" panose="020B0609020204030204" pitchFamily="49" charset="0"/>
              </a:rPr>
              <a:t> </a:t>
            </a:r>
            <a:r>
              <a:rPr lang="en-US" sz="1600" dirty="0">
                <a:solidFill>
                  <a:srgbClr val="C586C0"/>
                </a:solidFill>
                <a:effectLst/>
                <a:latin typeface="Consolas" panose="020B0609020204030204" pitchFamily="49" charset="0"/>
              </a:rPr>
              <a:t>true</a:t>
            </a:r>
            <a:endParaRPr lang="en-US" sz="1600" dirty="0">
              <a:solidFill>
                <a:srgbClr val="D4D4D4"/>
              </a:solidFill>
              <a:effectLst/>
              <a:latin typeface="Consolas" panose="020B0609020204030204" pitchFamily="49" charset="0"/>
            </a:endParaRPr>
          </a:p>
          <a:p>
            <a:pPr marL="0" indent="0">
              <a:buNone/>
            </a:pPr>
            <a:r>
              <a:rPr lang="en-US" sz="1600" dirty="0">
                <a:solidFill>
                  <a:srgbClr val="9CDCFE"/>
                </a:solidFill>
                <a:effectLst/>
                <a:latin typeface="Consolas" panose="020B0609020204030204" pitchFamily="49" charset="0"/>
              </a:rPr>
              <a:t>    </a:t>
            </a:r>
            <a:r>
              <a:rPr lang="en-US" sz="1600" dirty="0" err="1">
                <a:solidFill>
                  <a:srgbClr val="9CDCFE"/>
                </a:solidFill>
                <a:effectLst/>
                <a:latin typeface="Consolas" panose="020B0609020204030204" pitchFamily="49" charset="0"/>
              </a:rPr>
              <a:t>dynamodb_table</a:t>
            </a:r>
            <a:r>
              <a:rPr lang="en-US" sz="1600" dirty="0">
                <a:solidFill>
                  <a:srgbClr val="9CDCFE"/>
                </a:solidFill>
                <a:effectLst/>
                <a:latin typeface="Consolas" panose="020B0609020204030204" pitchFamily="49" charset="0"/>
              </a:rPr>
              <a:t> </a:t>
            </a:r>
            <a:r>
              <a:rPr lang="en-US" sz="1600" dirty="0">
                <a:solidFill>
                  <a:srgbClr val="D4D4D4"/>
                </a:solidFill>
                <a:effectLst/>
                <a:latin typeface="Consolas" panose="020B0609020204030204" pitchFamily="49" charset="0"/>
              </a:rPr>
              <a:t>=</a:t>
            </a:r>
            <a:r>
              <a:rPr lang="en-US" sz="1600" dirty="0">
                <a:solidFill>
                  <a:srgbClr val="9CDCFE"/>
                </a:solidFill>
                <a:effectLst/>
                <a:latin typeface="Consolas" panose="020B0609020204030204" pitchFamily="49" charset="0"/>
              </a:rPr>
              <a:t> </a:t>
            </a:r>
            <a:r>
              <a:rPr lang="en-US" sz="1600" dirty="0">
                <a:solidFill>
                  <a:srgbClr val="CE9178"/>
                </a:solidFill>
                <a:effectLst/>
                <a:latin typeface="Consolas" panose="020B0609020204030204" pitchFamily="49" charset="0"/>
              </a:rPr>
              <a:t>"terraform-lock-table"</a:t>
            </a:r>
            <a:endParaRPr lang="en-US" sz="1600" dirty="0">
              <a:solidFill>
                <a:srgbClr val="D4D4D4"/>
              </a:solidFill>
              <a:effectLst/>
              <a:latin typeface="Consolas" panose="020B0609020204030204" pitchFamily="49" charset="0"/>
            </a:endParaRPr>
          </a:p>
          <a:p>
            <a:pPr marL="0" indent="0">
              <a:buNone/>
            </a:pPr>
            <a:r>
              <a:rPr lang="en-US" sz="1600" dirty="0">
                <a:solidFill>
                  <a:srgbClr val="D4D4D4"/>
                </a:solidFill>
                <a:effectLst/>
                <a:latin typeface="Consolas" panose="020B0609020204030204" pitchFamily="49" charset="0"/>
              </a:rPr>
              <a:t>  }</a:t>
            </a:r>
          </a:p>
          <a:p>
            <a:pPr marL="0" indent="0">
              <a:buNone/>
            </a:pPr>
            <a:r>
              <a:rPr lang="en-US" sz="1600" dirty="0">
                <a:solidFill>
                  <a:srgbClr val="D4D4D4"/>
                </a:solidFill>
                <a:effectLst/>
                <a:latin typeface="Consolas" panose="020B0609020204030204" pitchFamily="49" charset="0"/>
              </a:rPr>
              <a:t>}</a:t>
            </a:r>
          </a:p>
          <a:p>
            <a:pPr marL="0" indent="0">
              <a:buNone/>
            </a:pPr>
            <a:endParaRPr lang="en-US" sz="1600" dirty="0"/>
          </a:p>
        </p:txBody>
      </p:sp>
      <p:sp>
        <p:nvSpPr>
          <p:cNvPr id="3" name="Espace réservé du texte 2">
            <a:extLst>
              <a:ext uri="{FF2B5EF4-FFF2-40B4-BE49-F238E27FC236}">
                <a16:creationId xmlns:a16="http://schemas.microsoft.com/office/drawing/2014/main" id="{5C045B09-E183-A3BC-2428-C98F9422953E}"/>
              </a:ext>
            </a:extLst>
          </p:cNvPr>
          <p:cNvSpPr>
            <a:spLocks noGrp="1"/>
          </p:cNvSpPr>
          <p:nvPr>
            <p:ph type="body" sz="quarter" idx="14"/>
          </p:nvPr>
        </p:nvSpPr>
        <p:spPr/>
        <p:txBody>
          <a:bodyPr vert="horz" lIns="91440" tIns="45720" rIns="91440" bIns="45720" rtlCol="0" anchor="t">
            <a:noAutofit/>
          </a:bodyPr>
          <a:lstStyle/>
          <a:p>
            <a:r>
              <a:rPr lang="en-US"/>
              <a:t>2. Backends and Workspaces</a:t>
            </a:r>
          </a:p>
        </p:txBody>
      </p:sp>
      <p:sp>
        <p:nvSpPr>
          <p:cNvPr id="4" name="Espace réservé du texte 3">
            <a:extLst>
              <a:ext uri="{FF2B5EF4-FFF2-40B4-BE49-F238E27FC236}">
                <a16:creationId xmlns:a16="http://schemas.microsoft.com/office/drawing/2014/main" id="{6AE0915B-65E0-0F3B-3478-E8357B3CB0C0}"/>
              </a:ext>
            </a:extLst>
          </p:cNvPr>
          <p:cNvSpPr>
            <a:spLocks noGrp="1"/>
          </p:cNvSpPr>
          <p:nvPr>
            <p:ph type="body" sz="quarter" idx="15"/>
          </p:nvPr>
        </p:nvSpPr>
        <p:spPr>
          <a:noFill/>
        </p:spPr>
        <p:txBody>
          <a:bodyPr vert="horz" wrap="square" lIns="91440" tIns="45720" rIns="91440" bIns="45720" rtlCol="0">
            <a:spAutoFit/>
          </a:bodyPr>
          <a:lstStyle/>
          <a:p>
            <a:r>
              <a:rPr lang="en-US" dirty="0"/>
              <a:t>Backend configuration: AWS S3 Example</a:t>
            </a:r>
          </a:p>
        </p:txBody>
      </p:sp>
    </p:spTree>
    <p:extLst>
      <p:ext uri="{BB962C8B-B14F-4D97-AF65-F5344CB8AC3E}">
        <p14:creationId xmlns:p14="http://schemas.microsoft.com/office/powerpoint/2010/main" val="17287409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B4D06B80-9AF7-3C3C-8369-B605E2E10964}"/>
              </a:ext>
            </a:extLst>
          </p:cNvPr>
          <p:cNvSpPr>
            <a:spLocks noGrp="1"/>
          </p:cNvSpPr>
          <p:nvPr>
            <p:ph idx="1"/>
          </p:nvPr>
        </p:nvSpPr>
        <p:spPr/>
        <p:txBody>
          <a:bodyPr/>
          <a:lstStyle/>
          <a:p>
            <a:r>
              <a:rPr lang="en-US" dirty="0"/>
              <a:t>After updating your configuration files, you need to initialize the backend. Run the following command in your Terraform project directory: </a:t>
            </a:r>
            <a:r>
              <a:rPr lang="en-US" dirty="0">
                <a:latin typeface="Consolas" panose="020B0609020204030204" pitchFamily="49" charset="0"/>
                <a:cs typeface="Consolas" panose="020B0609020204030204" pitchFamily="49" charset="0"/>
              </a:rPr>
              <a:t>terraform </a:t>
            </a:r>
            <a:r>
              <a:rPr lang="en-US" dirty="0" err="1">
                <a:latin typeface="Consolas" panose="020B0609020204030204" pitchFamily="49" charset="0"/>
                <a:cs typeface="Consolas" panose="020B0609020204030204" pitchFamily="49" charset="0"/>
              </a:rPr>
              <a:t>init</a:t>
            </a:r>
            <a:endParaRPr lang="en-US" dirty="0">
              <a:latin typeface="Consolas" panose="020B0609020204030204" pitchFamily="49" charset="0"/>
              <a:cs typeface="Consolas" panose="020B0609020204030204" pitchFamily="49" charset="0"/>
            </a:endParaRPr>
          </a:p>
          <a:p>
            <a:r>
              <a:rPr lang="en-US" dirty="0"/>
              <a:t>If you have an existing local state that you want to migrate to the new backend, Terraform will prompt you to copy it during the </a:t>
            </a:r>
            <a:r>
              <a:rPr lang="en-US" dirty="0">
                <a:latin typeface="Consolas" panose="020B0609020204030204" pitchFamily="49" charset="0"/>
                <a:cs typeface="Consolas" panose="020B0609020204030204" pitchFamily="49" charset="0"/>
              </a:rPr>
              <a:t>terraform </a:t>
            </a:r>
            <a:r>
              <a:rPr lang="en-US" dirty="0" err="1">
                <a:latin typeface="Consolas" panose="020B0609020204030204" pitchFamily="49" charset="0"/>
                <a:cs typeface="Consolas" panose="020B0609020204030204" pitchFamily="49" charset="0"/>
              </a:rPr>
              <a:t>init</a:t>
            </a:r>
            <a:r>
              <a:rPr lang="en-US" dirty="0"/>
              <a:t> process. Confirm and proceed with the migration if necessary.</a:t>
            </a:r>
          </a:p>
        </p:txBody>
      </p:sp>
      <p:sp>
        <p:nvSpPr>
          <p:cNvPr id="3" name="Espace réservé du texte 2">
            <a:extLst>
              <a:ext uri="{FF2B5EF4-FFF2-40B4-BE49-F238E27FC236}">
                <a16:creationId xmlns:a16="http://schemas.microsoft.com/office/drawing/2014/main" id="{5C045B09-E183-A3BC-2428-C98F9422953E}"/>
              </a:ext>
            </a:extLst>
          </p:cNvPr>
          <p:cNvSpPr>
            <a:spLocks noGrp="1"/>
          </p:cNvSpPr>
          <p:nvPr>
            <p:ph type="body" sz="quarter" idx="14"/>
          </p:nvPr>
        </p:nvSpPr>
        <p:spPr/>
        <p:txBody>
          <a:bodyPr vert="horz" lIns="91440" tIns="45720" rIns="91440" bIns="45720" rtlCol="0" anchor="t">
            <a:noAutofit/>
          </a:bodyPr>
          <a:lstStyle/>
          <a:p>
            <a:r>
              <a:rPr lang="en-US"/>
              <a:t>2. Backends and Workspaces</a:t>
            </a:r>
          </a:p>
        </p:txBody>
      </p:sp>
      <p:sp>
        <p:nvSpPr>
          <p:cNvPr id="4" name="Espace réservé du texte 3">
            <a:extLst>
              <a:ext uri="{FF2B5EF4-FFF2-40B4-BE49-F238E27FC236}">
                <a16:creationId xmlns:a16="http://schemas.microsoft.com/office/drawing/2014/main" id="{6AE0915B-65E0-0F3B-3478-E8357B3CB0C0}"/>
              </a:ext>
            </a:extLst>
          </p:cNvPr>
          <p:cNvSpPr>
            <a:spLocks noGrp="1"/>
          </p:cNvSpPr>
          <p:nvPr>
            <p:ph type="body" sz="quarter" idx="15"/>
          </p:nvPr>
        </p:nvSpPr>
        <p:spPr>
          <a:noFill/>
        </p:spPr>
        <p:txBody>
          <a:bodyPr vert="horz" wrap="square" lIns="91440" tIns="45720" rIns="91440" bIns="45720" rtlCol="0">
            <a:spAutoFit/>
          </a:bodyPr>
          <a:lstStyle/>
          <a:p>
            <a:r>
              <a:rPr lang="en-US"/>
              <a:t>Changing </a:t>
            </a:r>
            <a:r>
              <a:rPr lang="en-US" dirty="0"/>
              <a:t>backend – </a:t>
            </a:r>
            <a:r>
              <a:rPr lang="en-US"/>
              <a:t>State migration</a:t>
            </a:r>
            <a:endParaRPr lang="en-US" dirty="0"/>
          </a:p>
        </p:txBody>
      </p:sp>
    </p:spTree>
    <p:extLst>
      <p:ext uri="{BB962C8B-B14F-4D97-AF65-F5344CB8AC3E}">
        <p14:creationId xmlns:p14="http://schemas.microsoft.com/office/powerpoint/2010/main" val="23459899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contenu 4">
            <a:extLst>
              <a:ext uri="{FF2B5EF4-FFF2-40B4-BE49-F238E27FC236}">
                <a16:creationId xmlns:a16="http://schemas.microsoft.com/office/drawing/2014/main" id="{E664A746-152C-F56C-7FC9-8EA144C307D2}"/>
              </a:ext>
            </a:extLst>
          </p:cNvPr>
          <p:cNvSpPr>
            <a:spLocks noGrp="1"/>
          </p:cNvSpPr>
          <p:nvPr>
            <p:ph sz="half" idx="1"/>
          </p:nvPr>
        </p:nvSpPr>
        <p:spPr/>
        <p:txBody>
          <a:bodyPr/>
          <a:lstStyle/>
          <a:p>
            <a:pPr marL="0" indent="0">
              <a:buNone/>
            </a:pPr>
            <a:r>
              <a:rPr lang="en-US" dirty="0"/>
              <a:t>To use Terraform cloud the special cloud block is </a:t>
            </a:r>
            <a:r>
              <a:rPr lang="en-US" dirty="0" err="1"/>
              <a:t>recomended</a:t>
            </a:r>
            <a:r>
              <a:rPr lang="en-US" dirty="0"/>
              <a:t>.</a:t>
            </a:r>
          </a:p>
          <a:p>
            <a:pPr marL="0" indent="0">
              <a:buNone/>
            </a:pPr>
            <a:r>
              <a:rPr lang="en-US" dirty="0"/>
              <a:t>As with other backend setups, the initialization and state migration steps apply.</a:t>
            </a:r>
          </a:p>
        </p:txBody>
      </p:sp>
      <p:sp>
        <p:nvSpPr>
          <p:cNvPr id="6" name="Espace réservé du contenu 5">
            <a:extLst>
              <a:ext uri="{FF2B5EF4-FFF2-40B4-BE49-F238E27FC236}">
                <a16:creationId xmlns:a16="http://schemas.microsoft.com/office/drawing/2014/main" id="{8D302A28-27E2-5953-C2D7-91776B4EC3BD}"/>
              </a:ext>
            </a:extLst>
          </p:cNvPr>
          <p:cNvSpPr>
            <a:spLocks noGrp="1"/>
          </p:cNvSpPr>
          <p:nvPr>
            <p:ph sz="half" idx="2"/>
          </p:nvPr>
        </p:nvSpPr>
        <p:spPr>
          <a:solidFill>
            <a:srgbClr val="3D2683"/>
          </a:solidFill>
        </p:spPr>
        <p:txBody>
          <a:bodyPr>
            <a:normAutofit/>
          </a:bodyPr>
          <a:lstStyle/>
          <a:p>
            <a:pPr marL="0" indent="0">
              <a:buNone/>
            </a:pPr>
            <a:r>
              <a:rPr lang="en-US" sz="1600" dirty="0">
                <a:solidFill>
                  <a:srgbClr val="4EC9B0"/>
                </a:solidFill>
                <a:effectLst/>
                <a:latin typeface="Consolas" panose="020B0609020204030204" pitchFamily="49" charset="0"/>
              </a:rPr>
              <a:t>terraform</a:t>
            </a:r>
            <a:r>
              <a:rPr lang="en-US" sz="1600" dirty="0">
                <a:solidFill>
                  <a:srgbClr val="D4D4D4"/>
                </a:solidFill>
                <a:effectLst/>
                <a:latin typeface="Consolas" panose="020B0609020204030204" pitchFamily="49" charset="0"/>
              </a:rPr>
              <a:t> {</a:t>
            </a:r>
          </a:p>
          <a:p>
            <a:pPr marL="0" indent="0">
              <a:buNone/>
            </a:pPr>
            <a:r>
              <a:rPr lang="en-US" sz="1600" dirty="0">
                <a:solidFill>
                  <a:srgbClr val="4EC9B0"/>
                </a:solidFill>
                <a:effectLst/>
                <a:latin typeface="Consolas" panose="020B0609020204030204" pitchFamily="49" charset="0"/>
              </a:rPr>
              <a:t>  cloud</a:t>
            </a:r>
            <a:r>
              <a:rPr lang="en-US" sz="1600" dirty="0">
                <a:solidFill>
                  <a:srgbClr val="D4D4D4"/>
                </a:solidFill>
                <a:effectLst/>
                <a:latin typeface="Consolas" panose="020B0609020204030204" pitchFamily="49" charset="0"/>
              </a:rPr>
              <a:t> {</a:t>
            </a:r>
          </a:p>
          <a:p>
            <a:pPr marL="0" indent="0">
              <a:buNone/>
            </a:pPr>
            <a:r>
              <a:rPr lang="en-US" sz="1600" dirty="0">
                <a:solidFill>
                  <a:srgbClr val="9CDCFE"/>
                </a:solidFill>
                <a:effectLst/>
                <a:latin typeface="Consolas" panose="020B0609020204030204" pitchFamily="49" charset="0"/>
              </a:rPr>
              <a:t>    organization </a:t>
            </a:r>
            <a:r>
              <a:rPr lang="en-US" sz="1600" dirty="0">
                <a:solidFill>
                  <a:srgbClr val="D4D4D4"/>
                </a:solidFill>
                <a:effectLst/>
                <a:latin typeface="Consolas" panose="020B0609020204030204" pitchFamily="49" charset="0"/>
              </a:rPr>
              <a:t>=</a:t>
            </a:r>
            <a:r>
              <a:rPr lang="en-US" sz="1600" dirty="0">
                <a:solidFill>
                  <a:srgbClr val="9CDCFE"/>
                </a:solidFill>
                <a:effectLst/>
                <a:latin typeface="Consolas" panose="020B0609020204030204" pitchFamily="49" charset="0"/>
              </a:rPr>
              <a:t> </a:t>
            </a:r>
            <a:r>
              <a:rPr lang="en-US" sz="1600" dirty="0">
                <a:solidFill>
                  <a:srgbClr val="CE9178"/>
                </a:solidFill>
                <a:effectLst/>
                <a:latin typeface="Consolas" panose="020B0609020204030204" pitchFamily="49" charset="0"/>
              </a:rPr>
              <a:t>"my-org"</a:t>
            </a:r>
            <a:endParaRPr lang="en-US" sz="1600" dirty="0">
              <a:solidFill>
                <a:srgbClr val="D4D4D4"/>
              </a:solidFill>
              <a:effectLst/>
              <a:latin typeface="Consolas" panose="020B0609020204030204" pitchFamily="49" charset="0"/>
            </a:endParaRPr>
          </a:p>
          <a:p>
            <a:pPr marL="0" indent="0">
              <a:buNone/>
            </a:pPr>
            <a:r>
              <a:rPr lang="en-US" sz="1600" dirty="0">
                <a:solidFill>
                  <a:srgbClr val="9CDCFE"/>
                </a:solidFill>
                <a:effectLst/>
                <a:latin typeface="Consolas" panose="020B0609020204030204" pitchFamily="49" charset="0"/>
              </a:rPr>
              <a:t>    hostname </a:t>
            </a:r>
            <a:r>
              <a:rPr lang="en-US" sz="1600" dirty="0">
                <a:solidFill>
                  <a:srgbClr val="D4D4D4"/>
                </a:solidFill>
                <a:effectLst/>
                <a:latin typeface="Consolas" panose="020B0609020204030204" pitchFamily="49" charset="0"/>
              </a:rPr>
              <a:t>=</a:t>
            </a:r>
            <a:r>
              <a:rPr lang="en-US" sz="1600" dirty="0">
                <a:solidFill>
                  <a:srgbClr val="9CDCFE"/>
                </a:solidFill>
                <a:effectLst/>
                <a:latin typeface="Consolas" panose="020B0609020204030204" pitchFamily="49" charset="0"/>
              </a:rPr>
              <a:t> </a:t>
            </a:r>
            <a:r>
              <a:rPr lang="en-US" sz="1600" dirty="0">
                <a:solidFill>
                  <a:srgbClr val="CE9178"/>
                </a:solidFill>
                <a:effectLst/>
                <a:latin typeface="Consolas" panose="020B0609020204030204" pitchFamily="49" charset="0"/>
              </a:rPr>
              <a:t>"</a:t>
            </a:r>
            <a:r>
              <a:rPr lang="en-US" sz="1600" dirty="0" err="1">
                <a:solidFill>
                  <a:srgbClr val="CE9178"/>
                </a:solidFill>
                <a:effectLst/>
                <a:latin typeface="Consolas" panose="020B0609020204030204" pitchFamily="49" charset="0"/>
              </a:rPr>
              <a:t>app.terraform.io</a:t>
            </a:r>
            <a:r>
              <a:rPr lang="en-US" sz="1600" dirty="0">
                <a:solidFill>
                  <a:srgbClr val="CE9178"/>
                </a:solidFill>
                <a:effectLst/>
                <a:latin typeface="Consolas" panose="020B0609020204030204" pitchFamily="49" charset="0"/>
              </a:rPr>
              <a:t>"</a:t>
            </a:r>
            <a:endParaRPr lang="en-US" sz="1600" dirty="0">
              <a:solidFill>
                <a:srgbClr val="D4D4D4"/>
              </a:solidFill>
              <a:latin typeface="Consolas" panose="020B0609020204030204" pitchFamily="49" charset="0"/>
            </a:endParaRPr>
          </a:p>
          <a:p>
            <a:pPr marL="0" indent="0">
              <a:buNone/>
            </a:pPr>
            <a:r>
              <a:rPr lang="en-US" sz="1600" dirty="0">
                <a:solidFill>
                  <a:srgbClr val="6A9955"/>
                </a:solidFill>
                <a:effectLst/>
                <a:latin typeface="Consolas" panose="020B0609020204030204" pitchFamily="49" charset="0"/>
              </a:rPr>
              <a:t>    </a:t>
            </a:r>
            <a:br>
              <a:rPr lang="en-US" sz="1600" dirty="0">
                <a:solidFill>
                  <a:srgbClr val="D4D4D4"/>
                </a:solidFill>
                <a:effectLst/>
                <a:latin typeface="Consolas" panose="020B0609020204030204" pitchFamily="49" charset="0"/>
              </a:rPr>
            </a:br>
            <a:r>
              <a:rPr lang="en-US" sz="1600" dirty="0">
                <a:solidFill>
                  <a:srgbClr val="D4D4D4"/>
                </a:solidFill>
                <a:effectLst/>
                <a:latin typeface="Consolas" panose="020B0609020204030204" pitchFamily="49" charset="0"/>
              </a:rPr>
              <a:t>    </a:t>
            </a:r>
            <a:r>
              <a:rPr lang="en-US" sz="1600" dirty="0">
                <a:solidFill>
                  <a:srgbClr val="4EC9B0"/>
                </a:solidFill>
                <a:effectLst/>
                <a:latin typeface="Consolas" panose="020B0609020204030204" pitchFamily="49" charset="0"/>
              </a:rPr>
              <a:t>workspaces</a:t>
            </a:r>
            <a:r>
              <a:rPr lang="en-US" sz="1600" dirty="0">
                <a:solidFill>
                  <a:srgbClr val="D4D4D4"/>
                </a:solidFill>
                <a:effectLst/>
                <a:latin typeface="Consolas" panose="020B0609020204030204" pitchFamily="49" charset="0"/>
              </a:rPr>
              <a:t> {</a:t>
            </a:r>
          </a:p>
          <a:p>
            <a:pPr marL="0" indent="0">
              <a:buNone/>
            </a:pPr>
            <a:r>
              <a:rPr lang="en-US" sz="1600" dirty="0">
                <a:solidFill>
                  <a:srgbClr val="9CDCFE"/>
                </a:solidFill>
                <a:effectLst/>
                <a:latin typeface="Consolas" panose="020B0609020204030204" pitchFamily="49" charset="0"/>
              </a:rPr>
              <a:t>      project </a:t>
            </a:r>
            <a:r>
              <a:rPr lang="en-US" sz="1600" dirty="0">
                <a:solidFill>
                  <a:srgbClr val="D4D4D4"/>
                </a:solidFill>
                <a:effectLst/>
                <a:latin typeface="Consolas" panose="020B0609020204030204" pitchFamily="49" charset="0"/>
              </a:rPr>
              <a:t>=</a:t>
            </a:r>
            <a:r>
              <a:rPr lang="en-US" sz="1600" dirty="0">
                <a:solidFill>
                  <a:srgbClr val="9CDCFE"/>
                </a:solidFill>
                <a:effectLst/>
                <a:latin typeface="Consolas" panose="020B0609020204030204" pitchFamily="49" charset="0"/>
              </a:rPr>
              <a:t> </a:t>
            </a:r>
            <a:r>
              <a:rPr lang="en-US" sz="1600" dirty="0">
                <a:solidFill>
                  <a:srgbClr val="CE9178"/>
                </a:solidFill>
                <a:effectLst/>
                <a:latin typeface="Consolas" panose="020B0609020204030204" pitchFamily="49" charset="0"/>
              </a:rPr>
              <a:t>"example-project"</a:t>
            </a:r>
            <a:endParaRPr lang="en-US" sz="1600" dirty="0">
              <a:solidFill>
                <a:srgbClr val="D4D4D4"/>
              </a:solidFill>
              <a:effectLst/>
              <a:latin typeface="Consolas" panose="020B0609020204030204" pitchFamily="49" charset="0"/>
            </a:endParaRPr>
          </a:p>
          <a:p>
            <a:pPr marL="0" indent="0">
              <a:buNone/>
            </a:pPr>
            <a:r>
              <a:rPr lang="en-US" sz="1600" dirty="0">
                <a:solidFill>
                  <a:srgbClr val="9CDCFE"/>
                </a:solidFill>
                <a:effectLst/>
                <a:latin typeface="Consolas" panose="020B0609020204030204" pitchFamily="49" charset="0"/>
              </a:rPr>
              <a:t>      tags </a:t>
            </a:r>
            <a:r>
              <a:rPr lang="en-US" sz="1600" dirty="0">
                <a:solidFill>
                  <a:srgbClr val="D4D4D4"/>
                </a:solidFill>
                <a:effectLst/>
                <a:latin typeface="Consolas" panose="020B0609020204030204" pitchFamily="49" charset="0"/>
              </a:rPr>
              <a:t>=</a:t>
            </a:r>
            <a:r>
              <a:rPr lang="en-US" sz="1600" dirty="0">
                <a:solidFill>
                  <a:srgbClr val="9CDCFE"/>
                </a:solidFill>
                <a:effectLst/>
                <a:latin typeface="Consolas" panose="020B0609020204030204" pitchFamily="49" charset="0"/>
              </a:rPr>
              <a:t> </a:t>
            </a:r>
            <a:r>
              <a:rPr lang="en-US" sz="1600" dirty="0">
                <a:solidFill>
                  <a:srgbClr val="D4D4D4"/>
                </a:solidFill>
                <a:effectLst/>
                <a:latin typeface="Consolas" panose="020B0609020204030204" pitchFamily="49" charset="0"/>
              </a:rPr>
              <a:t>[</a:t>
            </a:r>
            <a:r>
              <a:rPr lang="en-US" sz="1600" dirty="0">
                <a:solidFill>
                  <a:srgbClr val="CE9178"/>
                </a:solidFill>
                <a:effectLst/>
                <a:latin typeface="Consolas" panose="020B0609020204030204" pitchFamily="49" charset="0"/>
              </a:rPr>
              <a:t>"networking"</a:t>
            </a:r>
            <a:r>
              <a:rPr lang="en-US" sz="1600" dirty="0">
                <a:solidFill>
                  <a:srgbClr val="D4D4D4"/>
                </a:solidFill>
                <a:effectLst/>
                <a:latin typeface="Consolas" panose="020B0609020204030204" pitchFamily="49" charset="0"/>
              </a:rPr>
              <a:t>, </a:t>
            </a:r>
            <a:r>
              <a:rPr lang="en-US" sz="1600" dirty="0">
                <a:solidFill>
                  <a:srgbClr val="CE9178"/>
                </a:solidFill>
                <a:effectLst/>
                <a:latin typeface="Consolas" panose="020B0609020204030204" pitchFamily="49" charset="0"/>
              </a:rPr>
              <a:t>"</a:t>
            </a:r>
            <a:r>
              <a:rPr lang="en-US" sz="1600" dirty="0" err="1">
                <a:solidFill>
                  <a:srgbClr val="CE9178"/>
                </a:solidFill>
                <a:effectLst/>
                <a:latin typeface="Consolas" panose="020B0609020204030204" pitchFamily="49" charset="0"/>
              </a:rPr>
              <a:t>source:cli</a:t>
            </a:r>
            <a:r>
              <a:rPr lang="en-US" sz="1600" dirty="0">
                <a:solidFill>
                  <a:srgbClr val="CE9178"/>
                </a:solidFill>
                <a:effectLst/>
                <a:latin typeface="Consolas" panose="020B0609020204030204" pitchFamily="49" charset="0"/>
              </a:rPr>
              <a:t>"</a:t>
            </a:r>
            <a:r>
              <a:rPr lang="en-US" sz="1600" dirty="0">
                <a:solidFill>
                  <a:srgbClr val="D4D4D4"/>
                </a:solidFill>
                <a:effectLst/>
                <a:latin typeface="Consolas" panose="020B0609020204030204" pitchFamily="49" charset="0"/>
              </a:rPr>
              <a:t>]</a:t>
            </a:r>
          </a:p>
          <a:p>
            <a:pPr marL="0" indent="0">
              <a:buNone/>
            </a:pPr>
            <a:r>
              <a:rPr lang="en-US" sz="1600" dirty="0">
                <a:solidFill>
                  <a:srgbClr val="D4D4D4"/>
                </a:solidFill>
                <a:effectLst/>
                <a:latin typeface="Consolas" panose="020B0609020204030204" pitchFamily="49" charset="0"/>
              </a:rPr>
              <a:t>    }</a:t>
            </a:r>
          </a:p>
          <a:p>
            <a:pPr marL="0" indent="0">
              <a:buNone/>
            </a:pPr>
            <a:r>
              <a:rPr lang="en-US" sz="1600" dirty="0">
                <a:solidFill>
                  <a:srgbClr val="D4D4D4"/>
                </a:solidFill>
                <a:effectLst/>
                <a:latin typeface="Consolas" panose="020B0609020204030204" pitchFamily="49" charset="0"/>
              </a:rPr>
              <a:t>  }</a:t>
            </a:r>
          </a:p>
          <a:p>
            <a:pPr marL="0" indent="0">
              <a:buNone/>
            </a:pPr>
            <a:r>
              <a:rPr lang="en-US" sz="1600" dirty="0">
                <a:solidFill>
                  <a:srgbClr val="D4D4D4"/>
                </a:solidFill>
                <a:effectLst/>
                <a:latin typeface="Consolas" panose="020B0609020204030204" pitchFamily="49" charset="0"/>
              </a:rPr>
              <a:t>}</a:t>
            </a:r>
          </a:p>
        </p:txBody>
      </p:sp>
      <p:sp>
        <p:nvSpPr>
          <p:cNvPr id="3" name="Espace réservé du texte 2">
            <a:extLst>
              <a:ext uri="{FF2B5EF4-FFF2-40B4-BE49-F238E27FC236}">
                <a16:creationId xmlns:a16="http://schemas.microsoft.com/office/drawing/2014/main" id="{5C045B09-E183-A3BC-2428-C98F9422953E}"/>
              </a:ext>
            </a:extLst>
          </p:cNvPr>
          <p:cNvSpPr>
            <a:spLocks noGrp="1"/>
          </p:cNvSpPr>
          <p:nvPr>
            <p:ph type="body" sz="quarter" idx="14"/>
          </p:nvPr>
        </p:nvSpPr>
        <p:spPr/>
        <p:txBody>
          <a:bodyPr vert="horz" lIns="91440" tIns="45720" rIns="91440" bIns="45720" rtlCol="0" anchor="t">
            <a:noAutofit/>
          </a:bodyPr>
          <a:lstStyle/>
          <a:p>
            <a:r>
              <a:rPr lang="en-US"/>
              <a:t>2. Backends and Workspaces</a:t>
            </a:r>
          </a:p>
        </p:txBody>
      </p:sp>
      <p:sp>
        <p:nvSpPr>
          <p:cNvPr id="4" name="Espace réservé du texte 3">
            <a:extLst>
              <a:ext uri="{FF2B5EF4-FFF2-40B4-BE49-F238E27FC236}">
                <a16:creationId xmlns:a16="http://schemas.microsoft.com/office/drawing/2014/main" id="{6AE0915B-65E0-0F3B-3478-E8357B3CB0C0}"/>
              </a:ext>
            </a:extLst>
          </p:cNvPr>
          <p:cNvSpPr>
            <a:spLocks noGrp="1"/>
          </p:cNvSpPr>
          <p:nvPr>
            <p:ph type="body" sz="quarter" idx="15"/>
          </p:nvPr>
        </p:nvSpPr>
        <p:spPr>
          <a:noFill/>
        </p:spPr>
        <p:txBody>
          <a:bodyPr vert="horz" wrap="square" lIns="91440" tIns="45720" rIns="91440" bIns="45720" rtlCol="0">
            <a:spAutoFit/>
          </a:bodyPr>
          <a:lstStyle/>
          <a:p>
            <a:r>
              <a:rPr lang="en-US" dirty="0"/>
              <a:t>Terraform cloud</a:t>
            </a:r>
          </a:p>
        </p:txBody>
      </p:sp>
    </p:spTree>
    <p:extLst>
      <p:ext uri="{BB962C8B-B14F-4D97-AF65-F5344CB8AC3E}">
        <p14:creationId xmlns:p14="http://schemas.microsoft.com/office/powerpoint/2010/main" val="14916618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3A570B09-752C-6920-F6C1-6ED1C139AC4A}"/>
              </a:ext>
            </a:extLst>
          </p:cNvPr>
          <p:cNvSpPr>
            <a:spLocks noGrp="1"/>
          </p:cNvSpPr>
          <p:nvPr>
            <p:ph idx="1"/>
          </p:nvPr>
        </p:nvSpPr>
        <p:spPr/>
        <p:txBody>
          <a:bodyPr>
            <a:normAutofit fontScale="85000" lnSpcReduction="20000"/>
          </a:bodyPr>
          <a:lstStyle/>
          <a:p>
            <a:pPr marL="0" indent="0">
              <a:buNone/>
            </a:pPr>
            <a:r>
              <a:rPr lang="en-US" dirty="0"/>
              <a:t>Workspaces allow you to create and switch between different instances of the same infrastructure, each with its own state and variables.</a:t>
            </a:r>
          </a:p>
          <a:p>
            <a:pPr marL="0" indent="0">
              <a:buNone/>
            </a:pPr>
            <a:r>
              <a:rPr lang="en-US" dirty="0"/>
              <a:t>Use Cases:</a:t>
            </a:r>
          </a:p>
          <a:p>
            <a:r>
              <a:rPr lang="en-US" b="1" dirty="0"/>
              <a:t>Environment Isolation</a:t>
            </a:r>
            <a:r>
              <a:rPr lang="en-US" dirty="0"/>
              <a:t>: Workspaces are commonly used to isolate environments like development, staging, and production. You can create workspaces for each environment, allowing you to manage infrastructure separately.</a:t>
            </a:r>
          </a:p>
          <a:p>
            <a:r>
              <a:rPr lang="en-US" b="1" dirty="0"/>
              <a:t>Multi-Region Deployments</a:t>
            </a:r>
            <a:r>
              <a:rPr lang="en-US" dirty="0"/>
              <a:t>: If you're deploying infrastructure in multiple regions, workspaces can help you manage the same infrastructure with different region-specific settings.</a:t>
            </a:r>
          </a:p>
          <a:p>
            <a:r>
              <a:rPr lang="en-US" b="1" dirty="0"/>
              <a:t>Branch-based Workflow</a:t>
            </a:r>
            <a:r>
              <a:rPr lang="en-US" dirty="0"/>
              <a:t>: Some teams use workspaces in conjunction with version control branches. Each branch corresponds to a different workspace, making it easier to manage multiple feature branches with their own infrastructure configurations.</a:t>
            </a:r>
          </a:p>
        </p:txBody>
      </p:sp>
      <p:sp>
        <p:nvSpPr>
          <p:cNvPr id="3" name="Espace réservé du texte 2">
            <a:extLst>
              <a:ext uri="{FF2B5EF4-FFF2-40B4-BE49-F238E27FC236}">
                <a16:creationId xmlns:a16="http://schemas.microsoft.com/office/drawing/2014/main" id="{BDDB8389-0C44-3669-64F6-25992873E4EC}"/>
              </a:ext>
            </a:extLst>
          </p:cNvPr>
          <p:cNvSpPr>
            <a:spLocks noGrp="1"/>
          </p:cNvSpPr>
          <p:nvPr>
            <p:ph type="body" sz="quarter" idx="14"/>
          </p:nvPr>
        </p:nvSpPr>
        <p:spPr/>
        <p:txBody>
          <a:bodyPr vert="horz" lIns="91440" tIns="45720" rIns="91440" bIns="45720" rtlCol="0" anchor="t">
            <a:noAutofit/>
          </a:bodyPr>
          <a:lstStyle/>
          <a:p>
            <a:r>
              <a:rPr lang="en-US"/>
              <a:t>2. Backends and Workspaces</a:t>
            </a:r>
          </a:p>
        </p:txBody>
      </p:sp>
      <p:sp>
        <p:nvSpPr>
          <p:cNvPr id="4" name="Espace réservé du texte 3">
            <a:extLst>
              <a:ext uri="{FF2B5EF4-FFF2-40B4-BE49-F238E27FC236}">
                <a16:creationId xmlns:a16="http://schemas.microsoft.com/office/drawing/2014/main" id="{5AC378EA-BF1A-C671-458E-950868C7A478}"/>
              </a:ext>
            </a:extLst>
          </p:cNvPr>
          <p:cNvSpPr>
            <a:spLocks noGrp="1"/>
          </p:cNvSpPr>
          <p:nvPr>
            <p:ph type="body" sz="quarter" idx="15"/>
          </p:nvPr>
        </p:nvSpPr>
        <p:spPr/>
        <p:txBody>
          <a:bodyPr/>
          <a:lstStyle/>
          <a:p>
            <a:r>
              <a:rPr lang="en-US" dirty="0"/>
              <a:t>Workspaces</a:t>
            </a:r>
          </a:p>
        </p:txBody>
      </p:sp>
    </p:spTree>
    <p:extLst>
      <p:ext uri="{BB962C8B-B14F-4D97-AF65-F5344CB8AC3E}">
        <p14:creationId xmlns:p14="http://schemas.microsoft.com/office/powerpoint/2010/main" val="11579758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3A570B09-752C-6920-F6C1-6ED1C139AC4A}"/>
              </a:ext>
            </a:extLst>
          </p:cNvPr>
          <p:cNvSpPr>
            <a:spLocks noGrp="1"/>
          </p:cNvSpPr>
          <p:nvPr>
            <p:ph idx="1"/>
          </p:nvPr>
        </p:nvSpPr>
        <p:spPr/>
        <p:txBody>
          <a:bodyPr>
            <a:normAutofit fontScale="62500" lnSpcReduction="20000"/>
          </a:bodyPr>
          <a:lstStyle/>
          <a:p>
            <a:r>
              <a:rPr lang="en-US" b="1" dirty="0"/>
              <a:t>Workspace Creation</a:t>
            </a:r>
            <a:r>
              <a:rPr lang="en-US" dirty="0"/>
              <a:t>: </a:t>
            </a:r>
          </a:p>
          <a:p>
            <a:pPr marL="457200" lvl="1" indent="0">
              <a:buNone/>
            </a:pPr>
            <a:r>
              <a:rPr lang="en-US" dirty="0">
                <a:latin typeface="Consolas" panose="020B0609020204030204" pitchFamily="49" charset="0"/>
                <a:cs typeface="Consolas" panose="020B0609020204030204" pitchFamily="49" charset="0"/>
              </a:rPr>
              <a:t>terraform workspace new</a:t>
            </a:r>
            <a:r>
              <a:rPr lang="en-US" dirty="0"/>
              <a:t> </a:t>
            </a:r>
          </a:p>
          <a:p>
            <a:pPr marL="457200" lvl="1" indent="0">
              <a:buNone/>
            </a:pPr>
            <a:r>
              <a:rPr lang="en-US" dirty="0"/>
              <a:t>For example, to create a workspace named "staging," you can run `terraform workspace new staging`.</a:t>
            </a:r>
          </a:p>
          <a:p>
            <a:r>
              <a:rPr lang="en-US" dirty="0"/>
              <a:t>W</a:t>
            </a:r>
            <a:r>
              <a:rPr lang="en-US" b="1" dirty="0"/>
              <a:t>orkspace List</a:t>
            </a:r>
            <a:r>
              <a:rPr lang="en-US" dirty="0"/>
              <a:t>:</a:t>
            </a:r>
          </a:p>
          <a:p>
            <a:pPr marL="457200" lvl="1" indent="0">
              <a:buNone/>
            </a:pPr>
            <a:r>
              <a:rPr lang="en-US" dirty="0">
                <a:latin typeface="Consolas" panose="020B0609020204030204" pitchFamily="49" charset="0"/>
                <a:cs typeface="Consolas" panose="020B0609020204030204" pitchFamily="49" charset="0"/>
              </a:rPr>
              <a:t>terraform workspace list</a:t>
            </a:r>
            <a:endParaRPr lang="en-US" dirty="0"/>
          </a:p>
          <a:p>
            <a:pPr marL="457200" lvl="1" indent="0">
              <a:buNone/>
            </a:pPr>
            <a:r>
              <a:rPr lang="en-US" dirty="0"/>
              <a:t>To list all available workspaces in your Terraform configuration</a:t>
            </a:r>
          </a:p>
          <a:p>
            <a:r>
              <a:rPr lang="en-US" b="1" dirty="0"/>
              <a:t>Workspace Switching</a:t>
            </a:r>
            <a:r>
              <a:rPr lang="en-US" dirty="0"/>
              <a:t>:</a:t>
            </a:r>
          </a:p>
          <a:p>
            <a:pPr marL="457200" lvl="1" indent="0">
              <a:buNone/>
            </a:pPr>
            <a:r>
              <a:rPr lang="en-US" dirty="0">
                <a:latin typeface="Consolas" panose="020B0609020204030204" pitchFamily="49" charset="0"/>
                <a:cs typeface="Consolas" panose="020B0609020204030204" pitchFamily="49" charset="0"/>
              </a:rPr>
              <a:t>terraform workspace select</a:t>
            </a:r>
            <a:endParaRPr lang="en-US" dirty="0"/>
          </a:p>
          <a:p>
            <a:pPr marL="457200" lvl="1" indent="0">
              <a:buNone/>
            </a:pPr>
            <a:r>
              <a:rPr lang="en-US" dirty="0"/>
              <a:t>For example, to switch to the "staging" workspace, you can run </a:t>
            </a:r>
            <a:r>
              <a:rPr lang="en-US" dirty="0">
                <a:latin typeface="Consolas" panose="020B0609020204030204" pitchFamily="49" charset="0"/>
                <a:cs typeface="Consolas" panose="020B0609020204030204" pitchFamily="49" charset="0"/>
              </a:rPr>
              <a:t>terraform workspace select staging</a:t>
            </a:r>
            <a:r>
              <a:rPr lang="en-US" dirty="0"/>
              <a:t>.</a:t>
            </a:r>
          </a:p>
          <a:p>
            <a:r>
              <a:rPr lang="en-US" b="1" dirty="0"/>
              <a:t>Workspace-specific State</a:t>
            </a:r>
            <a:r>
              <a:rPr lang="en-US" dirty="0"/>
              <a:t>: Each workspace has its own separate state file. This means that changes made in one workspace won't affect the state of other workspaces. It allows you to manage different instances of your infrastructure independently.</a:t>
            </a:r>
          </a:p>
          <a:p>
            <a:r>
              <a:rPr lang="en-US" b="1" dirty="0"/>
              <a:t>Variables per Workspace</a:t>
            </a:r>
            <a:r>
              <a:rPr lang="en-US" dirty="0"/>
              <a:t>: You can set workspace-specific variables by creating separate variable definitions for each workspace. This allows you to customize configurations for different environments or regions</a:t>
            </a:r>
          </a:p>
        </p:txBody>
      </p:sp>
      <p:sp>
        <p:nvSpPr>
          <p:cNvPr id="3" name="Espace réservé du texte 2">
            <a:extLst>
              <a:ext uri="{FF2B5EF4-FFF2-40B4-BE49-F238E27FC236}">
                <a16:creationId xmlns:a16="http://schemas.microsoft.com/office/drawing/2014/main" id="{BDDB8389-0C44-3669-64F6-25992873E4EC}"/>
              </a:ext>
            </a:extLst>
          </p:cNvPr>
          <p:cNvSpPr>
            <a:spLocks noGrp="1"/>
          </p:cNvSpPr>
          <p:nvPr>
            <p:ph type="body" sz="quarter" idx="14"/>
          </p:nvPr>
        </p:nvSpPr>
        <p:spPr/>
        <p:txBody>
          <a:bodyPr vert="horz" lIns="91440" tIns="45720" rIns="91440" bIns="45720" rtlCol="0" anchor="t">
            <a:noAutofit/>
          </a:bodyPr>
          <a:lstStyle/>
          <a:p>
            <a:r>
              <a:rPr lang="en-US"/>
              <a:t>2. Backends and Workspaces</a:t>
            </a:r>
          </a:p>
        </p:txBody>
      </p:sp>
      <p:sp>
        <p:nvSpPr>
          <p:cNvPr id="4" name="Espace réservé du texte 3">
            <a:extLst>
              <a:ext uri="{FF2B5EF4-FFF2-40B4-BE49-F238E27FC236}">
                <a16:creationId xmlns:a16="http://schemas.microsoft.com/office/drawing/2014/main" id="{5AC378EA-BF1A-C671-458E-950868C7A478}"/>
              </a:ext>
            </a:extLst>
          </p:cNvPr>
          <p:cNvSpPr>
            <a:spLocks noGrp="1"/>
          </p:cNvSpPr>
          <p:nvPr>
            <p:ph type="body" sz="quarter" idx="15"/>
          </p:nvPr>
        </p:nvSpPr>
        <p:spPr/>
        <p:txBody>
          <a:bodyPr/>
          <a:lstStyle/>
          <a:p>
            <a:r>
              <a:rPr lang="en-US" dirty="0"/>
              <a:t>Working with Workspaces</a:t>
            </a:r>
          </a:p>
        </p:txBody>
      </p:sp>
    </p:spTree>
    <p:extLst>
      <p:ext uri="{BB962C8B-B14F-4D97-AF65-F5344CB8AC3E}">
        <p14:creationId xmlns:p14="http://schemas.microsoft.com/office/powerpoint/2010/main" val="2944013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8AD7D0D6-4956-BECC-A810-FCCEF2EDFFD6}"/>
              </a:ext>
            </a:extLst>
          </p:cNvPr>
          <p:cNvSpPr>
            <a:spLocks noGrp="1"/>
          </p:cNvSpPr>
          <p:nvPr>
            <p:ph type="body" sz="quarter" idx="10"/>
          </p:nvPr>
        </p:nvSpPr>
        <p:spPr/>
        <p:txBody>
          <a:bodyPr vert="horz" lIns="91440" tIns="45720" rIns="91440" bIns="45720" rtlCol="0" anchor="t">
            <a:normAutofit/>
          </a:bodyPr>
          <a:lstStyle/>
          <a:p>
            <a:pPr marL="0" indent="0">
              <a:buNone/>
            </a:pPr>
            <a:r>
              <a:rPr lang="en-US"/>
              <a:t>2. Backends and Workspaces</a:t>
            </a:r>
          </a:p>
        </p:txBody>
      </p:sp>
    </p:spTree>
    <p:extLst>
      <p:ext uri="{BB962C8B-B14F-4D97-AF65-F5344CB8AC3E}">
        <p14:creationId xmlns:p14="http://schemas.microsoft.com/office/powerpoint/2010/main" val="24575784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AB00CD53-20D5-44F6-55E0-0892C820DCE6}"/>
              </a:ext>
            </a:extLst>
          </p:cNvPr>
          <p:cNvSpPr>
            <a:spLocks noGrp="1"/>
          </p:cNvSpPr>
          <p:nvPr>
            <p:ph type="body" sz="quarter" idx="10"/>
          </p:nvPr>
        </p:nvSpPr>
        <p:spPr/>
        <p:txBody>
          <a:bodyPr>
            <a:normAutofit/>
          </a:bodyPr>
          <a:lstStyle/>
          <a:p>
            <a:r>
              <a:rPr lang="en-US"/>
              <a:t>3. Managing Secrets</a:t>
            </a:r>
          </a:p>
        </p:txBody>
      </p:sp>
    </p:spTree>
    <p:extLst>
      <p:ext uri="{BB962C8B-B14F-4D97-AF65-F5344CB8AC3E}">
        <p14:creationId xmlns:p14="http://schemas.microsoft.com/office/powerpoint/2010/main" val="27386995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FDDFEB25-1E38-0963-2310-20EA7D85BB5C}"/>
              </a:ext>
            </a:extLst>
          </p:cNvPr>
          <p:cNvSpPr>
            <a:spLocks noGrp="1"/>
          </p:cNvSpPr>
          <p:nvPr>
            <p:ph idx="1"/>
          </p:nvPr>
        </p:nvSpPr>
        <p:spPr/>
        <p:txBody>
          <a:bodyPr/>
          <a:lstStyle/>
          <a:p>
            <a:pPr marL="0" indent="0">
              <a:buNone/>
            </a:pPr>
            <a:r>
              <a:rPr lang="en-US" dirty="0"/>
              <a:t>Managing secrets in Terraform is a crucial aspect of infrastructure management, as it involves handling sensitive information such as API keys, passwords, and access tokens securely.</a:t>
            </a:r>
          </a:p>
          <a:p>
            <a:r>
              <a:rPr lang="en-US" b="1" dirty="0"/>
              <a:t>Restrict access to secrets</a:t>
            </a:r>
            <a:r>
              <a:rPr lang="en-US" dirty="0"/>
              <a:t> to only those who need them, and regularly rotate sensitive keys and credentials to enhance security,</a:t>
            </a:r>
          </a:p>
          <a:p>
            <a:r>
              <a:rPr lang="en-US" b="1" dirty="0"/>
              <a:t>Avoid storing secrets directly in your Terraform configuration</a:t>
            </a:r>
            <a:r>
              <a:rPr lang="en-US" dirty="0"/>
              <a:t> files, as these can be inadvertently exposed or committed to version control systems.</a:t>
            </a:r>
          </a:p>
        </p:txBody>
      </p:sp>
      <p:sp>
        <p:nvSpPr>
          <p:cNvPr id="3" name="Espace réservé du texte 2">
            <a:extLst>
              <a:ext uri="{FF2B5EF4-FFF2-40B4-BE49-F238E27FC236}">
                <a16:creationId xmlns:a16="http://schemas.microsoft.com/office/drawing/2014/main" id="{B344AA24-ACFC-4AF3-36DB-77F49DBEA294}"/>
              </a:ext>
            </a:extLst>
          </p:cNvPr>
          <p:cNvSpPr>
            <a:spLocks noGrp="1"/>
          </p:cNvSpPr>
          <p:nvPr>
            <p:ph type="body" sz="quarter" idx="14"/>
          </p:nvPr>
        </p:nvSpPr>
        <p:spPr/>
        <p:txBody>
          <a:bodyPr vert="horz" lIns="91440" tIns="45720" rIns="91440" bIns="45720" rtlCol="0" anchor="t">
            <a:noAutofit/>
          </a:bodyPr>
          <a:lstStyle/>
          <a:p>
            <a:r>
              <a:rPr lang="en-US"/>
              <a:t>3. Managing Secrets</a:t>
            </a:r>
          </a:p>
        </p:txBody>
      </p:sp>
      <p:sp>
        <p:nvSpPr>
          <p:cNvPr id="4" name="Espace réservé du texte 3">
            <a:extLst>
              <a:ext uri="{FF2B5EF4-FFF2-40B4-BE49-F238E27FC236}">
                <a16:creationId xmlns:a16="http://schemas.microsoft.com/office/drawing/2014/main" id="{128556B6-C8D8-F487-71F7-67AE9BA9E1BD}"/>
              </a:ext>
            </a:extLst>
          </p:cNvPr>
          <p:cNvSpPr>
            <a:spLocks noGrp="1"/>
          </p:cNvSpPr>
          <p:nvPr>
            <p:ph type="body" sz="quarter" idx="15"/>
          </p:nvPr>
        </p:nvSpPr>
        <p:spPr/>
        <p:txBody>
          <a:bodyPr/>
          <a:lstStyle/>
          <a:p>
            <a:r>
              <a:rPr lang="en-US" dirty="0"/>
              <a:t>General Considerations</a:t>
            </a:r>
          </a:p>
        </p:txBody>
      </p:sp>
    </p:spTree>
    <p:extLst>
      <p:ext uri="{BB962C8B-B14F-4D97-AF65-F5344CB8AC3E}">
        <p14:creationId xmlns:p14="http://schemas.microsoft.com/office/powerpoint/2010/main" val="26270230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23AD03AA-34B6-F331-27B1-5AEA131CA33B}"/>
              </a:ext>
            </a:extLst>
          </p:cNvPr>
          <p:cNvSpPr>
            <a:spLocks noGrp="1"/>
          </p:cNvSpPr>
          <p:nvPr>
            <p:ph idx="1"/>
          </p:nvPr>
        </p:nvSpPr>
        <p:spPr/>
        <p:txBody>
          <a:bodyPr/>
          <a:lstStyle/>
          <a:p>
            <a:pPr marL="0" indent="0">
              <a:buNone/>
            </a:pPr>
            <a:r>
              <a:rPr lang="en-US" dirty="0"/>
              <a:t>Store sensitive values as environment variables on your local machine or in your CI/CD pipeline. Terraform can access these environment variables when running.</a:t>
            </a:r>
          </a:p>
          <a:p>
            <a:r>
              <a:rPr lang="en-US" dirty="0"/>
              <a:t>For example, you might store an AWS access key as an environment variable and Terraform can use it without exposing the actual value in your configuration.</a:t>
            </a:r>
          </a:p>
        </p:txBody>
      </p:sp>
      <p:sp>
        <p:nvSpPr>
          <p:cNvPr id="3" name="Espace réservé du texte 2">
            <a:extLst>
              <a:ext uri="{FF2B5EF4-FFF2-40B4-BE49-F238E27FC236}">
                <a16:creationId xmlns:a16="http://schemas.microsoft.com/office/drawing/2014/main" id="{BE9F5077-2229-0F87-83B4-46068F9F66BC}"/>
              </a:ext>
            </a:extLst>
          </p:cNvPr>
          <p:cNvSpPr>
            <a:spLocks noGrp="1"/>
          </p:cNvSpPr>
          <p:nvPr>
            <p:ph type="body" sz="quarter" idx="14"/>
          </p:nvPr>
        </p:nvSpPr>
        <p:spPr/>
        <p:txBody>
          <a:bodyPr vert="horz" lIns="91440" tIns="45720" rIns="91440" bIns="45720" rtlCol="0" anchor="t">
            <a:noAutofit/>
          </a:bodyPr>
          <a:lstStyle/>
          <a:p>
            <a:r>
              <a:rPr lang="en-US"/>
              <a:t>3. Managing Secrets</a:t>
            </a:r>
          </a:p>
        </p:txBody>
      </p:sp>
      <p:sp>
        <p:nvSpPr>
          <p:cNvPr id="4" name="Espace réservé du texte 3">
            <a:extLst>
              <a:ext uri="{FF2B5EF4-FFF2-40B4-BE49-F238E27FC236}">
                <a16:creationId xmlns:a16="http://schemas.microsoft.com/office/drawing/2014/main" id="{2E5F3267-4FFD-F9E4-2343-D7D274D621D8}"/>
              </a:ext>
            </a:extLst>
          </p:cNvPr>
          <p:cNvSpPr>
            <a:spLocks noGrp="1"/>
          </p:cNvSpPr>
          <p:nvPr>
            <p:ph type="body" sz="quarter" idx="15"/>
          </p:nvPr>
        </p:nvSpPr>
        <p:spPr/>
        <p:txBody>
          <a:bodyPr/>
          <a:lstStyle/>
          <a:p>
            <a:r>
              <a:rPr lang="en-US" dirty="0"/>
              <a:t>Environment Variables</a:t>
            </a:r>
          </a:p>
        </p:txBody>
      </p:sp>
    </p:spTree>
    <p:extLst>
      <p:ext uri="{BB962C8B-B14F-4D97-AF65-F5344CB8AC3E}">
        <p14:creationId xmlns:p14="http://schemas.microsoft.com/office/powerpoint/2010/main" val="25123240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23AD03AA-34B6-F331-27B1-5AEA131CA33B}"/>
              </a:ext>
            </a:extLst>
          </p:cNvPr>
          <p:cNvSpPr>
            <a:spLocks noGrp="1"/>
          </p:cNvSpPr>
          <p:nvPr>
            <p:ph sz="half" idx="1"/>
          </p:nvPr>
        </p:nvSpPr>
        <p:spPr/>
        <p:txBody>
          <a:bodyPr>
            <a:normAutofit/>
          </a:bodyPr>
          <a:lstStyle/>
          <a:p>
            <a:pPr marL="0" indent="0">
              <a:buNone/>
            </a:pPr>
            <a:r>
              <a:rPr lang="en-US" dirty="0"/>
              <a:t>Use Terraform variables with sensitive values marked as "sensitive”</a:t>
            </a:r>
          </a:p>
          <a:p>
            <a:pPr marL="0" indent="0">
              <a:buNone/>
            </a:pPr>
            <a:r>
              <a:rPr lang="en-US" dirty="0"/>
              <a:t>While this doesn't encrypt the value, it informs Terraform to treat it as confidential.</a:t>
            </a:r>
          </a:p>
          <a:p>
            <a:pPr marL="0" indent="0">
              <a:buNone/>
            </a:pPr>
            <a:r>
              <a:rPr lang="en-US" dirty="0"/>
              <a:t>When a sensitive variable is used, its value will be masked in logs and outputs.</a:t>
            </a:r>
          </a:p>
        </p:txBody>
      </p:sp>
      <p:sp>
        <p:nvSpPr>
          <p:cNvPr id="5" name="Espace réservé du contenu 4">
            <a:extLst>
              <a:ext uri="{FF2B5EF4-FFF2-40B4-BE49-F238E27FC236}">
                <a16:creationId xmlns:a16="http://schemas.microsoft.com/office/drawing/2014/main" id="{D095D435-C348-FB0D-16CA-942FEFFBE2FB}"/>
              </a:ext>
            </a:extLst>
          </p:cNvPr>
          <p:cNvSpPr>
            <a:spLocks noGrp="1"/>
          </p:cNvSpPr>
          <p:nvPr>
            <p:ph sz="half" idx="2"/>
          </p:nvPr>
        </p:nvSpPr>
        <p:spPr>
          <a:solidFill>
            <a:srgbClr val="3D2683"/>
          </a:solidFill>
        </p:spPr>
        <p:txBody>
          <a:bodyPr>
            <a:normAutofit/>
          </a:bodyPr>
          <a:lstStyle/>
          <a:p>
            <a:pPr marL="0" indent="0">
              <a:buNone/>
            </a:pPr>
            <a:r>
              <a:rPr lang="en-US" sz="1600" dirty="0">
                <a:solidFill>
                  <a:srgbClr val="4EC9B0"/>
                </a:solidFill>
                <a:effectLst/>
                <a:latin typeface="Consolas" panose="020B0609020204030204" pitchFamily="49" charset="0"/>
              </a:rPr>
              <a:t>variable</a:t>
            </a:r>
            <a:r>
              <a:rPr lang="en-US" sz="1600" dirty="0">
                <a:solidFill>
                  <a:srgbClr val="D4D4D4"/>
                </a:solidFill>
                <a:effectLst/>
                <a:latin typeface="Consolas" panose="020B0609020204030204" pitchFamily="49" charset="0"/>
              </a:rPr>
              <a:t> </a:t>
            </a:r>
            <a:r>
              <a:rPr lang="en-US" sz="1600" dirty="0">
                <a:solidFill>
                  <a:srgbClr val="4FC1FF"/>
                </a:solidFill>
                <a:effectLst/>
                <a:latin typeface="Consolas" panose="020B0609020204030204" pitchFamily="49" charset="0"/>
              </a:rPr>
              <a:t>"</a:t>
            </a:r>
            <a:r>
              <a:rPr lang="en-US" sz="1600" dirty="0" err="1">
                <a:solidFill>
                  <a:srgbClr val="4FC1FF"/>
                </a:solidFill>
                <a:effectLst/>
                <a:latin typeface="Consolas" panose="020B0609020204030204" pitchFamily="49" charset="0"/>
              </a:rPr>
              <a:t>aws_secret_key</a:t>
            </a:r>
            <a:r>
              <a:rPr lang="en-US" sz="1600" dirty="0">
                <a:solidFill>
                  <a:srgbClr val="4FC1FF"/>
                </a:solidFill>
                <a:effectLst/>
                <a:latin typeface="Consolas" panose="020B0609020204030204" pitchFamily="49" charset="0"/>
              </a:rPr>
              <a:t>"</a:t>
            </a:r>
            <a:r>
              <a:rPr lang="en-US" sz="1600" dirty="0">
                <a:solidFill>
                  <a:srgbClr val="D4D4D4"/>
                </a:solidFill>
                <a:effectLst/>
                <a:latin typeface="Consolas" panose="020B0609020204030204" pitchFamily="49" charset="0"/>
              </a:rPr>
              <a:t> {</a:t>
            </a:r>
          </a:p>
          <a:p>
            <a:pPr marL="0" indent="0">
              <a:buNone/>
            </a:pPr>
            <a:r>
              <a:rPr lang="en-US" sz="1600" dirty="0">
                <a:solidFill>
                  <a:srgbClr val="9CDCFE"/>
                </a:solidFill>
                <a:effectLst/>
                <a:latin typeface="Consolas" panose="020B0609020204030204" pitchFamily="49" charset="0"/>
              </a:rPr>
              <a:t>  type </a:t>
            </a:r>
            <a:r>
              <a:rPr lang="en-US" sz="1600" dirty="0">
                <a:solidFill>
                  <a:srgbClr val="D4D4D4"/>
                </a:solidFill>
                <a:effectLst/>
                <a:latin typeface="Consolas" panose="020B0609020204030204" pitchFamily="49" charset="0"/>
              </a:rPr>
              <a:t>=</a:t>
            </a:r>
            <a:r>
              <a:rPr lang="en-US" sz="1600" dirty="0">
                <a:solidFill>
                  <a:srgbClr val="9CDCFE"/>
                </a:solidFill>
                <a:effectLst/>
                <a:latin typeface="Consolas" panose="020B0609020204030204" pitchFamily="49" charset="0"/>
              </a:rPr>
              <a:t> </a:t>
            </a:r>
            <a:r>
              <a:rPr lang="en-US" sz="1600" dirty="0">
                <a:solidFill>
                  <a:srgbClr val="C586C0"/>
                </a:solidFill>
                <a:effectLst/>
                <a:latin typeface="Consolas" panose="020B0609020204030204" pitchFamily="49" charset="0"/>
              </a:rPr>
              <a:t>string</a:t>
            </a:r>
            <a:endParaRPr lang="en-US" sz="1600" dirty="0">
              <a:solidFill>
                <a:srgbClr val="D4D4D4"/>
              </a:solidFill>
              <a:effectLst/>
              <a:latin typeface="Consolas" panose="020B0609020204030204" pitchFamily="49" charset="0"/>
            </a:endParaRPr>
          </a:p>
          <a:p>
            <a:pPr marL="0" indent="0">
              <a:buNone/>
            </a:pPr>
            <a:r>
              <a:rPr lang="en-US" sz="1600" dirty="0">
                <a:solidFill>
                  <a:srgbClr val="9CDCFE"/>
                </a:solidFill>
                <a:effectLst/>
                <a:latin typeface="Consolas" panose="020B0609020204030204" pitchFamily="49" charset="0"/>
              </a:rPr>
              <a:t>  description </a:t>
            </a:r>
            <a:r>
              <a:rPr lang="en-US" sz="1600" dirty="0">
                <a:solidFill>
                  <a:srgbClr val="D4D4D4"/>
                </a:solidFill>
                <a:effectLst/>
                <a:latin typeface="Consolas" panose="020B0609020204030204" pitchFamily="49" charset="0"/>
              </a:rPr>
              <a:t>=</a:t>
            </a:r>
            <a:r>
              <a:rPr lang="en-US" sz="1600" dirty="0">
                <a:solidFill>
                  <a:srgbClr val="9CDCFE"/>
                </a:solidFill>
                <a:effectLst/>
                <a:latin typeface="Consolas" panose="020B0609020204030204" pitchFamily="49" charset="0"/>
              </a:rPr>
              <a:t> </a:t>
            </a:r>
            <a:r>
              <a:rPr lang="en-US" sz="1600" dirty="0">
                <a:solidFill>
                  <a:srgbClr val="CE9178"/>
                </a:solidFill>
                <a:effectLst/>
                <a:latin typeface="Consolas" panose="020B0609020204030204" pitchFamily="49" charset="0"/>
              </a:rPr>
              <a:t>"AWS Secret Key"</a:t>
            </a:r>
            <a:endParaRPr lang="en-US" sz="1600" dirty="0">
              <a:solidFill>
                <a:srgbClr val="D4D4D4"/>
              </a:solidFill>
              <a:effectLst/>
              <a:latin typeface="Consolas" panose="020B0609020204030204" pitchFamily="49" charset="0"/>
            </a:endParaRPr>
          </a:p>
          <a:p>
            <a:pPr marL="0" indent="0">
              <a:buNone/>
            </a:pPr>
            <a:r>
              <a:rPr lang="en-US" sz="1600" dirty="0">
                <a:solidFill>
                  <a:srgbClr val="9CDCFE"/>
                </a:solidFill>
                <a:effectLst/>
                <a:latin typeface="Consolas" panose="020B0609020204030204" pitchFamily="49" charset="0"/>
              </a:rPr>
              <a:t>  sensitive </a:t>
            </a:r>
            <a:r>
              <a:rPr lang="en-US" sz="1600" dirty="0">
                <a:solidFill>
                  <a:srgbClr val="D4D4D4"/>
                </a:solidFill>
                <a:effectLst/>
                <a:latin typeface="Consolas" panose="020B0609020204030204" pitchFamily="49" charset="0"/>
              </a:rPr>
              <a:t>=</a:t>
            </a:r>
            <a:r>
              <a:rPr lang="en-US" sz="1600" dirty="0">
                <a:solidFill>
                  <a:srgbClr val="9CDCFE"/>
                </a:solidFill>
                <a:effectLst/>
                <a:latin typeface="Consolas" panose="020B0609020204030204" pitchFamily="49" charset="0"/>
              </a:rPr>
              <a:t> </a:t>
            </a:r>
            <a:r>
              <a:rPr lang="en-US" sz="1600" dirty="0">
                <a:solidFill>
                  <a:srgbClr val="C586C0"/>
                </a:solidFill>
                <a:effectLst/>
                <a:latin typeface="Consolas" panose="020B0609020204030204" pitchFamily="49" charset="0"/>
              </a:rPr>
              <a:t>true</a:t>
            </a:r>
            <a:endParaRPr lang="en-US" sz="1600" dirty="0">
              <a:solidFill>
                <a:srgbClr val="D4D4D4"/>
              </a:solidFill>
              <a:effectLst/>
              <a:latin typeface="Consolas" panose="020B0609020204030204" pitchFamily="49" charset="0"/>
            </a:endParaRPr>
          </a:p>
          <a:p>
            <a:pPr marL="0" indent="0">
              <a:buNone/>
            </a:pPr>
            <a:r>
              <a:rPr lang="en-US" sz="1600" dirty="0">
                <a:solidFill>
                  <a:srgbClr val="D4D4D4"/>
                </a:solidFill>
                <a:effectLst/>
                <a:latin typeface="Consolas" panose="020B0609020204030204" pitchFamily="49" charset="0"/>
              </a:rPr>
              <a:t>}</a:t>
            </a:r>
          </a:p>
          <a:p>
            <a:pPr marL="0" indent="0">
              <a:buNone/>
            </a:pPr>
            <a:endParaRPr lang="en-US" sz="1600" dirty="0"/>
          </a:p>
        </p:txBody>
      </p:sp>
      <p:sp>
        <p:nvSpPr>
          <p:cNvPr id="3" name="Espace réservé du texte 2">
            <a:extLst>
              <a:ext uri="{FF2B5EF4-FFF2-40B4-BE49-F238E27FC236}">
                <a16:creationId xmlns:a16="http://schemas.microsoft.com/office/drawing/2014/main" id="{BE9F5077-2229-0F87-83B4-46068F9F66BC}"/>
              </a:ext>
            </a:extLst>
          </p:cNvPr>
          <p:cNvSpPr>
            <a:spLocks noGrp="1"/>
          </p:cNvSpPr>
          <p:nvPr>
            <p:ph type="body" sz="quarter" idx="14"/>
          </p:nvPr>
        </p:nvSpPr>
        <p:spPr/>
        <p:txBody>
          <a:bodyPr vert="horz" lIns="91440" tIns="45720" rIns="91440" bIns="45720" rtlCol="0" anchor="t">
            <a:noAutofit/>
          </a:bodyPr>
          <a:lstStyle/>
          <a:p>
            <a:r>
              <a:rPr lang="en-US"/>
              <a:t>3. Managing Secrets</a:t>
            </a:r>
          </a:p>
        </p:txBody>
      </p:sp>
      <p:sp>
        <p:nvSpPr>
          <p:cNvPr id="4" name="Espace réservé du texte 3">
            <a:extLst>
              <a:ext uri="{FF2B5EF4-FFF2-40B4-BE49-F238E27FC236}">
                <a16:creationId xmlns:a16="http://schemas.microsoft.com/office/drawing/2014/main" id="{2E5F3267-4FFD-F9E4-2343-D7D274D621D8}"/>
              </a:ext>
            </a:extLst>
          </p:cNvPr>
          <p:cNvSpPr>
            <a:spLocks noGrp="1"/>
          </p:cNvSpPr>
          <p:nvPr>
            <p:ph type="body" sz="quarter" idx="15"/>
          </p:nvPr>
        </p:nvSpPr>
        <p:spPr/>
        <p:txBody>
          <a:bodyPr/>
          <a:lstStyle/>
          <a:p>
            <a:r>
              <a:rPr lang="en-US" dirty="0"/>
              <a:t>Sensitive Variables</a:t>
            </a:r>
          </a:p>
        </p:txBody>
      </p:sp>
    </p:spTree>
    <p:extLst>
      <p:ext uri="{BB962C8B-B14F-4D97-AF65-F5344CB8AC3E}">
        <p14:creationId xmlns:p14="http://schemas.microsoft.com/office/powerpoint/2010/main" val="42691892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3960341A-B52D-3F91-A665-3D973A8B04E7}"/>
              </a:ext>
            </a:extLst>
          </p:cNvPr>
          <p:cNvSpPr>
            <a:spLocks noGrp="1"/>
          </p:cNvSpPr>
          <p:nvPr>
            <p:ph sz="half" idx="1"/>
          </p:nvPr>
        </p:nvSpPr>
        <p:spPr/>
        <p:txBody>
          <a:bodyPr/>
          <a:lstStyle/>
          <a:p>
            <a:pPr marL="0" indent="0">
              <a:buNone/>
            </a:pPr>
            <a:r>
              <a:rPr lang="en-US" dirty="0"/>
              <a:t>You can create secrets in Secrets Manager and retrieve them dynamically in your Terraform configurations.</a:t>
            </a:r>
          </a:p>
          <a:p>
            <a:pPr marL="0" indent="0">
              <a:buNone/>
            </a:pPr>
            <a:r>
              <a:rPr lang="en-US" dirty="0"/>
              <a:t>This approach ensures that sensitive data is stored securely in AWS and can be rotated as needed.</a:t>
            </a:r>
          </a:p>
        </p:txBody>
      </p:sp>
      <p:sp>
        <p:nvSpPr>
          <p:cNvPr id="3" name="Espace réservé du contenu 2">
            <a:extLst>
              <a:ext uri="{FF2B5EF4-FFF2-40B4-BE49-F238E27FC236}">
                <a16:creationId xmlns:a16="http://schemas.microsoft.com/office/drawing/2014/main" id="{75E2053E-264F-B68B-5CCB-12A847E0581C}"/>
              </a:ext>
            </a:extLst>
          </p:cNvPr>
          <p:cNvSpPr>
            <a:spLocks noGrp="1"/>
          </p:cNvSpPr>
          <p:nvPr>
            <p:ph sz="half" idx="2"/>
          </p:nvPr>
        </p:nvSpPr>
        <p:spPr>
          <a:solidFill>
            <a:srgbClr val="3D2683"/>
          </a:solidFill>
        </p:spPr>
        <p:txBody>
          <a:bodyPr>
            <a:noAutofit/>
          </a:bodyPr>
          <a:lstStyle/>
          <a:p>
            <a:pPr marL="0" indent="0">
              <a:buNone/>
            </a:pPr>
            <a:r>
              <a:rPr lang="en-US" sz="1400" dirty="0">
                <a:solidFill>
                  <a:srgbClr val="4EC9B0"/>
                </a:solidFill>
                <a:effectLst/>
                <a:latin typeface="Consolas" panose="020B0609020204030204" pitchFamily="49" charset="0"/>
              </a:rPr>
              <a:t>data</a:t>
            </a:r>
            <a:r>
              <a:rPr lang="en-US" sz="1400" dirty="0">
                <a:solidFill>
                  <a:srgbClr val="D4D4D4"/>
                </a:solidFill>
                <a:effectLst/>
                <a:latin typeface="Consolas" panose="020B0609020204030204" pitchFamily="49" charset="0"/>
              </a:rPr>
              <a:t> </a:t>
            </a:r>
            <a:r>
              <a:rPr lang="en-US" sz="1400" dirty="0">
                <a:solidFill>
                  <a:srgbClr val="4FC1FF"/>
                </a:solidFill>
                <a:effectLst/>
                <a:latin typeface="Consolas" panose="020B0609020204030204" pitchFamily="49" charset="0"/>
              </a:rPr>
              <a:t>"</a:t>
            </a:r>
            <a:r>
              <a:rPr lang="en-US" sz="1400" dirty="0" err="1">
                <a:solidFill>
                  <a:srgbClr val="4FC1FF"/>
                </a:solidFill>
                <a:effectLst/>
                <a:latin typeface="Consolas" panose="020B0609020204030204" pitchFamily="49" charset="0"/>
              </a:rPr>
              <a:t>aws_secretsmanager_secret</a:t>
            </a:r>
            <a:r>
              <a:rPr lang="en-US" sz="1400" dirty="0">
                <a:solidFill>
                  <a:srgbClr val="4FC1FF"/>
                </a:solidFill>
                <a:effectLst/>
                <a:latin typeface="Consolas" panose="020B0609020204030204" pitchFamily="49" charset="0"/>
              </a:rPr>
              <a:t>"</a:t>
            </a:r>
            <a:r>
              <a:rPr lang="en-US" sz="1400" dirty="0">
                <a:solidFill>
                  <a:srgbClr val="D4D4D4"/>
                </a:solidFill>
                <a:effectLst/>
                <a:latin typeface="Consolas" panose="020B0609020204030204" pitchFamily="49" charset="0"/>
              </a:rPr>
              <a:t> </a:t>
            </a:r>
            <a:r>
              <a:rPr lang="en-US" sz="1400" dirty="0">
                <a:solidFill>
                  <a:srgbClr val="4FC1FF"/>
                </a:solidFill>
                <a:effectLst/>
                <a:latin typeface="Consolas" panose="020B0609020204030204" pitchFamily="49" charset="0"/>
              </a:rPr>
              <a:t>"</a:t>
            </a:r>
            <a:r>
              <a:rPr lang="en-US" sz="1400" dirty="0" err="1">
                <a:solidFill>
                  <a:srgbClr val="4FC1FF"/>
                </a:solidFill>
                <a:effectLst/>
                <a:latin typeface="Consolas" panose="020B0609020204030204" pitchFamily="49" charset="0"/>
              </a:rPr>
              <a:t>my_secret</a:t>
            </a:r>
            <a:r>
              <a:rPr lang="en-US" sz="1400" dirty="0">
                <a:solidFill>
                  <a:srgbClr val="4FC1FF"/>
                </a:solidFill>
                <a:effectLst/>
                <a:latin typeface="Consolas" panose="020B0609020204030204" pitchFamily="49" charset="0"/>
              </a:rPr>
              <a:t>"</a:t>
            </a:r>
            <a:r>
              <a:rPr lang="en-US" sz="1400" dirty="0">
                <a:solidFill>
                  <a:srgbClr val="D4D4D4"/>
                </a:solidFill>
                <a:effectLst/>
                <a:latin typeface="Consolas" panose="020B0609020204030204" pitchFamily="49" charset="0"/>
              </a:rPr>
              <a:t> {</a:t>
            </a:r>
          </a:p>
          <a:p>
            <a:pPr marL="0" indent="0">
              <a:buNone/>
            </a:pPr>
            <a:r>
              <a:rPr lang="en-US" sz="1400" dirty="0">
                <a:solidFill>
                  <a:srgbClr val="9CDCFE"/>
                </a:solidFill>
                <a:effectLst/>
                <a:latin typeface="Consolas" panose="020B0609020204030204" pitchFamily="49" charset="0"/>
              </a:rPr>
              <a:t>  name </a:t>
            </a:r>
            <a:r>
              <a:rPr lang="en-US" sz="1400" dirty="0">
                <a:solidFill>
                  <a:srgbClr val="D4D4D4"/>
                </a:solidFill>
                <a:effectLst/>
                <a:latin typeface="Consolas" panose="020B0609020204030204" pitchFamily="49" charset="0"/>
              </a:rPr>
              <a:t>=</a:t>
            </a:r>
            <a:r>
              <a:rPr lang="en-US" sz="1400" dirty="0">
                <a:solidFill>
                  <a:srgbClr val="9CDCFE"/>
                </a:solidFill>
                <a:effectLst/>
                <a:latin typeface="Consolas" panose="020B0609020204030204" pitchFamily="49" charset="0"/>
              </a:rPr>
              <a:t> </a:t>
            </a:r>
            <a:r>
              <a:rPr lang="en-US" sz="1400" dirty="0">
                <a:solidFill>
                  <a:srgbClr val="CE9178"/>
                </a:solidFill>
                <a:effectLst/>
                <a:latin typeface="Consolas" panose="020B0609020204030204" pitchFamily="49" charset="0"/>
              </a:rPr>
              <a:t>"my-secret"</a:t>
            </a:r>
            <a:endParaRPr lang="en-US" sz="1400" dirty="0">
              <a:solidFill>
                <a:srgbClr val="D4D4D4"/>
              </a:solidFill>
              <a:effectLst/>
              <a:latin typeface="Consolas" panose="020B0609020204030204" pitchFamily="49" charset="0"/>
            </a:endParaRPr>
          </a:p>
          <a:p>
            <a:pPr marL="0" indent="0">
              <a:buNone/>
            </a:pPr>
            <a:r>
              <a:rPr lang="en-US" sz="1400" dirty="0">
                <a:solidFill>
                  <a:srgbClr val="D4D4D4"/>
                </a:solidFill>
                <a:effectLst/>
                <a:latin typeface="Consolas" panose="020B0609020204030204" pitchFamily="49" charset="0"/>
              </a:rPr>
              <a:t>}</a:t>
            </a:r>
          </a:p>
          <a:p>
            <a:pPr marL="0" indent="0">
              <a:buNone/>
            </a:pPr>
            <a:br>
              <a:rPr lang="en-US" sz="1400" dirty="0">
                <a:solidFill>
                  <a:srgbClr val="D4D4D4"/>
                </a:solidFill>
                <a:effectLst/>
                <a:latin typeface="Consolas" panose="020B0609020204030204" pitchFamily="49" charset="0"/>
              </a:rPr>
            </a:br>
            <a:r>
              <a:rPr lang="en-US" sz="1400" dirty="0">
                <a:solidFill>
                  <a:srgbClr val="4EC9B0"/>
                </a:solidFill>
                <a:effectLst/>
                <a:latin typeface="Consolas" panose="020B0609020204030204" pitchFamily="49" charset="0"/>
              </a:rPr>
              <a:t>resource</a:t>
            </a:r>
            <a:r>
              <a:rPr lang="en-US" sz="1400" dirty="0">
                <a:solidFill>
                  <a:srgbClr val="D4D4D4"/>
                </a:solidFill>
                <a:effectLst/>
                <a:latin typeface="Consolas" panose="020B0609020204030204" pitchFamily="49" charset="0"/>
              </a:rPr>
              <a:t> </a:t>
            </a:r>
            <a:r>
              <a:rPr lang="en-US" sz="1400" dirty="0">
                <a:solidFill>
                  <a:srgbClr val="4FC1FF"/>
                </a:solidFill>
                <a:effectLst/>
                <a:latin typeface="Consolas" panose="020B0609020204030204" pitchFamily="49" charset="0"/>
              </a:rPr>
              <a:t>"</a:t>
            </a:r>
            <a:r>
              <a:rPr lang="en-US" sz="1400" dirty="0" err="1">
                <a:solidFill>
                  <a:srgbClr val="4FC1FF"/>
                </a:solidFill>
                <a:effectLst/>
                <a:latin typeface="Consolas" panose="020B0609020204030204" pitchFamily="49" charset="0"/>
              </a:rPr>
              <a:t>aws_ssm_parameter</a:t>
            </a:r>
            <a:r>
              <a:rPr lang="en-US" sz="1400" dirty="0">
                <a:solidFill>
                  <a:srgbClr val="4FC1FF"/>
                </a:solidFill>
                <a:effectLst/>
                <a:latin typeface="Consolas" panose="020B0609020204030204" pitchFamily="49" charset="0"/>
              </a:rPr>
              <a:t>"</a:t>
            </a:r>
            <a:r>
              <a:rPr lang="en-US" sz="1400" dirty="0">
                <a:solidFill>
                  <a:srgbClr val="D4D4D4"/>
                </a:solidFill>
                <a:effectLst/>
                <a:latin typeface="Consolas" panose="020B0609020204030204" pitchFamily="49" charset="0"/>
              </a:rPr>
              <a:t> </a:t>
            </a:r>
            <a:r>
              <a:rPr lang="en-US" sz="1400" dirty="0">
                <a:solidFill>
                  <a:srgbClr val="4FC1FF"/>
                </a:solidFill>
                <a:effectLst/>
                <a:latin typeface="Consolas" panose="020B0609020204030204" pitchFamily="49" charset="0"/>
              </a:rPr>
              <a:t>"</a:t>
            </a:r>
            <a:r>
              <a:rPr lang="en-US" sz="1400" dirty="0" err="1">
                <a:solidFill>
                  <a:srgbClr val="4FC1FF"/>
                </a:solidFill>
                <a:effectLst/>
                <a:latin typeface="Consolas" panose="020B0609020204030204" pitchFamily="49" charset="0"/>
              </a:rPr>
              <a:t>example_parameter</a:t>
            </a:r>
            <a:r>
              <a:rPr lang="en-US" sz="1400" dirty="0">
                <a:solidFill>
                  <a:srgbClr val="4FC1FF"/>
                </a:solidFill>
                <a:effectLst/>
                <a:latin typeface="Consolas" panose="020B0609020204030204" pitchFamily="49" charset="0"/>
              </a:rPr>
              <a:t>"</a:t>
            </a:r>
            <a:r>
              <a:rPr lang="en-US" sz="1400" dirty="0">
                <a:solidFill>
                  <a:srgbClr val="D4D4D4"/>
                </a:solidFill>
                <a:effectLst/>
                <a:latin typeface="Consolas" panose="020B0609020204030204" pitchFamily="49" charset="0"/>
              </a:rPr>
              <a:t> {</a:t>
            </a:r>
          </a:p>
          <a:p>
            <a:pPr marL="0" indent="0">
              <a:buNone/>
            </a:pPr>
            <a:r>
              <a:rPr lang="en-US" sz="1400" dirty="0">
                <a:solidFill>
                  <a:srgbClr val="9CDCFE"/>
                </a:solidFill>
                <a:effectLst/>
                <a:latin typeface="Consolas" panose="020B0609020204030204" pitchFamily="49" charset="0"/>
              </a:rPr>
              <a:t>  name </a:t>
            </a:r>
            <a:r>
              <a:rPr lang="en-US" sz="1400" dirty="0">
                <a:solidFill>
                  <a:srgbClr val="D4D4D4"/>
                </a:solidFill>
                <a:effectLst/>
                <a:latin typeface="Consolas" panose="020B0609020204030204" pitchFamily="49" charset="0"/>
              </a:rPr>
              <a:t>=</a:t>
            </a:r>
            <a:r>
              <a:rPr lang="en-US" sz="1400" dirty="0">
                <a:solidFill>
                  <a:srgbClr val="9CDCFE"/>
                </a:solidFill>
                <a:effectLst/>
                <a:latin typeface="Consolas" panose="020B0609020204030204" pitchFamily="49" charset="0"/>
              </a:rPr>
              <a:t> </a:t>
            </a:r>
            <a:r>
              <a:rPr lang="en-US" sz="1400" dirty="0">
                <a:solidFill>
                  <a:srgbClr val="CE9178"/>
                </a:solidFill>
                <a:effectLst/>
                <a:latin typeface="Consolas" panose="020B0609020204030204" pitchFamily="49" charset="0"/>
              </a:rPr>
              <a:t>"example-secret"</a:t>
            </a:r>
            <a:endParaRPr lang="en-US" sz="1400" dirty="0">
              <a:solidFill>
                <a:srgbClr val="D4D4D4"/>
              </a:solidFill>
              <a:effectLst/>
              <a:latin typeface="Consolas" panose="020B0609020204030204" pitchFamily="49" charset="0"/>
            </a:endParaRPr>
          </a:p>
          <a:p>
            <a:pPr marL="0" indent="0">
              <a:buNone/>
            </a:pPr>
            <a:r>
              <a:rPr lang="en-US" sz="1400" dirty="0">
                <a:solidFill>
                  <a:srgbClr val="9CDCFE"/>
                </a:solidFill>
                <a:effectLst/>
                <a:latin typeface="Consolas" panose="020B0609020204030204" pitchFamily="49" charset="0"/>
              </a:rPr>
              <a:t>  description </a:t>
            </a:r>
            <a:r>
              <a:rPr lang="en-US" sz="1400" dirty="0">
                <a:solidFill>
                  <a:srgbClr val="D4D4D4"/>
                </a:solidFill>
                <a:effectLst/>
                <a:latin typeface="Consolas" panose="020B0609020204030204" pitchFamily="49" charset="0"/>
              </a:rPr>
              <a:t>=</a:t>
            </a:r>
            <a:r>
              <a:rPr lang="en-US" sz="1400" dirty="0">
                <a:solidFill>
                  <a:srgbClr val="9CDCFE"/>
                </a:solidFill>
                <a:effectLst/>
                <a:latin typeface="Consolas" panose="020B0609020204030204" pitchFamily="49" charset="0"/>
              </a:rPr>
              <a:t> </a:t>
            </a:r>
            <a:r>
              <a:rPr lang="en-US" sz="1400" dirty="0">
                <a:solidFill>
                  <a:srgbClr val="CE9178"/>
                </a:solidFill>
                <a:effectLst/>
                <a:latin typeface="Consolas" panose="020B0609020204030204" pitchFamily="49" charset="0"/>
              </a:rPr>
              <a:t>"Example secret parameter"</a:t>
            </a:r>
            <a:endParaRPr lang="en-US" sz="1400" dirty="0">
              <a:solidFill>
                <a:srgbClr val="D4D4D4"/>
              </a:solidFill>
              <a:effectLst/>
              <a:latin typeface="Consolas" panose="020B0609020204030204" pitchFamily="49" charset="0"/>
            </a:endParaRPr>
          </a:p>
          <a:p>
            <a:pPr marL="0" indent="0">
              <a:buNone/>
            </a:pPr>
            <a:r>
              <a:rPr lang="en-US" sz="1400" dirty="0">
                <a:solidFill>
                  <a:srgbClr val="9CDCFE"/>
                </a:solidFill>
                <a:effectLst/>
                <a:latin typeface="Consolas" panose="020B0609020204030204" pitchFamily="49" charset="0"/>
              </a:rPr>
              <a:t>  type </a:t>
            </a:r>
            <a:r>
              <a:rPr lang="en-US" sz="1400" dirty="0">
                <a:solidFill>
                  <a:srgbClr val="D4D4D4"/>
                </a:solidFill>
                <a:effectLst/>
                <a:latin typeface="Consolas" panose="020B0609020204030204" pitchFamily="49" charset="0"/>
              </a:rPr>
              <a:t>=</a:t>
            </a:r>
            <a:r>
              <a:rPr lang="en-US" sz="1400" dirty="0">
                <a:solidFill>
                  <a:srgbClr val="9CDCFE"/>
                </a:solidFill>
                <a:effectLst/>
                <a:latin typeface="Consolas" panose="020B0609020204030204" pitchFamily="49" charset="0"/>
              </a:rPr>
              <a:t> </a:t>
            </a:r>
            <a:r>
              <a:rPr lang="en-US" sz="1400" dirty="0">
                <a:solidFill>
                  <a:srgbClr val="CE9178"/>
                </a:solidFill>
                <a:effectLst/>
                <a:latin typeface="Consolas" panose="020B0609020204030204" pitchFamily="49" charset="0"/>
              </a:rPr>
              <a:t>"</a:t>
            </a:r>
            <a:r>
              <a:rPr lang="en-US" sz="1400" dirty="0" err="1">
                <a:solidFill>
                  <a:srgbClr val="CE9178"/>
                </a:solidFill>
                <a:effectLst/>
                <a:latin typeface="Consolas" panose="020B0609020204030204" pitchFamily="49" charset="0"/>
              </a:rPr>
              <a:t>SecureString</a:t>
            </a:r>
            <a:r>
              <a:rPr lang="en-US" sz="1400" dirty="0">
                <a:solidFill>
                  <a:srgbClr val="CE9178"/>
                </a:solidFill>
                <a:effectLst/>
                <a:latin typeface="Consolas" panose="020B0609020204030204" pitchFamily="49" charset="0"/>
              </a:rPr>
              <a:t>"</a:t>
            </a:r>
            <a:endParaRPr lang="en-US" sz="1400" dirty="0">
              <a:solidFill>
                <a:srgbClr val="D4D4D4"/>
              </a:solidFill>
              <a:effectLst/>
              <a:latin typeface="Consolas" panose="020B0609020204030204" pitchFamily="49" charset="0"/>
            </a:endParaRPr>
          </a:p>
          <a:p>
            <a:pPr marL="0" indent="0">
              <a:buNone/>
            </a:pPr>
            <a:r>
              <a:rPr lang="en-US" sz="1400" dirty="0">
                <a:solidFill>
                  <a:srgbClr val="9CDCFE"/>
                </a:solidFill>
                <a:effectLst/>
                <a:latin typeface="Consolas" panose="020B0609020204030204" pitchFamily="49" charset="0"/>
              </a:rPr>
              <a:t>  value </a:t>
            </a:r>
            <a:r>
              <a:rPr lang="en-US" sz="1400" dirty="0">
                <a:solidFill>
                  <a:srgbClr val="D4D4D4"/>
                </a:solidFill>
                <a:effectLst/>
                <a:latin typeface="Consolas" panose="020B0609020204030204" pitchFamily="49" charset="0"/>
              </a:rPr>
              <a:t>=</a:t>
            </a:r>
            <a:r>
              <a:rPr lang="en-US" sz="1400" dirty="0">
                <a:solidFill>
                  <a:srgbClr val="9CDCFE"/>
                </a:solidFill>
                <a:effectLst/>
                <a:latin typeface="Consolas" panose="020B0609020204030204" pitchFamily="49" charset="0"/>
              </a:rPr>
              <a:t> </a:t>
            </a:r>
            <a:r>
              <a:rPr lang="en-US" sz="1400" dirty="0" err="1">
                <a:solidFill>
                  <a:srgbClr val="9CDCFE"/>
                </a:solidFill>
                <a:effectLst/>
                <a:latin typeface="Consolas" panose="020B0609020204030204" pitchFamily="49" charset="0"/>
              </a:rPr>
              <a:t>data</a:t>
            </a:r>
            <a:r>
              <a:rPr lang="en-US" sz="1400" dirty="0" err="1">
                <a:solidFill>
                  <a:srgbClr val="D4D4D4"/>
                </a:solidFill>
                <a:effectLst/>
                <a:latin typeface="Consolas" panose="020B0609020204030204" pitchFamily="49" charset="0"/>
              </a:rPr>
              <a:t>.</a:t>
            </a:r>
            <a:r>
              <a:rPr lang="en-US" sz="1400" dirty="0" err="1">
                <a:solidFill>
                  <a:srgbClr val="9CDCFE"/>
                </a:solidFill>
                <a:effectLst/>
                <a:latin typeface="Consolas" panose="020B0609020204030204" pitchFamily="49" charset="0"/>
              </a:rPr>
              <a:t>aws_secretsmanager_secret</a:t>
            </a:r>
            <a:r>
              <a:rPr lang="en-US" sz="1400" dirty="0" err="1">
                <a:solidFill>
                  <a:srgbClr val="D4D4D4"/>
                </a:solidFill>
                <a:effectLst/>
                <a:latin typeface="Consolas" panose="020B0609020204030204" pitchFamily="49" charset="0"/>
              </a:rPr>
              <a:t>.</a:t>
            </a:r>
            <a:r>
              <a:rPr lang="en-US" sz="1400" dirty="0" err="1">
                <a:solidFill>
                  <a:srgbClr val="9CDCFE"/>
                </a:solidFill>
                <a:effectLst/>
                <a:latin typeface="Consolas" panose="020B0609020204030204" pitchFamily="49" charset="0"/>
              </a:rPr>
              <a:t>my_secret</a:t>
            </a:r>
            <a:endParaRPr lang="en-US" sz="1400" dirty="0">
              <a:solidFill>
                <a:srgbClr val="9CDCFE"/>
              </a:solidFill>
              <a:effectLst/>
              <a:latin typeface="Consolas" panose="020B0609020204030204" pitchFamily="49" charset="0"/>
            </a:endParaRPr>
          </a:p>
          <a:p>
            <a:pPr marL="0" indent="0">
              <a:buNone/>
            </a:pPr>
            <a:r>
              <a:rPr lang="en-US" sz="1400" dirty="0">
                <a:solidFill>
                  <a:srgbClr val="9CDCFE"/>
                </a:solidFill>
                <a:latin typeface="Consolas" panose="020B0609020204030204" pitchFamily="49" charset="0"/>
              </a:rPr>
              <a:t>          </a:t>
            </a:r>
            <a:r>
              <a:rPr lang="en-US" sz="1400" dirty="0">
                <a:solidFill>
                  <a:srgbClr val="D4D4D4"/>
                </a:solidFill>
                <a:effectLst/>
                <a:latin typeface="Consolas" panose="020B0609020204030204" pitchFamily="49" charset="0"/>
              </a:rPr>
              <a:t>.</a:t>
            </a:r>
            <a:r>
              <a:rPr lang="en-US" sz="1400" dirty="0" err="1">
                <a:solidFill>
                  <a:srgbClr val="9CDCFE"/>
                </a:solidFill>
                <a:effectLst/>
                <a:latin typeface="Consolas" panose="020B0609020204030204" pitchFamily="49" charset="0"/>
              </a:rPr>
              <a:t>secret_string</a:t>
            </a:r>
            <a:endParaRPr lang="en-US" sz="1400" dirty="0">
              <a:solidFill>
                <a:srgbClr val="D4D4D4"/>
              </a:solidFill>
              <a:effectLst/>
              <a:latin typeface="Consolas" panose="020B0609020204030204" pitchFamily="49" charset="0"/>
            </a:endParaRPr>
          </a:p>
          <a:p>
            <a:pPr marL="0" indent="0">
              <a:buNone/>
            </a:pPr>
            <a:r>
              <a:rPr lang="en-US" sz="1400" dirty="0">
                <a:solidFill>
                  <a:srgbClr val="D4D4D4"/>
                </a:solidFill>
                <a:effectLst/>
                <a:latin typeface="Consolas" panose="020B0609020204030204" pitchFamily="49" charset="0"/>
              </a:rPr>
              <a:t>}</a:t>
            </a:r>
          </a:p>
          <a:p>
            <a:pPr marL="0" indent="0">
              <a:buNone/>
            </a:pPr>
            <a:endParaRPr lang="en-US" sz="1400" dirty="0">
              <a:solidFill>
                <a:srgbClr val="D4D4D4"/>
              </a:solidFill>
              <a:effectLst/>
              <a:latin typeface="Consolas" panose="020B0609020204030204" pitchFamily="49" charset="0"/>
            </a:endParaRPr>
          </a:p>
        </p:txBody>
      </p:sp>
      <p:sp>
        <p:nvSpPr>
          <p:cNvPr id="4" name="Espace réservé du texte 3">
            <a:extLst>
              <a:ext uri="{FF2B5EF4-FFF2-40B4-BE49-F238E27FC236}">
                <a16:creationId xmlns:a16="http://schemas.microsoft.com/office/drawing/2014/main" id="{C0C46FCA-C7CA-9EA1-79B3-C25A25068FA5}"/>
              </a:ext>
            </a:extLst>
          </p:cNvPr>
          <p:cNvSpPr>
            <a:spLocks noGrp="1"/>
          </p:cNvSpPr>
          <p:nvPr>
            <p:ph type="body" sz="quarter" idx="14"/>
          </p:nvPr>
        </p:nvSpPr>
        <p:spPr/>
        <p:txBody>
          <a:bodyPr vert="horz" lIns="91440" tIns="45720" rIns="91440" bIns="45720" rtlCol="0" anchor="t">
            <a:noAutofit/>
          </a:bodyPr>
          <a:lstStyle/>
          <a:p>
            <a:r>
              <a:rPr lang="en-US"/>
              <a:t>3. Managing Secrets</a:t>
            </a:r>
          </a:p>
        </p:txBody>
      </p:sp>
      <p:sp>
        <p:nvSpPr>
          <p:cNvPr id="5" name="Espace réservé du texte 4">
            <a:extLst>
              <a:ext uri="{FF2B5EF4-FFF2-40B4-BE49-F238E27FC236}">
                <a16:creationId xmlns:a16="http://schemas.microsoft.com/office/drawing/2014/main" id="{27D13299-B5BF-D26C-7B6C-B4EDED8BF3FE}"/>
              </a:ext>
            </a:extLst>
          </p:cNvPr>
          <p:cNvSpPr>
            <a:spLocks noGrp="1"/>
          </p:cNvSpPr>
          <p:nvPr>
            <p:ph type="body" sz="quarter" idx="15"/>
          </p:nvPr>
        </p:nvSpPr>
        <p:spPr/>
        <p:txBody>
          <a:bodyPr/>
          <a:lstStyle/>
          <a:p>
            <a:r>
              <a:rPr lang="en-US" dirty="0"/>
              <a:t>AWS Secrets Manager</a:t>
            </a:r>
          </a:p>
        </p:txBody>
      </p:sp>
    </p:spTree>
    <p:extLst>
      <p:ext uri="{BB962C8B-B14F-4D97-AF65-F5344CB8AC3E}">
        <p14:creationId xmlns:p14="http://schemas.microsoft.com/office/powerpoint/2010/main" val="23013498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B4122483-D7CD-B882-0D01-7B1AB9B6465E}"/>
              </a:ext>
            </a:extLst>
          </p:cNvPr>
          <p:cNvSpPr>
            <a:spLocks noGrp="1"/>
          </p:cNvSpPr>
          <p:nvPr>
            <p:ph idx="1"/>
          </p:nvPr>
        </p:nvSpPr>
        <p:spPr/>
        <p:txBody>
          <a:bodyPr/>
          <a:lstStyle/>
          <a:p>
            <a:pPr marL="0" indent="0">
              <a:buNone/>
            </a:pPr>
            <a:r>
              <a:rPr lang="en-US" dirty="0"/>
              <a:t>Depending on your infrastructure and cloud provider, consider third-party solutions designed for secret management and encryption, such as:</a:t>
            </a:r>
          </a:p>
          <a:p>
            <a:r>
              <a:rPr lang="en-US" dirty="0"/>
              <a:t>AWS KMS</a:t>
            </a:r>
          </a:p>
          <a:p>
            <a:r>
              <a:rPr lang="en-US" dirty="0"/>
              <a:t>GCP KMS</a:t>
            </a:r>
          </a:p>
          <a:p>
            <a:r>
              <a:rPr lang="en-US" dirty="0"/>
              <a:t>Azure Key Vault</a:t>
            </a:r>
          </a:p>
          <a:p>
            <a:r>
              <a:rPr lang="en-US" dirty="0" err="1"/>
              <a:t>HashiCorp</a:t>
            </a:r>
            <a:r>
              <a:rPr lang="en-US" dirty="0"/>
              <a:t> Vault, which can be integrated into your Terraform workflows.</a:t>
            </a:r>
          </a:p>
        </p:txBody>
      </p:sp>
      <p:sp>
        <p:nvSpPr>
          <p:cNvPr id="3" name="Espace réservé du texte 2">
            <a:extLst>
              <a:ext uri="{FF2B5EF4-FFF2-40B4-BE49-F238E27FC236}">
                <a16:creationId xmlns:a16="http://schemas.microsoft.com/office/drawing/2014/main" id="{9D0346D2-F815-9637-874C-148F1F1A6107}"/>
              </a:ext>
            </a:extLst>
          </p:cNvPr>
          <p:cNvSpPr>
            <a:spLocks noGrp="1"/>
          </p:cNvSpPr>
          <p:nvPr>
            <p:ph type="body" sz="quarter" idx="14"/>
          </p:nvPr>
        </p:nvSpPr>
        <p:spPr/>
        <p:txBody>
          <a:bodyPr vert="horz" lIns="91440" tIns="45720" rIns="91440" bIns="45720" rtlCol="0" anchor="t">
            <a:noAutofit/>
          </a:bodyPr>
          <a:lstStyle/>
          <a:p>
            <a:r>
              <a:rPr lang="en-US"/>
              <a:t>3. Managing Secrets</a:t>
            </a:r>
          </a:p>
        </p:txBody>
      </p:sp>
      <p:sp>
        <p:nvSpPr>
          <p:cNvPr id="4" name="Espace réservé du texte 3">
            <a:extLst>
              <a:ext uri="{FF2B5EF4-FFF2-40B4-BE49-F238E27FC236}">
                <a16:creationId xmlns:a16="http://schemas.microsoft.com/office/drawing/2014/main" id="{65E76947-97C3-BA91-E1D8-9872DE5D6E17}"/>
              </a:ext>
            </a:extLst>
          </p:cNvPr>
          <p:cNvSpPr>
            <a:spLocks noGrp="1"/>
          </p:cNvSpPr>
          <p:nvPr>
            <p:ph type="body" sz="quarter" idx="15"/>
          </p:nvPr>
        </p:nvSpPr>
        <p:spPr>
          <a:xfrm>
            <a:off x="838200" y="1352782"/>
            <a:ext cx="10441597" cy="424732"/>
          </a:xfrm>
        </p:spPr>
        <p:txBody>
          <a:bodyPr/>
          <a:lstStyle/>
          <a:p>
            <a:r>
              <a:rPr lang="en-US" dirty="0"/>
              <a:t>Third-Party Solutions</a:t>
            </a:r>
          </a:p>
        </p:txBody>
      </p:sp>
    </p:spTree>
    <p:extLst>
      <p:ext uri="{BB962C8B-B14F-4D97-AF65-F5344CB8AC3E}">
        <p14:creationId xmlns:p14="http://schemas.microsoft.com/office/powerpoint/2010/main" val="23155380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8AD7D0D6-4956-BECC-A810-FCCEF2EDFFD6}"/>
              </a:ext>
            </a:extLst>
          </p:cNvPr>
          <p:cNvSpPr>
            <a:spLocks noGrp="1"/>
          </p:cNvSpPr>
          <p:nvPr>
            <p:ph type="body" sz="quarter" idx="10"/>
          </p:nvPr>
        </p:nvSpPr>
        <p:spPr/>
        <p:txBody>
          <a:bodyPr vert="horz" lIns="91440" tIns="45720" rIns="91440" bIns="45720" rtlCol="0" anchor="t">
            <a:normAutofit/>
          </a:bodyPr>
          <a:lstStyle/>
          <a:p>
            <a:pPr marL="0" indent="0">
              <a:buNone/>
            </a:pPr>
            <a:r>
              <a:rPr lang="en-US"/>
              <a:t>3. Managing Secrets</a:t>
            </a:r>
          </a:p>
        </p:txBody>
      </p:sp>
    </p:spTree>
    <p:extLst>
      <p:ext uri="{BB962C8B-B14F-4D97-AF65-F5344CB8AC3E}">
        <p14:creationId xmlns:p14="http://schemas.microsoft.com/office/powerpoint/2010/main" val="29625971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AB00CD53-20D5-44F6-55E0-0892C820DCE6}"/>
              </a:ext>
            </a:extLst>
          </p:cNvPr>
          <p:cNvSpPr>
            <a:spLocks noGrp="1"/>
          </p:cNvSpPr>
          <p:nvPr>
            <p:ph type="body" sz="quarter" idx="10"/>
          </p:nvPr>
        </p:nvSpPr>
        <p:spPr/>
        <p:txBody>
          <a:bodyPr>
            <a:normAutofit/>
          </a:bodyPr>
          <a:lstStyle/>
          <a:p>
            <a:r>
              <a:rPr lang="en-US"/>
              <a:t>4. Infrastructure Drift</a:t>
            </a:r>
          </a:p>
        </p:txBody>
      </p:sp>
    </p:spTree>
    <p:extLst>
      <p:ext uri="{BB962C8B-B14F-4D97-AF65-F5344CB8AC3E}">
        <p14:creationId xmlns:p14="http://schemas.microsoft.com/office/powerpoint/2010/main" val="39179786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89DDDE75-E79C-99D6-EE2A-1F97DF925C86}"/>
              </a:ext>
            </a:extLst>
          </p:cNvPr>
          <p:cNvSpPr>
            <a:spLocks noGrp="1"/>
          </p:cNvSpPr>
          <p:nvPr>
            <p:ph idx="1"/>
          </p:nvPr>
        </p:nvSpPr>
        <p:spPr/>
        <p:txBody>
          <a:bodyPr/>
          <a:lstStyle/>
          <a:p>
            <a:pPr marL="0" indent="0">
              <a:buNone/>
            </a:pPr>
            <a:r>
              <a:rPr lang="en-US" dirty="0"/>
              <a:t>Consider a scenario where you have defined your infrastructure using </a:t>
            </a:r>
            <a:r>
              <a:rPr lang="en-US" dirty="0" err="1"/>
              <a:t>IaC</a:t>
            </a:r>
            <a:r>
              <a:rPr lang="en-US" dirty="0"/>
              <a:t> tools like Terraform.</a:t>
            </a:r>
          </a:p>
          <a:p>
            <a:pPr marL="0" indent="0">
              <a:buNone/>
            </a:pPr>
            <a:r>
              <a:rPr lang="en-US" dirty="0"/>
              <a:t>You've declared in your code that you want two web servers, a load balancer, and a database server.</a:t>
            </a:r>
          </a:p>
          <a:p>
            <a:pPr marL="0" indent="0">
              <a:buNone/>
            </a:pPr>
            <a:r>
              <a:rPr lang="en-US" dirty="0"/>
              <a:t>This configuration is deployed, and everything is running smoothly.</a:t>
            </a:r>
          </a:p>
        </p:txBody>
      </p:sp>
      <p:sp>
        <p:nvSpPr>
          <p:cNvPr id="3" name="Espace réservé du texte 2">
            <a:extLst>
              <a:ext uri="{FF2B5EF4-FFF2-40B4-BE49-F238E27FC236}">
                <a16:creationId xmlns:a16="http://schemas.microsoft.com/office/drawing/2014/main" id="{552A1DE9-C015-26FA-DC04-3E9A81478E79}"/>
              </a:ext>
            </a:extLst>
          </p:cNvPr>
          <p:cNvSpPr>
            <a:spLocks noGrp="1"/>
          </p:cNvSpPr>
          <p:nvPr>
            <p:ph type="body" sz="quarter" idx="14"/>
          </p:nvPr>
        </p:nvSpPr>
        <p:spPr/>
        <p:txBody>
          <a:bodyPr vert="horz" lIns="91440" tIns="45720" rIns="91440" bIns="45720" rtlCol="0" anchor="t">
            <a:noAutofit/>
          </a:bodyPr>
          <a:lstStyle/>
          <a:p>
            <a:r>
              <a:rPr lang="en-US"/>
              <a:t>4. Infrastructure Drift</a:t>
            </a:r>
          </a:p>
        </p:txBody>
      </p:sp>
      <p:sp>
        <p:nvSpPr>
          <p:cNvPr id="4" name="Espace réservé du texte 3">
            <a:extLst>
              <a:ext uri="{FF2B5EF4-FFF2-40B4-BE49-F238E27FC236}">
                <a16:creationId xmlns:a16="http://schemas.microsoft.com/office/drawing/2014/main" id="{CEF001A4-3AD8-D6B5-74CF-E4CE499D6035}"/>
              </a:ext>
            </a:extLst>
          </p:cNvPr>
          <p:cNvSpPr>
            <a:spLocks noGrp="1"/>
          </p:cNvSpPr>
          <p:nvPr>
            <p:ph type="body" sz="quarter" idx="15"/>
          </p:nvPr>
        </p:nvSpPr>
        <p:spPr/>
        <p:txBody>
          <a:bodyPr/>
          <a:lstStyle/>
          <a:p>
            <a:r>
              <a:rPr lang="en-US" dirty="0"/>
              <a:t>Everything was running smoothly…</a:t>
            </a:r>
          </a:p>
        </p:txBody>
      </p:sp>
    </p:spTree>
    <p:extLst>
      <p:ext uri="{BB962C8B-B14F-4D97-AF65-F5344CB8AC3E}">
        <p14:creationId xmlns:p14="http://schemas.microsoft.com/office/powerpoint/2010/main" val="21230701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89DDDE75-E79C-99D6-EE2A-1F97DF925C86}"/>
              </a:ext>
            </a:extLst>
          </p:cNvPr>
          <p:cNvSpPr>
            <a:spLocks noGrp="1"/>
          </p:cNvSpPr>
          <p:nvPr>
            <p:ph idx="1"/>
          </p:nvPr>
        </p:nvSpPr>
        <p:spPr/>
        <p:txBody>
          <a:bodyPr/>
          <a:lstStyle/>
          <a:p>
            <a:pPr marL="0" indent="0">
              <a:buNone/>
            </a:pPr>
            <a:r>
              <a:rPr lang="en-US" dirty="0"/>
              <a:t>Due to an urgent production issue, a team member manually scales up the number of web servers to three without updating the </a:t>
            </a:r>
            <a:r>
              <a:rPr lang="en-US" dirty="0" err="1"/>
              <a:t>IaC</a:t>
            </a:r>
            <a:r>
              <a:rPr lang="en-US" dirty="0"/>
              <a:t> code.</a:t>
            </a:r>
          </a:p>
          <a:p>
            <a:pPr marL="0" indent="0">
              <a:buNone/>
            </a:pPr>
            <a:r>
              <a:rPr lang="en-US" dirty="0"/>
              <a:t>Additionally, a database parameter group setting is modified directly in the AWS Management Console to optimize performance.</a:t>
            </a:r>
          </a:p>
          <a:p>
            <a:pPr marL="0" indent="0">
              <a:buNone/>
            </a:pPr>
            <a:endParaRPr lang="en-US" dirty="0"/>
          </a:p>
          <a:p>
            <a:pPr marL="0" indent="0">
              <a:buNone/>
            </a:pPr>
            <a:r>
              <a:rPr lang="en-US" dirty="0"/>
              <a:t>Now, your actual infrastructure is in a different state from what's defined in your </a:t>
            </a:r>
            <a:r>
              <a:rPr lang="en-US" dirty="0" err="1"/>
              <a:t>IaC</a:t>
            </a:r>
            <a:r>
              <a:rPr lang="en-US" dirty="0"/>
              <a:t> code. This situation represents </a:t>
            </a:r>
            <a:r>
              <a:rPr lang="en-US" b="1" dirty="0"/>
              <a:t>infrastructure drift</a:t>
            </a:r>
            <a:r>
              <a:rPr lang="en-US" dirty="0"/>
              <a:t>.</a:t>
            </a:r>
          </a:p>
        </p:txBody>
      </p:sp>
      <p:sp>
        <p:nvSpPr>
          <p:cNvPr id="3" name="Espace réservé du texte 2">
            <a:extLst>
              <a:ext uri="{FF2B5EF4-FFF2-40B4-BE49-F238E27FC236}">
                <a16:creationId xmlns:a16="http://schemas.microsoft.com/office/drawing/2014/main" id="{552A1DE9-C015-26FA-DC04-3E9A81478E79}"/>
              </a:ext>
            </a:extLst>
          </p:cNvPr>
          <p:cNvSpPr>
            <a:spLocks noGrp="1"/>
          </p:cNvSpPr>
          <p:nvPr>
            <p:ph type="body" sz="quarter" idx="14"/>
          </p:nvPr>
        </p:nvSpPr>
        <p:spPr/>
        <p:txBody>
          <a:bodyPr vert="horz" lIns="91440" tIns="45720" rIns="91440" bIns="45720" rtlCol="0" anchor="t">
            <a:noAutofit/>
          </a:bodyPr>
          <a:lstStyle/>
          <a:p>
            <a:r>
              <a:rPr lang="en-US"/>
              <a:t>4. Infrastructure Drift</a:t>
            </a:r>
          </a:p>
        </p:txBody>
      </p:sp>
      <p:sp>
        <p:nvSpPr>
          <p:cNvPr id="4" name="Espace réservé du texte 3">
            <a:extLst>
              <a:ext uri="{FF2B5EF4-FFF2-40B4-BE49-F238E27FC236}">
                <a16:creationId xmlns:a16="http://schemas.microsoft.com/office/drawing/2014/main" id="{CEF001A4-3AD8-D6B5-74CF-E4CE499D6035}"/>
              </a:ext>
            </a:extLst>
          </p:cNvPr>
          <p:cNvSpPr>
            <a:spLocks noGrp="1"/>
          </p:cNvSpPr>
          <p:nvPr>
            <p:ph type="body" sz="quarter" idx="15"/>
          </p:nvPr>
        </p:nvSpPr>
        <p:spPr/>
        <p:txBody>
          <a:bodyPr/>
          <a:lstStyle/>
          <a:p>
            <a:r>
              <a:rPr lang="en-US" dirty="0"/>
              <a:t>…until</a:t>
            </a:r>
          </a:p>
        </p:txBody>
      </p:sp>
    </p:spTree>
    <p:extLst>
      <p:ext uri="{BB962C8B-B14F-4D97-AF65-F5344CB8AC3E}">
        <p14:creationId xmlns:p14="http://schemas.microsoft.com/office/powerpoint/2010/main" val="37404438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AACFE3DF-8D76-53AE-0615-406CB05471CC}"/>
              </a:ext>
            </a:extLst>
          </p:cNvPr>
          <p:cNvSpPr>
            <a:spLocks noGrp="1"/>
          </p:cNvSpPr>
          <p:nvPr>
            <p:ph idx="1"/>
          </p:nvPr>
        </p:nvSpPr>
        <p:spPr/>
        <p:txBody>
          <a:bodyPr/>
          <a:lstStyle/>
          <a:p>
            <a:r>
              <a:rPr lang="en-US" b="1" dirty="0"/>
              <a:t>Terraform plan</a:t>
            </a:r>
          </a:p>
          <a:p>
            <a:pPr marL="457200" lvl="1" indent="0">
              <a:buNone/>
            </a:pPr>
            <a:r>
              <a:rPr lang="en-US" dirty="0"/>
              <a:t>This command highlights the changes that would be applied to the infrastructure to bring it in line with the desired state defined in your Terraform configuration.</a:t>
            </a:r>
          </a:p>
          <a:p>
            <a:r>
              <a:rPr lang="en-US" b="1" dirty="0"/>
              <a:t>Automated Testing for Detection</a:t>
            </a:r>
          </a:p>
          <a:p>
            <a:pPr marL="457200" lvl="1" indent="0">
              <a:buNone/>
            </a:pPr>
            <a:r>
              <a:rPr lang="en-US" dirty="0"/>
              <a:t>Implement automated tests specifically designed to identify discrepancies between the desired and actual states, helping to detect drift incidents proactively.</a:t>
            </a:r>
          </a:p>
          <a:p>
            <a:endParaRPr lang="en-US" dirty="0"/>
          </a:p>
        </p:txBody>
      </p:sp>
      <p:sp>
        <p:nvSpPr>
          <p:cNvPr id="3" name="Espace réservé du texte 2">
            <a:extLst>
              <a:ext uri="{FF2B5EF4-FFF2-40B4-BE49-F238E27FC236}">
                <a16:creationId xmlns:a16="http://schemas.microsoft.com/office/drawing/2014/main" id="{EC8978AA-CD53-D327-A041-6E2E1838581A}"/>
              </a:ext>
            </a:extLst>
          </p:cNvPr>
          <p:cNvSpPr>
            <a:spLocks noGrp="1"/>
          </p:cNvSpPr>
          <p:nvPr>
            <p:ph type="body" sz="quarter" idx="14"/>
          </p:nvPr>
        </p:nvSpPr>
        <p:spPr/>
        <p:txBody>
          <a:bodyPr vert="horz" lIns="91440" tIns="45720" rIns="91440" bIns="45720" rtlCol="0" anchor="t">
            <a:noAutofit/>
          </a:bodyPr>
          <a:lstStyle/>
          <a:p>
            <a:r>
              <a:rPr lang="en-US"/>
              <a:t>4. Infrastructure Drift</a:t>
            </a:r>
          </a:p>
        </p:txBody>
      </p:sp>
      <p:sp>
        <p:nvSpPr>
          <p:cNvPr id="4" name="Espace réservé du texte 3">
            <a:extLst>
              <a:ext uri="{FF2B5EF4-FFF2-40B4-BE49-F238E27FC236}">
                <a16:creationId xmlns:a16="http://schemas.microsoft.com/office/drawing/2014/main" id="{0BA6F764-AB1A-DFD2-6155-58C6FC9C3283}"/>
              </a:ext>
            </a:extLst>
          </p:cNvPr>
          <p:cNvSpPr>
            <a:spLocks noGrp="1"/>
          </p:cNvSpPr>
          <p:nvPr>
            <p:ph type="body" sz="quarter" idx="15"/>
          </p:nvPr>
        </p:nvSpPr>
        <p:spPr/>
        <p:txBody>
          <a:bodyPr/>
          <a:lstStyle/>
          <a:p>
            <a:r>
              <a:rPr lang="en-US" dirty="0"/>
              <a:t>Monitoring / Detecting drift</a:t>
            </a:r>
          </a:p>
        </p:txBody>
      </p:sp>
    </p:spTree>
    <p:extLst>
      <p:ext uri="{BB962C8B-B14F-4D97-AF65-F5344CB8AC3E}">
        <p14:creationId xmlns:p14="http://schemas.microsoft.com/office/powerpoint/2010/main" val="19429651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AACFE3DF-8D76-53AE-0615-406CB05471CC}"/>
              </a:ext>
            </a:extLst>
          </p:cNvPr>
          <p:cNvSpPr>
            <a:spLocks noGrp="1"/>
          </p:cNvSpPr>
          <p:nvPr>
            <p:ph idx="1"/>
          </p:nvPr>
        </p:nvSpPr>
        <p:spPr/>
        <p:txBody>
          <a:bodyPr>
            <a:normAutofit fontScale="92500" lnSpcReduction="20000"/>
          </a:bodyPr>
          <a:lstStyle/>
          <a:p>
            <a:r>
              <a:rPr lang="en-US" b="1" dirty="0"/>
              <a:t>Conflict Resolution in State Management</a:t>
            </a:r>
          </a:p>
          <a:p>
            <a:pPr marL="457200" lvl="1" indent="0">
              <a:buNone/>
            </a:pPr>
            <a:r>
              <a:rPr lang="en-US" dirty="0"/>
              <a:t>Address state conflicts and inconsistencies to correct drift, ensuring infrastructure aligns with the desired state.</a:t>
            </a:r>
          </a:p>
          <a:p>
            <a:r>
              <a:rPr lang="en-US" b="1" dirty="0"/>
              <a:t>Import Untracked Resources</a:t>
            </a:r>
          </a:p>
          <a:p>
            <a:pPr marL="457200" lvl="1" indent="0">
              <a:buNone/>
            </a:pPr>
            <a:r>
              <a:rPr lang="en-US" dirty="0"/>
              <a:t>Using </a:t>
            </a:r>
            <a:r>
              <a:rPr lang="en-US" dirty="0">
                <a:latin typeface="Consolas" panose="020B0609020204030204" pitchFamily="49" charset="0"/>
                <a:cs typeface="Consolas" panose="020B0609020204030204" pitchFamily="49" charset="0"/>
              </a:rPr>
              <a:t>terraform import</a:t>
            </a:r>
            <a:r>
              <a:rPr lang="en-US" dirty="0"/>
              <a:t> feature can help correct infrastructure drift by allowing you to associate existing remote resources with your Terraform configuration.</a:t>
            </a:r>
          </a:p>
          <a:p>
            <a:r>
              <a:rPr lang="en-US" b="1" dirty="0"/>
              <a:t>Continuous Reconciliation Processes</a:t>
            </a:r>
          </a:p>
          <a:p>
            <a:pPr marL="457200" lvl="1" indent="0">
              <a:buNone/>
            </a:pPr>
            <a:r>
              <a:rPr lang="en-US" dirty="0"/>
              <a:t>Implement reconciliation processes that continuously compare the actual state to the desired state, allowing for corrective actions when discrepancies are detected.</a:t>
            </a:r>
          </a:p>
          <a:p>
            <a:r>
              <a:rPr lang="en-US" b="1" dirty="0"/>
              <a:t>Rollback Strategies</a:t>
            </a:r>
          </a:p>
          <a:p>
            <a:pPr marL="457200" lvl="1" indent="0">
              <a:buNone/>
            </a:pPr>
            <a:r>
              <a:rPr lang="en-US" dirty="0"/>
              <a:t>Establish rollback mechanisms that can undo changes that introduced drift, restoring the infrastructure to a known stable state.</a:t>
            </a:r>
          </a:p>
          <a:p>
            <a:pPr marL="0" indent="0">
              <a:buNone/>
            </a:pPr>
            <a:endParaRPr lang="en-US" dirty="0"/>
          </a:p>
        </p:txBody>
      </p:sp>
      <p:sp>
        <p:nvSpPr>
          <p:cNvPr id="3" name="Espace réservé du texte 2">
            <a:extLst>
              <a:ext uri="{FF2B5EF4-FFF2-40B4-BE49-F238E27FC236}">
                <a16:creationId xmlns:a16="http://schemas.microsoft.com/office/drawing/2014/main" id="{EC8978AA-CD53-D327-A041-6E2E1838581A}"/>
              </a:ext>
            </a:extLst>
          </p:cNvPr>
          <p:cNvSpPr>
            <a:spLocks noGrp="1"/>
          </p:cNvSpPr>
          <p:nvPr>
            <p:ph type="body" sz="quarter" idx="14"/>
          </p:nvPr>
        </p:nvSpPr>
        <p:spPr/>
        <p:txBody>
          <a:bodyPr vert="horz" lIns="91440" tIns="45720" rIns="91440" bIns="45720" rtlCol="0" anchor="t">
            <a:noAutofit/>
          </a:bodyPr>
          <a:lstStyle/>
          <a:p>
            <a:r>
              <a:rPr lang="en-US"/>
              <a:t>4. Infrastructure Drift</a:t>
            </a:r>
          </a:p>
        </p:txBody>
      </p:sp>
      <p:sp>
        <p:nvSpPr>
          <p:cNvPr id="4" name="Espace réservé du texte 3">
            <a:extLst>
              <a:ext uri="{FF2B5EF4-FFF2-40B4-BE49-F238E27FC236}">
                <a16:creationId xmlns:a16="http://schemas.microsoft.com/office/drawing/2014/main" id="{0BA6F764-AB1A-DFD2-6155-58C6FC9C3283}"/>
              </a:ext>
            </a:extLst>
          </p:cNvPr>
          <p:cNvSpPr>
            <a:spLocks noGrp="1"/>
          </p:cNvSpPr>
          <p:nvPr>
            <p:ph type="body" sz="quarter" idx="15"/>
          </p:nvPr>
        </p:nvSpPr>
        <p:spPr/>
        <p:txBody>
          <a:bodyPr/>
          <a:lstStyle/>
          <a:p>
            <a:r>
              <a:rPr lang="en-US" dirty="0"/>
              <a:t>Corrective Measures</a:t>
            </a:r>
          </a:p>
        </p:txBody>
      </p:sp>
    </p:spTree>
    <p:extLst>
      <p:ext uri="{BB962C8B-B14F-4D97-AF65-F5344CB8AC3E}">
        <p14:creationId xmlns:p14="http://schemas.microsoft.com/office/powerpoint/2010/main" val="29463738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AACFE3DF-8D76-53AE-0615-406CB05471CC}"/>
              </a:ext>
            </a:extLst>
          </p:cNvPr>
          <p:cNvSpPr>
            <a:spLocks noGrp="1"/>
          </p:cNvSpPr>
          <p:nvPr>
            <p:ph idx="1"/>
          </p:nvPr>
        </p:nvSpPr>
        <p:spPr/>
        <p:txBody>
          <a:bodyPr>
            <a:normAutofit/>
          </a:bodyPr>
          <a:lstStyle/>
          <a:p>
            <a:r>
              <a:rPr lang="en-US" b="1" dirty="0"/>
              <a:t>Frequent Terraform Runs</a:t>
            </a:r>
          </a:p>
          <a:p>
            <a:pPr marL="457200" lvl="1" indent="0">
              <a:buNone/>
            </a:pPr>
            <a:r>
              <a:rPr lang="en-US" dirty="0"/>
              <a:t>Prevent drift by running Terraform frequently, ensuring that infrastructure stays aligned with the desired configuration.</a:t>
            </a:r>
          </a:p>
          <a:p>
            <a:r>
              <a:rPr lang="en-US" b="1" dirty="0"/>
              <a:t>Use Infrastructure as Code (</a:t>
            </a:r>
            <a:r>
              <a:rPr lang="en-US" b="1" dirty="0" err="1"/>
              <a:t>IaC</a:t>
            </a:r>
            <a:r>
              <a:rPr lang="en-US" b="1" dirty="0"/>
              <a:t>)</a:t>
            </a:r>
          </a:p>
          <a:p>
            <a:pPr marL="457200" lvl="1" indent="0">
              <a:buNone/>
            </a:pPr>
            <a:r>
              <a:rPr lang="en-US" dirty="0"/>
              <a:t>Adopt </a:t>
            </a:r>
            <a:r>
              <a:rPr lang="en-US" dirty="0" err="1"/>
              <a:t>IaC</a:t>
            </a:r>
            <a:r>
              <a:rPr lang="en-US" dirty="0"/>
              <a:t> practices to minimize manual changes and reduce the likelihood of drift-inducing modifications.</a:t>
            </a:r>
          </a:p>
          <a:p>
            <a:r>
              <a:rPr lang="en-US" b="1" dirty="0"/>
              <a:t>Enforce Policy as Code</a:t>
            </a:r>
          </a:p>
          <a:p>
            <a:pPr marL="457200" lvl="1" indent="0">
              <a:buNone/>
            </a:pPr>
            <a:r>
              <a:rPr lang="en-US" dirty="0"/>
              <a:t>Prevent unauthorized or undesired changes by enforcing policies as code, ensuring that the infrastructure complies with predefined rules.</a:t>
            </a:r>
          </a:p>
        </p:txBody>
      </p:sp>
      <p:sp>
        <p:nvSpPr>
          <p:cNvPr id="3" name="Espace réservé du texte 2">
            <a:extLst>
              <a:ext uri="{FF2B5EF4-FFF2-40B4-BE49-F238E27FC236}">
                <a16:creationId xmlns:a16="http://schemas.microsoft.com/office/drawing/2014/main" id="{EC8978AA-CD53-D327-A041-6E2E1838581A}"/>
              </a:ext>
            </a:extLst>
          </p:cNvPr>
          <p:cNvSpPr>
            <a:spLocks noGrp="1"/>
          </p:cNvSpPr>
          <p:nvPr>
            <p:ph type="body" sz="quarter" idx="14"/>
          </p:nvPr>
        </p:nvSpPr>
        <p:spPr/>
        <p:txBody>
          <a:bodyPr vert="horz" lIns="91440" tIns="45720" rIns="91440" bIns="45720" rtlCol="0" anchor="t">
            <a:noAutofit/>
          </a:bodyPr>
          <a:lstStyle/>
          <a:p>
            <a:r>
              <a:rPr lang="en-US"/>
              <a:t>4. Infrastructure Drift</a:t>
            </a:r>
          </a:p>
        </p:txBody>
      </p:sp>
      <p:sp>
        <p:nvSpPr>
          <p:cNvPr id="4" name="Espace réservé du texte 3">
            <a:extLst>
              <a:ext uri="{FF2B5EF4-FFF2-40B4-BE49-F238E27FC236}">
                <a16:creationId xmlns:a16="http://schemas.microsoft.com/office/drawing/2014/main" id="{0BA6F764-AB1A-DFD2-6155-58C6FC9C3283}"/>
              </a:ext>
            </a:extLst>
          </p:cNvPr>
          <p:cNvSpPr>
            <a:spLocks noGrp="1"/>
          </p:cNvSpPr>
          <p:nvPr>
            <p:ph type="body" sz="quarter" idx="15"/>
          </p:nvPr>
        </p:nvSpPr>
        <p:spPr>
          <a:xfrm>
            <a:off x="838200" y="1352782"/>
            <a:ext cx="10441597" cy="424732"/>
          </a:xfrm>
        </p:spPr>
        <p:txBody>
          <a:bodyPr/>
          <a:lstStyle/>
          <a:p>
            <a:r>
              <a:rPr lang="en-US" dirty="0"/>
              <a:t>Preventive actions</a:t>
            </a:r>
          </a:p>
        </p:txBody>
      </p:sp>
    </p:spTree>
    <p:extLst>
      <p:ext uri="{BB962C8B-B14F-4D97-AF65-F5344CB8AC3E}">
        <p14:creationId xmlns:p14="http://schemas.microsoft.com/office/powerpoint/2010/main" val="18330009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AACFE3DF-8D76-53AE-0615-406CB05471CC}"/>
              </a:ext>
            </a:extLst>
          </p:cNvPr>
          <p:cNvSpPr>
            <a:spLocks noGrp="1"/>
          </p:cNvSpPr>
          <p:nvPr>
            <p:ph idx="1"/>
          </p:nvPr>
        </p:nvSpPr>
        <p:spPr/>
        <p:txBody>
          <a:bodyPr/>
          <a:lstStyle/>
          <a:p>
            <a:r>
              <a:rPr lang="en-US" b="1" dirty="0"/>
              <a:t>Education and Training Initiatives</a:t>
            </a:r>
          </a:p>
          <a:p>
            <a:pPr marL="457200" lvl="1" indent="0">
              <a:buNone/>
            </a:pPr>
            <a:r>
              <a:rPr lang="en-US" dirty="0"/>
              <a:t>Promote a cultural shift by providing education and training on best practices, cultivating a deeper understanding of </a:t>
            </a:r>
            <a:r>
              <a:rPr lang="en-US" dirty="0" err="1"/>
              <a:t>IaC</a:t>
            </a:r>
            <a:r>
              <a:rPr lang="en-US" dirty="0"/>
              <a:t> principles and reducing inadvertent drift risks.</a:t>
            </a:r>
          </a:p>
          <a:p>
            <a:r>
              <a:rPr lang="en-US" b="1" dirty="0"/>
              <a:t>Documentation Practices</a:t>
            </a:r>
          </a:p>
          <a:p>
            <a:pPr marL="457200" lvl="1" indent="0">
              <a:buNone/>
            </a:pPr>
            <a:r>
              <a:rPr lang="en-US" dirty="0"/>
              <a:t>Encourage a culture of thorough documentation, emphasizing the importance of recording changes and configurations to mitigate drift.</a:t>
            </a:r>
          </a:p>
        </p:txBody>
      </p:sp>
      <p:sp>
        <p:nvSpPr>
          <p:cNvPr id="3" name="Espace réservé du texte 2">
            <a:extLst>
              <a:ext uri="{FF2B5EF4-FFF2-40B4-BE49-F238E27FC236}">
                <a16:creationId xmlns:a16="http://schemas.microsoft.com/office/drawing/2014/main" id="{EC8978AA-CD53-D327-A041-6E2E1838581A}"/>
              </a:ext>
            </a:extLst>
          </p:cNvPr>
          <p:cNvSpPr>
            <a:spLocks noGrp="1"/>
          </p:cNvSpPr>
          <p:nvPr>
            <p:ph type="body" sz="quarter" idx="14"/>
          </p:nvPr>
        </p:nvSpPr>
        <p:spPr/>
        <p:txBody>
          <a:bodyPr vert="horz" lIns="91440" tIns="45720" rIns="91440" bIns="45720" rtlCol="0" anchor="t">
            <a:noAutofit/>
          </a:bodyPr>
          <a:lstStyle/>
          <a:p>
            <a:r>
              <a:rPr lang="en-US"/>
              <a:t>4. Infrastructure Drift</a:t>
            </a:r>
          </a:p>
        </p:txBody>
      </p:sp>
      <p:sp>
        <p:nvSpPr>
          <p:cNvPr id="4" name="Espace réservé du texte 3">
            <a:extLst>
              <a:ext uri="{FF2B5EF4-FFF2-40B4-BE49-F238E27FC236}">
                <a16:creationId xmlns:a16="http://schemas.microsoft.com/office/drawing/2014/main" id="{0BA6F764-AB1A-DFD2-6155-58C6FC9C3283}"/>
              </a:ext>
            </a:extLst>
          </p:cNvPr>
          <p:cNvSpPr>
            <a:spLocks noGrp="1"/>
          </p:cNvSpPr>
          <p:nvPr>
            <p:ph type="body" sz="quarter" idx="15"/>
          </p:nvPr>
        </p:nvSpPr>
        <p:spPr/>
        <p:txBody>
          <a:bodyPr/>
          <a:lstStyle/>
          <a:p>
            <a:r>
              <a:rPr lang="en-US" dirty="0"/>
              <a:t>Organizational / Cultural change</a:t>
            </a:r>
          </a:p>
        </p:txBody>
      </p:sp>
    </p:spTree>
    <p:extLst>
      <p:ext uri="{BB962C8B-B14F-4D97-AF65-F5344CB8AC3E}">
        <p14:creationId xmlns:p14="http://schemas.microsoft.com/office/powerpoint/2010/main" val="32884452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ACD917FE-5992-6BE9-8621-44D97D7369BC}"/>
              </a:ext>
            </a:extLst>
          </p:cNvPr>
          <p:cNvSpPr>
            <a:spLocks noGrp="1"/>
          </p:cNvSpPr>
          <p:nvPr>
            <p:ph type="body" sz="quarter" idx="10"/>
          </p:nvPr>
        </p:nvSpPr>
        <p:spPr/>
        <p:txBody>
          <a:bodyPr vert="horz" lIns="91440" tIns="45720" rIns="91440" bIns="45720" rtlCol="0" anchor="t">
            <a:normAutofit/>
          </a:bodyPr>
          <a:lstStyle/>
          <a:p>
            <a:pPr marL="0" indent="0">
              <a:buNone/>
            </a:pPr>
            <a:r>
              <a:rPr lang="en-US"/>
              <a:t>4. Infrastructure Drift</a:t>
            </a:r>
          </a:p>
        </p:txBody>
      </p:sp>
    </p:spTree>
    <p:extLst>
      <p:ext uri="{BB962C8B-B14F-4D97-AF65-F5344CB8AC3E}">
        <p14:creationId xmlns:p14="http://schemas.microsoft.com/office/powerpoint/2010/main" val="32698177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9720562"/>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mplate" id="{5962EC7E-FDEE-D84F-9BF9-F910FCF93787}" vid="{A8A75BDC-84E3-BB4E-B368-D9F6C207AC97}"/>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Thème Office</Template>
  <TotalTime>9852</TotalTime>
  <Words>2125</Words>
  <Application>Microsoft Office PowerPoint</Application>
  <PresentationFormat>Widescreen</PresentationFormat>
  <Paragraphs>235</Paragraphs>
  <Slides>32</Slides>
  <Notes>2</Notes>
  <HiddenSlides>0</HiddenSlides>
  <MMClips>0</MMClip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Thème Office</vt:lpstr>
      <vt:lpstr>Backends and Collaboration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Backends and Collaboration</dc:title>
  <dc:creator>Draltan Marin</dc:creator>
  <cp:lastModifiedBy>Draltan Marin</cp:lastModifiedBy>
  <cp:revision>20</cp:revision>
  <dcterms:created xsi:type="dcterms:W3CDTF">2023-10-06T12:02:48Z</dcterms:created>
  <dcterms:modified xsi:type="dcterms:W3CDTF">2026-08-02T15:11:17Z</dcterms:modified>
</cp:coreProperties>
</file>